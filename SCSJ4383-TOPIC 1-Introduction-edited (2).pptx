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46"/>
  </p:handoutMasterIdLst>
  <p:sldIdLst>
    <p:sldId id="256" r:id="rId4"/>
    <p:sldId id="286" r:id="rId6"/>
    <p:sldId id="358" r:id="rId7"/>
    <p:sldId id="360" r:id="rId8"/>
    <p:sldId id="361" r:id="rId9"/>
    <p:sldId id="362" r:id="rId10"/>
    <p:sldId id="363" r:id="rId11"/>
    <p:sldId id="364" r:id="rId12"/>
    <p:sldId id="365" r:id="rId13"/>
    <p:sldId id="380" r:id="rId14"/>
    <p:sldId id="400" r:id="rId15"/>
    <p:sldId id="401" r:id="rId16"/>
    <p:sldId id="402" r:id="rId17"/>
    <p:sldId id="403" r:id="rId18"/>
    <p:sldId id="404" r:id="rId19"/>
    <p:sldId id="367" r:id="rId20"/>
    <p:sldId id="368" r:id="rId21"/>
    <p:sldId id="369" r:id="rId22"/>
    <p:sldId id="370" r:id="rId23"/>
    <p:sldId id="371" r:id="rId24"/>
    <p:sldId id="372" r:id="rId25"/>
    <p:sldId id="373" r:id="rId26"/>
    <p:sldId id="374" r:id="rId27"/>
    <p:sldId id="375" r:id="rId28"/>
    <p:sldId id="376" r:id="rId29"/>
    <p:sldId id="377" r:id="rId30"/>
    <p:sldId id="378" r:id="rId31"/>
    <p:sldId id="383" r:id="rId32"/>
    <p:sldId id="384" r:id="rId33"/>
    <p:sldId id="385" r:id="rId34"/>
    <p:sldId id="386" r:id="rId35"/>
    <p:sldId id="387" r:id="rId36"/>
    <p:sldId id="388" r:id="rId37"/>
    <p:sldId id="389" r:id="rId38"/>
    <p:sldId id="390" r:id="rId39"/>
    <p:sldId id="391" r:id="rId40"/>
    <p:sldId id="392" r:id="rId41"/>
    <p:sldId id="393" r:id="rId42"/>
    <p:sldId id="394" r:id="rId43"/>
    <p:sldId id="291" r:id="rId44"/>
    <p:sldId id="379" r:id="rId45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charset="0"/>
        <a:ea typeface="MS PGothic" panose="020B0600070205080204" pitchFamily="34" charset="-128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charset="0"/>
        <a:ea typeface="MS PGothic" panose="020B0600070205080204" pitchFamily="34" charset="-128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charset="0"/>
        <a:ea typeface="MS PGothic" panose="020B0600070205080204" pitchFamily="34" charset="-128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charset="0"/>
        <a:ea typeface="MS PGothic" panose="020B0600070205080204" pitchFamily="34" charset="-128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charset="0"/>
        <a:ea typeface="MS PGothic" panose="020B0600070205080204" pitchFamily="34" charset="-128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charset="0"/>
        <a:ea typeface="MS PGothic" panose="020B0600070205080204" pitchFamily="34" charset="-128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charset="0"/>
        <a:ea typeface="MS PGothic" panose="020B0600070205080204" pitchFamily="34" charset="-128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charset="0"/>
        <a:ea typeface="MS PGothic" panose="020B0600070205080204" pitchFamily="34" charset="-128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charset="0"/>
        <a:ea typeface="MS PGothic" panose="020B0600070205080204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2705"/>
    <p:restoredTop sz="94778"/>
  </p:normalViewPr>
  <p:slideViewPr>
    <p:cSldViewPr showGuides="1">
      <p:cViewPr varScale="1">
        <p:scale>
          <a:sx n="91" d="100"/>
          <a:sy n="91" d="100"/>
        </p:scale>
        <p:origin x="1848" y="184"/>
      </p:cViewPr>
      <p:guideLst>
        <p:guide orient="horz" pos="2205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9" Type="http://schemas.openxmlformats.org/officeDocument/2006/relationships/tableStyles" Target="tableStyles.xml"/><Relationship Id="rId48" Type="http://schemas.openxmlformats.org/officeDocument/2006/relationships/viewProps" Target="viewProps.xml"/><Relationship Id="rId47" Type="http://schemas.openxmlformats.org/officeDocument/2006/relationships/presProps" Target="presProps.xml"/><Relationship Id="rId46" Type="http://schemas.openxmlformats.org/officeDocument/2006/relationships/handoutMaster" Target="handoutMasters/handoutMaster1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2561038-A1F6-9345-8546-D2A3AA77D269}" type="datetime1">
              <a:rPr kumimoji="0" lang="en-MY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  <a:t>Mohd Adham Isa, SERG-Universiti Teknologi Malaysia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75BF356-B146-6342-BC41-087E063C9267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7A747E-1F41-704D-AE94-D6B205E18586}" type="datetime1">
              <a:rPr kumimoji="0" lang="en-MY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Edit Master text styles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Fourth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Fifth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  <a:t>Mohd Adham Isa, SERG-Universiti Teknologi Malaysia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C172B3D-A061-7847-BA13-61291DD7DF23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/>
            <a:endParaRPr lang="en-US" altLang="en-US"/>
          </a:p>
        </p:txBody>
      </p:sp>
      <p:sp>
        <p:nvSpPr>
          <p:cNvPr id="16387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hangingPunct="1"/>
            <a:fld id="{9A0DB2DC-4C9A-4742-B13C-FB6460FD3503}" type="slidenum">
              <a:rPr lang="en-US" altLang="en-US" sz="1200"/>
            </a:fld>
            <a:endParaRPr lang="en-US" alt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1371600" y="290513"/>
            <a:ext cx="6656388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400" b="1" i="0" u="none" strike="noStrike" kern="1200" cap="small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  <a:t>UTM Software Engineering Research Group </a:t>
            </a:r>
            <a:endParaRPr kumimoji="0" lang="en-US" sz="2400" b="1" i="0" u="none" strike="noStrike" kern="1200" cap="small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1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3600C7-A53B-2243-8E7E-8C62609FCDE1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MY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809F0D6-ACFD-5C40-B143-5B61C9CF8ECB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MY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9E1EE1-097B-7142-B554-2148C1D677DC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MY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9E1EE1-097B-7142-B554-2148C1D677DC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MY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9E1EE1-097B-7142-B554-2148C1D677DC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MY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9E1EE1-097B-7142-B554-2148C1D677DC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MY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9E1EE1-097B-7142-B554-2148C1D677DC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MY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9E1EE1-097B-7142-B554-2148C1D677DC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MY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9E1EE1-097B-7142-B554-2148C1D677DC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MY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MY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9E1EE1-097B-7142-B554-2148C1D677DC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MY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9E1EE1-097B-7142-B554-2148C1D677DC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MY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9E1EE1-097B-7142-B554-2148C1D677DC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1371600" y="290513"/>
            <a:ext cx="6656388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400" b="1" i="0" u="none" strike="noStrike" kern="1200" cap="small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  <a:t>UTM Software Engineering Research Group </a:t>
            </a:r>
            <a:endParaRPr kumimoji="0" lang="en-US" sz="2400" b="1" i="0" u="none" strike="noStrike" kern="1200" cap="small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1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3600C7-A53B-2243-8E7E-8C62609FCDE1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MY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809F0D6-ACFD-5C40-B143-5B61C9CF8ECB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MY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9E1EE1-097B-7142-B554-2148C1D677DC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MY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9E1EE1-097B-7142-B554-2148C1D677DC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MY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9E1EE1-097B-7142-B554-2148C1D677DC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MY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9E1EE1-097B-7142-B554-2148C1D677DC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MY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9E1EE1-097B-7142-B554-2148C1D677DC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MY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9E1EE1-097B-7142-B554-2148C1D677DC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MY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9E1EE1-097B-7142-B554-2148C1D677DC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MY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MY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9E1EE1-097B-7142-B554-2148C1D677DC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MY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9E1EE1-097B-7142-B554-2148C1D677DC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MY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9E1EE1-097B-7142-B554-2148C1D677DC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3.jpeg"/><Relationship Id="rId13" Type="http://schemas.openxmlformats.org/officeDocument/2006/relationships/image" Target="../media/image2.emf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5" Type="http://schemas.openxmlformats.org/officeDocument/2006/relationships/theme" Target="../theme/theme2.xml"/><Relationship Id="rId14" Type="http://schemas.openxmlformats.org/officeDocument/2006/relationships/image" Target="../media/image3.jpeg"/><Relationship Id="rId13" Type="http://schemas.openxmlformats.org/officeDocument/2006/relationships/image" Target="../media/image2.emf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619250" y="60325"/>
            <a:ext cx="5700713" cy="7048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96975"/>
            <a:ext cx="8229600" cy="492918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US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defRPr sz="900" smtClean="0">
                <a:solidFill>
                  <a:srgbClr val="898989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MY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900">
                <a:solidFill>
                  <a:srgbClr val="898989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9E1EE1-097B-7142-B554-2148C1D677DC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031" name="Picture 6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7319963" y="184150"/>
            <a:ext cx="1716087" cy="5810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2" name="Picture 1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824163" y="6400800"/>
            <a:ext cx="3495675" cy="19685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7" name="Straight Connector 6"/>
          <p:cNvCxnSpPr/>
          <p:nvPr/>
        </p:nvCxnSpPr>
        <p:spPr>
          <a:xfrm>
            <a:off x="179388" y="908050"/>
            <a:ext cx="8785225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79388" y="6237288"/>
            <a:ext cx="8785225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035" name="Picture 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79388" y="93663"/>
            <a:ext cx="762000" cy="7620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 kern="1200" cap="small">
          <a:solidFill>
            <a:schemeClr val="tx1"/>
          </a:solidFill>
          <a:latin typeface="+mj-lt"/>
          <a:ea typeface="MS PGothic" panose="020B0600070205080204" pitchFamily="34" charset="-128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Calibri" panose="020F0502020204030204" charset="0"/>
          <a:ea typeface="MS PGothic" panose="020B0600070205080204" pitchFamily="34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Calibri" panose="020F0502020204030204" charset="0"/>
          <a:ea typeface="MS PGothic" panose="020B0600070205080204" pitchFamily="34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Calibri" panose="020F0502020204030204" charset="0"/>
          <a:ea typeface="MS PGothic" panose="020B0600070205080204" pitchFamily="34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Calibri" panose="020F0502020204030204" charset="0"/>
          <a:ea typeface="MS PGothic" panose="020B0600070205080204" pitchFamily="34" charset="-128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charset="0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charset="0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charset="0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557530" indent="-21463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619250" y="60325"/>
            <a:ext cx="5700713" cy="7048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96975"/>
            <a:ext cx="8229600" cy="492918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US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defRPr sz="900" smtClean="0">
                <a:solidFill>
                  <a:srgbClr val="898989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MY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900">
                <a:solidFill>
                  <a:srgbClr val="898989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9E1EE1-097B-7142-B554-2148C1D677DC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031" name="Picture 6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7319963" y="184150"/>
            <a:ext cx="1716087" cy="5810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2" name="Picture 1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824163" y="6400800"/>
            <a:ext cx="3495675" cy="19685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7" name="Straight Connector 6"/>
          <p:cNvCxnSpPr/>
          <p:nvPr/>
        </p:nvCxnSpPr>
        <p:spPr>
          <a:xfrm>
            <a:off x="179388" y="908050"/>
            <a:ext cx="8785225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79388" y="6237288"/>
            <a:ext cx="8785225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035" name="Picture 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79388" y="93663"/>
            <a:ext cx="762000" cy="7620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 kern="1200" cap="small">
          <a:solidFill>
            <a:schemeClr val="tx1"/>
          </a:solidFill>
          <a:latin typeface="+mj-lt"/>
          <a:ea typeface="MS PGothic" panose="020B0600070205080204" pitchFamily="34" charset="-128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Calibri" panose="020F0502020204030204" charset="0"/>
          <a:ea typeface="MS PGothic" panose="020B0600070205080204" pitchFamily="34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Calibri" panose="020F0502020204030204" charset="0"/>
          <a:ea typeface="MS PGothic" panose="020B0600070205080204" pitchFamily="34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Calibri" panose="020F0502020204030204" charset="0"/>
          <a:ea typeface="MS PGothic" panose="020B0600070205080204" pitchFamily="34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Calibri" panose="020F0502020204030204" charset="0"/>
          <a:ea typeface="MS PGothic" panose="020B0600070205080204" pitchFamily="34" charset="-128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charset="0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charset="0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charset="0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557530" indent="-21463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1.wmf"/><Relationship Id="rId1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2.wmf"/><Relationship Id="rId1" Type="http://schemas.openxmlformats.org/officeDocument/2006/relationships/oleObject" Target="../embeddings/oleObject2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3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4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5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6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7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8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9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0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1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Title 1"/>
          <p:cNvSpPr>
            <a:spLocks noGrp="1"/>
          </p:cNvSpPr>
          <p:nvPr>
            <p:ph type="ctrTitle"/>
          </p:nvPr>
        </p:nvSpPr>
        <p:spPr>
          <a:xfrm>
            <a:off x="0" y="2276475"/>
            <a:ext cx="9109075" cy="147002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4400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  <a:t>Introduction to software construction</a:t>
            </a:r>
            <a:endParaRPr kumimoji="0" lang="en-US" altLang="en-US" sz="4400" b="1" i="0" u="none" strike="noStrike" kern="1200" cap="sm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MS PGothic" panose="020B0600070205080204" pitchFamily="34" charset="-128"/>
              <a:cs typeface="+mj-c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365625"/>
            <a:ext cx="6400800" cy="17526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MY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UTM-SERG Research &amp; Consultancy Team</a:t>
            </a:r>
            <a:endParaRPr kumimoji="0" lang="en-MY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MY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School of Computing</a:t>
            </a:r>
            <a:endParaRPr kumimoji="0" lang="en-MY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MY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Faculty of Engineering</a:t>
            </a:r>
            <a:endParaRPr kumimoji="0" lang="en-MY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MY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Universiti</a:t>
            </a:r>
            <a:r>
              <a:rPr kumimoji="0" lang="en-MY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MY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Teknologi</a:t>
            </a:r>
            <a:r>
              <a:rPr kumimoji="0" lang="en-MY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Malaysia</a:t>
            </a:r>
            <a:br>
              <a:rPr kumimoji="0" lang="en-MY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+mn-cs"/>
              </a:rPr>
              <a:t>UTM,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+mn-cs"/>
              </a:rPr>
              <a:t>Skudai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+mn-cs"/>
              </a:rPr>
              <a:t>, Johor.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MY" sz="14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363" name="TextBox 5"/>
          <p:cNvSpPr txBox="1"/>
          <p:nvPr/>
        </p:nvSpPr>
        <p:spPr>
          <a:xfrm>
            <a:off x="3708400" y="1443038"/>
            <a:ext cx="172720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MY" altLang="en-US" sz="2800" b="1">
                <a:latin typeface="Calibri" panose="020F0502020204030204" charset="0"/>
              </a:rPr>
              <a:t>TOPIC 1</a:t>
            </a:r>
            <a:endParaRPr lang="en-MY" altLang="en-US" sz="2800" b="1">
              <a:latin typeface="Calibri" panose="020F0502020204030204" charset="0"/>
            </a:endParaRPr>
          </a:p>
        </p:txBody>
      </p:sp>
      <p:sp>
        <p:nvSpPr>
          <p:cNvPr id="15364" name="Date Placeholder 1"/>
          <p:cNvSpPr txBox="1">
            <a:spLocks noGrp="1"/>
          </p:cNvSpPr>
          <p:nvPr>
            <p:ph type="dt" sz="half" idx="2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eaLnBrk="1" hangingPunct="1">
              <a:buNone/>
            </a:pPr>
            <a:fld id="{BB962C8B-B14F-4D97-AF65-F5344CB8AC3E}" type="datetime1">
              <a:rPr lang="en-MY" altLang="en-US" sz="900">
                <a:solidFill>
                  <a:srgbClr val="898989"/>
                </a:solidFill>
              </a:rPr>
            </a:fld>
            <a:endParaRPr lang="en-MY" altLang="en-US" sz="900">
              <a:solidFill>
                <a:srgbClr val="898989"/>
              </a:solidFill>
            </a:endParaRPr>
          </a:p>
        </p:txBody>
      </p:sp>
      <p:sp>
        <p:nvSpPr>
          <p:cNvPr id="15365" name="Slide Number Placeholder 4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altLang="en-US" sz="900">
                <a:solidFill>
                  <a:srgbClr val="898989"/>
                </a:solidFill>
              </a:rPr>
            </a:fld>
            <a:endParaRPr lang="en-US" altLang="en-US" sz="9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0" y="112713"/>
            <a:ext cx="5700713" cy="70485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MY" sz="2800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  <a:t>AGENDA</a:t>
            </a:r>
            <a:endParaRPr kumimoji="0" lang="en-MY" sz="2800" b="1" i="0" u="none" strike="noStrike" kern="1200" cap="sm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MS PGothic" panose="020B0600070205080204" pitchFamily="34" charset="-128"/>
              <a:cs typeface="+mj-cs"/>
            </a:endParaRPr>
          </a:p>
        </p:txBody>
      </p:sp>
      <p:sp>
        <p:nvSpPr>
          <p:cNvPr id="17410" name="Content Placeholder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/>
          <a:p>
            <a:r>
              <a:rPr lang="en-MY" altLang="en-US"/>
              <a:t>Agenda 1: Object Oriented Paradigms</a:t>
            </a:r>
            <a:endParaRPr lang="en-MY" altLang="en-US">
              <a:solidFill>
                <a:srgbClr val="0070C0"/>
              </a:solidFill>
            </a:endParaRPr>
          </a:p>
          <a:p>
            <a:r>
              <a:rPr lang="en-MY" altLang="en-US"/>
              <a:t>Agenda 2: Object Meta-model</a:t>
            </a:r>
            <a:endParaRPr lang="en-MY" altLang="en-US">
              <a:solidFill>
                <a:srgbClr val="0070C0"/>
              </a:solidFill>
            </a:endParaRPr>
          </a:p>
          <a:p>
            <a:r>
              <a:rPr lang="en-MY" altLang="en-US"/>
              <a:t>Agenda 3: Revision of OO Programming</a:t>
            </a:r>
            <a:endParaRPr lang="en-MY" altLang="en-US">
              <a:solidFill>
                <a:srgbClr val="0070C0"/>
              </a:solidFill>
            </a:endParaRPr>
          </a:p>
          <a:p>
            <a:r>
              <a:rPr lang="en-MY" altLang="en-US"/>
              <a:t>Agenda 3: Software Construction Paradigms</a:t>
            </a:r>
            <a:endParaRPr lang="en-MY" altLang="en-US" sz="1800">
              <a:solidFill>
                <a:srgbClr val="0070C0"/>
              </a:solidFill>
            </a:endParaRPr>
          </a:p>
          <a:p>
            <a:r>
              <a:rPr lang="en-MY" altLang="en-US"/>
              <a:t>Agenda 4: Summary</a:t>
            </a:r>
            <a:endParaRPr lang="en-MY" altLang="en-US" sz="1800">
              <a:solidFill>
                <a:srgbClr val="0070C0"/>
              </a:solidFill>
            </a:endParaRPr>
          </a:p>
          <a:p>
            <a:endParaRPr lang="en-MY" altLang="en-US"/>
          </a:p>
        </p:txBody>
      </p:sp>
      <p:sp>
        <p:nvSpPr>
          <p:cNvPr id="17411" name="Slide Number Placeholder 4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900">
                <a:solidFill>
                  <a:srgbClr val="898989"/>
                </a:solidFill>
              </a:rPr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7412" name="Date Placeholder 2"/>
          <p:cNvSpPr txBox="1">
            <a:spLocks noGrp="1"/>
          </p:cNvSpPr>
          <p:nvPr>
            <p:ph type="dt" sz="half" idx="10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en-MY" altLang="en-US" sz="900">
                <a:solidFill>
                  <a:srgbClr val="898989"/>
                </a:solidFill>
              </a:rPr>
            </a:fld>
            <a:endParaRPr lang="en-MY" altLang="en-US" sz="9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Slide Number Placeholder 4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900">
                <a:solidFill>
                  <a:srgbClr val="898989"/>
                </a:solidFill>
              </a:rPr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MY" sz="2800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  <a:t>Object oriented paradigms</a:t>
            </a:r>
            <a:endParaRPr kumimoji="0" lang="en-MY" sz="2800" b="1" i="0" u="none" strike="noStrike" kern="1200" cap="sm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MS PGothic" panose="020B0600070205080204" pitchFamily="34" charset="-128"/>
              <a:cs typeface="+mj-cs"/>
            </a:endParaRPr>
          </a:p>
        </p:txBody>
      </p:sp>
      <p:sp>
        <p:nvSpPr>
          <p:cNvPr id="18435" name="Date Placeholder 1"/>
          <p:cNvSpPr txBox="1">
            <a:spLocks noGrp="1"/>
          </p:cNvSpPr>
          <p:nvPr>
            <p:ph type="dt" sz="half" idx="10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en-MY" altLang="en-US" sz="900">
                <a:solidFill>
                  <a:srgbClr val="898989"/>
                </a:solidFill>
              </a:rPr>
            </a:fld>
            <a:endParaRPr lang="en-MY" altLang="en-US" sz="900">
              <a:solidFill>
                <a:srgbClr val="898989"/>
              </a:solidFill>
            </a:endParaRPr>
          </a:p>
        </p:txBody>
      </p:sp>
      <p:pic>
        <p:nvPicPr>
          <p:cNvPr id="2" name="Content Placeholder 1"/>
          <p:cNvPicPr>
            <a:picLocks noChangeAspect="1"/>
          </p:cNvPicPr>
          <p:nvPr>
            <p:ph idx="1"/>
          </p:nvPr>
        </p:nvPicPr>
        <p:blipFill>
          <a:blip r:embed="rId1"/>
          <a:srcRect l="11497" t="9122" r="22739" b="9492"/>
          <a:stretch>
            <a:fillRect/>
          </a:stretch>
        </p:blipFill>
        <p:spPr>
          <a:xfrm>
            <a:off x="1036320" y="1038860"/>
            <a:ext cx="7480935" cy="52076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Slide Number Placeholder 4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900">
                <a:solidFill>
                  <a:srgbClr val="898989"/>
                </a:solidFill>
              </a:rPr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MY" sz="2800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  <a:t>Object oriented paradigms</a:t>
            </a:r>
            <a:endParaRPr kumimoji="0" lang="en-MY" sz="2800" b="1" i="0" u="none" strike="noStrike" kern="1200" cap="sm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MS PGothic" panose="020B0600070205080204" pitchFamily="34" charset="-128"/>
              <a:cs typeface="+mj-cs"/>
            </a:endParaRPr>
          </a:p>
        </p:txBody>
      </p:sp>
      <p:sp>
        <p:nvSpPr>
          <p:cNvPr id="18435" name="Date Placeholder 1"/>
          <p:cNvSpPr txBox="1">
            <a:spLocks noGrp="1"/>
          </p:cNvSpPr>
          <p:nvPr>
            <p:ph type="dt" sz="half" idx="10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en-MY" altLang="en-US" sz="900">
                <a:solidFill>
                  <a:srgbClr val="898989"/>
                </a:solidFill>
              </a:rPr>
            </a:fld>
            <a:endParaRPr lang="en-MY" altLang="en-US" sz="900">
              <a:solidFill>
                <a:srgbClr val="898989"/>
              </a:solidFill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rcRect l="10926" t="7188" r="19035" b="7942"/>
          <a:stretch>
            <a:fillRect/>
          </a:stretch>
        </p:blipFill>
        <p:spPr>
          <a:xfrm>
            <a:off x="892810" y="995045"/>
            <a:ext cx="7358380" cy="50158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Slide Number Placeholder 4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900">
                <a:solidFill>
                  <a:srgbClr val="898989"/>
                </a:solidFill>
              </a:rPr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MY" sz="2800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  <a:t>Object oriented paradigms</a:t>
            </a:r>
            <a:endParaRPr kumimoji="0" lang="en-MY" sz="2800" b="1" i="0" u="none" strike="noStrike" kern="1200" cap="sm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MS PGothic" panose="020B0600070205080204" pitchFamily="34" charset="-128"/>
              <a:cs typeface="+mj-cs"/>
            </a:endParaRPr>
          </a:p>
        </p:txBody>
      </p:sp>
      <p:sp>
        <p:nvSpPr>
          <p:cNvPr id="18435" name="Date Placeholder 1"/>
          <p:cNvSpPr txBox="1">
            <a:spLocks noGrp="1"/>
          </p:cNvSpPr>
          <p:nvPr>
            <p:ph type="dt" sz="half" idx="10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en-MY" altLang="en-US" sz="900">
                <a:solidFill>
                  <a:srgbClr val="898989"/>
                </a:solidFill>
              </a:rPr>
            </a:fld>
            <a:endParaRPr lang="en-MY" altLang="en-US" sz="900">
              <a:solidFill>
                <a:srgbClr val="898989"/>
              </a:solidFill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rcRect l="11481" t="10494" r="19035" b="8134"/>
          <a:stretch>
            <a:fillRect/>
          </a:stretch>
        </p:blipFill>
        <p:spPr>
          <a:xfrm>
            <a:off x="783590" y="1065530"/>
            <a:ext cx="7576185" cy="4991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Slide Number Placeholder 4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900">
                <a:solidFill>
                  <a:srgbClr val="898989"/>
                </a:solidFill>
              </a:rPr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MY" sz="2800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  <a:t>Object oriented paradigms</a:t>
            </a:r>
            <a:endParaRPr kumimoji="0" lang="en-MY" sz="2800" b="1" i="0" u="none" strike="noStrike" kern="1200" cap="sm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MS PGothic" panose="020B0600070205080204" pitchFamily="34" charset="-128"/>
              <a:cs typeface="+mj-cs"/>
            </a:endParaRPr>
          </a:p>
        </p:txBody>
      </p:sp>
      <p:sp>
        <p:nvSpPr>
          <p:cNvPr id="18435" name="Date Placeholder 1"/>
          <p:cNvSpPr txBox="1">
            <a:spLocks noGrp="1"/>
          </p:cNvSpPr>
          <p:nvPr>
            <p:ph type="dt" sz="half" idx="10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en-MY" altLang="en-US" sz="900">
                <a:solidFill>
                  <a:srgbClr val="898989"/>
                </a:solidFill>
              </a:rPr>
            </a:fld>
            <a:endParaRPr lang="en-MY" altLang="en-US" sz="900">
              <a:solidFill>
                <a:srgbClr val="898989"/>
              </a:solidFill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rcRect l="11373" t="13868" r="20050" b="9122"/>
          <a:stretch>
            <a:fillRect/>
          </a:stretch>
        </p:blipFill>
        <p:spPr>
          <a:xfrm>
            <a:off x="554355" y="1130935"/>
            <a:ext cx="7693660" cy="48602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Slide Number Placeholder 4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900">
                <a:solidFill>
                  <a:srgbClr val="898989"/>
                </a:solidFill>
              </a:rPr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MY" sz="2800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  <a:t>Object oriented paradigms</a:t>
            </a:r>
            <a:endParaRPr kumimoji="0" lang="en-MY" sz="2800" b="1" i="0" u="none" strike="noStrike" kern="1200" cap="sm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MS PGothic" panose="020B0600070205080204" pitchFamily="34" charset="-128"/>
              <a:cs typeface="+mj-cs"/>
            </a:endParaRPr>
          </a:p>
        </p:txBody>
      </p:sp>
      <p:sp>
        <p:nvSpPr>
          <p:cNvPr id="18435" name="Date Placeholder 1"/>
          <p:cNvSpPr txBox="1">
            <a:spLocks noGrp="1"/>
          </p:cNvSpPr>
          <p:nvPr>
            <p:ph type="dt" sz="half" idx="10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en-MY" altLang="en-US" sz="900">
                <a:solidFill>
                  <a:srgbClr val="898989"/>
                </a:solidFill>
              </a:rPr>
            </a:fld>
            <a:endParaRPr lang="en-MY" altLang="en-US" sz="900">
              <a:solidFill>
                <a:srgbClr val="898989"/>
              </a:solidFill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rcRect l="12230" t="8230" r="20107" b="9177"/>
          <a:stretch>
            <a:fillRect/>
          </a:stretch>
        </p:blipFill>
        <p:spPr>
          <a:xfrm>
            <a:off x="901065" y="1036320"/>
            <a:ext cx="7210425" cy="49510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Slide Number Placeholder 4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900">
                <a:solidFill>
                  <a:srgbClr val="898989"/>
                </a:solidFill>
              </a:rPr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MY" sz="2800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  <a:t>Object oriented paradigms</a:t>
            </a:r>
            <a:endParaRPr kumimoji="0" lang="en-MY" sz="2800" b="1" i="0" u="none" strike="noStrike" kern="1200" cap="sm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MS PGothic" panose="020B0600070205080204" pitchFamily="34" charset="-128"/>
              <a:cs typeface="+mj-cs"/>
            </a:endParaRPr>
          </a:p>
        </p:txBody>
      </p:sp>
      <p:sp>
        <p:nvSpPr>
          <p:cNvPr id="18435" name="Date Placeholder 1"/>
          <p:cNvSpPr txBox="1">
            <a:spLocks noGrp="1"/>
          </p:cNvSpPr>
          <p:nvPr>
            <p:ph type="dt" sz="half" idx="10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en-MY" altLang="en-US" sz="900">
                <a:solidFill>
                  <a:srgbClr val="898989"/>
                </a:solidFill>
              </a:rPr>
            </a:fld>
            <a:endParaRPr lang="en-MY" altLang="en-US" sz="900">
              <a:solidFill>
                <a:srgbClr val="898989"/>
              </a:solidFill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rcRect l="26358" t="25857" r="26914" b="20576"/>
          <a:stretch>
            <a:fillRect/>
          </a:stretch>
        </p:blipFill>
        <p:spPr>
          <a:xfrm>
            <a:off x="456565" y="1144905"/>
            <a:ext cx="7634605" cy="4922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Slide Number Placeholder 4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900">
                <a:solidFill>
                  <a:srgbClr val="898989"/>
                </a:solidFill>
              </a:rPr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MY" sz="2800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  <a:t>Object oriented paradigms</a:t>
            </a:r>
            <a:endParaRPr kumimoji="0" lang="en-MY" sz="2800" b="1" i="0" u="none" strike="noStrike" kern="1200" cap="sm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MS PGothic" panose="020B0600070205080204" pitchFamily="34" charset="-128"/>
              <a:cs typeface="+mj-cs"/>
            </a:endParaRPr>
          </a:p>
        </p:txBody>
      </p:sp>
      <p:sp>
        <p:nvSpPr>
          <p:cNvPr id="18435" name="Date Placeholder 1"/>
          <p:cNvSpPr txBox="1">
            <a:spLocks noGrp="1"/>
          </p:cNvSpPr>
          <p:nvPr>
            <p:ph type="dt" sz="half" idx="10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en-MY" altLang="en-US" sz="900">
                <a:solidFill>
                  <a:srgbClr val="898989"/>
                </a:solidFill>
              </a:rPr>
            </a:fld>
            <a:endParaRPr lang="en-MY" altLang="en-US" sz="900">
              <a:solidFill>
                <a:srgbClr val="898989"/>
              </a:solidFill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rcRect l="25694" t="23114" r="25926" b="28162"/>
          <a:stretch>
            <a:fillRect/>
          </a:stretch>
        </p:blipFill>
        <p:spPr>
          <a:xfrm>
            <a:off x="457200" y="1219200"/>
            <a:ext cx="8035925" cy="45523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Slide Number Placeholder 4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900">
                <a:solidFill>
                  <a:srgbClr val="898989"/>
                </a:solidFill>
              </a:rPr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MY" sz="2800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  <a:t>Object oriented paradigms</a:t>
            </a:r>
            <a:endParaRPr kumimoji="0" lang="en-MY" sz="2800" b="1" i="0" u="none" strike="noStrike" kern="1200" cap="sm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MS PGothic" panose="020B0600070205080204" pitchFamily="34" charset="-128"/>
              <a:cs typeface="+mj-cs"/>
            </a:endParaRPr>
          </a:p>
        </p:txBody>
      </p:sp>
      <p:sp>
        <p:nvSpPr>
          <p:cNvPr id="18435" name="Date Placeholder 1"/>
          <p:cNvSpPr txBox="1">
            <a:spLocks noGrp="1"/>
          </p:cNvSpPr>
          <p:nvPr>
            <p:ph type="dt" sz="half" idx="10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en-MY" altLang="en-US" sz="900">
                <a:solidFill>
                  <a:srgbClr val="898989"/>
                </a:solidFill>
              </a:rPr>
            </a:fld>
            <a:endParaRPr lang="en-MY" altLang="en-US" sz="900">
              <a:solidFill>
                <a:srgbClr val="898989"/>
              </a:solidFill>
            </a:endParaRPr>
          </a:p>
        </p:txBody>
      </p:sp>
      <p:graphicFrame>
        <p:nvGraphicFramePr>
          <p:cNvPr id="3" name="Content Placeholder 2"/>
          <p:cNvGraphicFramePr>
            <a:graphicFrameLocks noChangeAspect="1"/>
          </p:cNvGraphicFramePr>
          <p:nvPr>
            <p:ph idx="1"/>
          </p:nvPr>
        </p:nvGraphicFramePr>
        <p:xfrm>
          <a:off x="457200" y="1261745"/>
          <a:ext cx="8229600" cy="47993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8524875" imgH="4972050" progId="Paint.Picture">
                  <p:embed/>
                </p:oleObj>
              </mc:Choice>
              <mc:Fallback>
                <p:oleObj name="" r:id="rId1" imgW="8524875" imgH="4972050" progId="Paint.Picture">
                  <p:embed/>
                  <p:pic>
                    <p:nvPicPr>
                      <p:cNvPr id="0" name="Picture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7200" y="1261745"/>
                        <a:ext cx="8229600" cy="47993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Slide Number Placeholder 4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900">
                <a:solidFill>
                  <a:srgbClr val="898989"/>
                </a:solidFill>
              </a:rPr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MY" sz="2800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  <a:t>Object oriented paradigms-Information Hiding</a:t>
            </a:r>
            <a:endParaRPr kumimoji="0" lang="en-MY" sz="2800" b="1" i="0" u="none" strike="noStrike" kern="1200" cap="sm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MS PGothic" panose="020B0600070205080204" pitchFamily="34" charset="-128"/>
              <a:cs typeface="+mj-cs"/>
            </a:endParaRPr>
          </a:p>
        </p:txBody>
      </p:sp>
      <p:sp>
        <p:nvSpPr>
          <p:cNvPr id="18435" name="Date Placeholder 1"/>
          <p:cNvSpPr txBox="1">
            <a:spLocks noGrp="1"/>
          </p:cNvSpPr>
          <p:nvPr>
            <p:ph type="dt" sz="half" idx="10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en-MY" altLang="en-US" sz="900">
                <a:solidFill>
                  <a:srgbClr val="898989"/>
                </a:solidFill>
              </a:rPr>
            </a:fld>
            <a:endParaRPr lang="en-MY" altLang="en-US" sz="900">
              <a:solidFill>
                <a:srgbClr val="898989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ChangeAspect="1"/>
          </p:cNvGraphicFramePr>
          <p:nvPr>
            <p:ph idx="1"/>
          </p:nvPr>
        </p:nvGraphicFramePr>
        <p:xfrm>
          <a:off x="546735" y="1450340"/>
          <a:ext cx="8232140" cy="34556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1" imgW="7381875" imgH="3771900" progId="Paint.Picture">
                  <p:embed/>
                </p:oleObj>
              </mc:Choice>
              <mc:Fallback>
                <p:oleObj name="" r:id="rId1" imgW="7381875" imgH="3771900" progId="Paint.Picture">
                  <p:embed/>
                  <p:pic>
                    <p:nvPicPr>
                      <p:cNvPr id="0" name="Picture 5"/>
                      <p:cNvPicPr/>
                      <p:nvPr/>
                    </p:nvPicPr>
                    <p:blipFill>
                      <a:blip r:embed="rId2"/>
                      <a:srcRect l="3114" t="23112" r="3292"/>
                      <a:stretch>
                        <a:fillRect/>
                      </a:stretch>
                    </p:blipFill>
                    <p:spPr>
                      <a:xfrm>
                        <a:off x="546735" y="1450340"/>
                        <a:ext cx="8232140" cy="34556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Slide Number Placeholder 4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900">
                <a:solidFill>
                  <a:srgbClr val="898989"/>
                </a:solidFill>
              </a:rPr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MY" sz="2800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  <a:t>Strengths of the Object-Oriented Paradigm</a:t>
            </a:r>
            <a:endParaRPr kumimoji="0" lang="en-MY" sz="2800" b="1" i="0" u="none" strike="noStrike" kern="1200" cap="sm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MS PGothic" panose="020B0600070205080204" pitchFamily="34" charset="-128"/>
              <a:cs typeface="+mj-cs"/>
            </a:endParaRPr>
          </a:p>
        </p:txBody>
      </p:sp>
      <p:sp>
        <p:nvSpPr>
          <p:cNvPr id="18435" name="Date Placeholder 1"/>
          <p:cNvSpPr txBox="1">
            <a:spLocks noGrp="1"/>
          </p:cNvSpPr>
          <p:nvPr>
            <p:ph type="dt" sz="half" idx="10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en-MY" altLang="en-US" sz="900">
                <a:solidFill>
                  <a:srgbClr val="898989"/>
                </a:solidFill>
              </a:rPr>
            </a:fld>
            <a:endParaRPr lang="en-MY" altLang="en-US" sz="900">
              <a:solidFill>
                <a:srgbClr val="898989"/>
              </a:solidFill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rcRect l="30748" t="30974" r="30748" b="31687"/>
          <a:stretch>
            <a:fillRect/>
          </a:stretch>
        </p:blipFill>
        <p:spPr>
          <a:xfrm>
            <a:off x="654050" y="1507490"/>
            <a:ext cx="7563485" cy="41262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Slide Number Placeholder 4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900">
                <a:solidFill>
                  <a:srgbClr val="898989"/>
                </a:solidFill>
              </a:rPr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MY" sz="2800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  <a:t>Object oriented paradigms</a:t>
            </a:r>
            <a:endParaRPr kumimoji="0" lang="en-MY" sz="2800" b="1" i="0" u="none" strike="noStrike" kern="1200" cap="sm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MS PGothic" panose="020B0600070205080204" pitchFamily="34" charset="-128"/>
              <a:cs typeface="+mj-cs"/>
            </a:endParaRPr>
          </a:p>
        </p:txBody>
      </p:sp>
      <p:sp>
        <p:nvSpPr>
          <p:cNvPr id="18435" name="Date Placeholder 1"/>
          <p:cNvSpPr txBox="1">
            <a:spLocks noGrp="1"/>
          </p:cNvSpPr>
          <p:nvPr>
            <p:ph type="dt" sz="half" idx="10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en-MY" altLang="en-US" sz="900">
                <a:solidFill>
                  <a:srgbClr val="898989"/>
                </a:solidFill>
              </a:rPr>
            </a:fld>
            <a:endParaRPr lang="en-MY" altLang="en-US" sz="900">
              <a:solidFill>
                <a:srgbClr val="898989"/>
              </a:solidFill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rcRect l="31620" t="18532" r="30748" b="44129"/>
          <a:stretch>
            <a:fillRect/>
          </a:stretch>
        </p:blipFill>
        <p:spPr>
          <a:xfrm>
            <a:off x="678815" y="1250950"/>
            <a:ext cx="7582535" cy="42322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Slide Number Placeholder 4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900">
                <a:solidFill>
                  <a:srgbClr val="898989"/>
                </a:solidFill>
              </a:rPr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MY" sz="2800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  <a:t>Object oriented paradigms</a:t>
            </a:r>
            <a:endParaRPr kumimoji="0" lang="en-MY" sz="2800" b="1" i="0" u="none" strike="noStrike" kern="1200" cap="sm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MS PGothic" panose="020B0600070205080204" pitchFamily="34" charset="-128"/>
              <a:cs typeface="+mj-cs"/>
            </a:endParaRPr>
          </a:p>
        </p:txBody>
      </p:sp>
      <p:sp>
        <p:nvSpPr>
          <p:cNvPr id="18435" name="Date Placeholder 1"/>
          <p:cNvSpPr txBox="1">
            <a:spLocks noGrp="1"/>
          </p:cNvSpPr>
          <p:nvPr>
            <p:ph type="dt" sz="half" idx="10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en-MY" altLang="en-US" sz="900">
                <a:solidFill>
                  <a:srgbClr val="898989"/>
                </a:solidFill>
              </a:rPr>
            </a:fld>
            <a:endParaRPr lang="en-MY" altLang="en-US" sz="900">
              <a:solidFill>
                <a:srgbClr val="898989"/>
              </a:solidFill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rcRect l="31628" t="7641" r="31628" b="58134"/>
          <a:stretch>
            <a:fillRect/>
          </a:stretch>
        </p:blipFill>
        <p:spPr>
          <a:xfrm>
            <a:off x="681355" y="1570355"/>
            <a:ext cx="6938645" cy="36353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Slide Number Placeholder 4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900">
                <a:solidFill>
                  <a:srgbClr val="898989"/>
                </a:solidFill>
              </a:rPr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MY" sz="2800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  <a:t>Object oriented paradigms-Responsibility-Driven Design</a:t>
            </a:r>
            <a:endParaRPr kumimoji="0" lang="en-MY" sz="2800" b="1" i="0" u="none" strike="noStrike" kern="1200" cap="sm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MS PGothic" panose="020B0600070205080204" pitchFamily="34" charset="-128"/>
              <a:cs typeface="+mj-cs"/>
            </a:endParaRPr>
          </a:p>
        </p:txBody>
      </p:sp>
      <p:sp>
        <p:nvSpPr>
          <p:cNvPr id="18435" name="Date Placeholder 1"/>
          <p:cNvSpPr txBox="1">
            <a:spLocks noGrp="1"/>
          </p:cNvSpPr>
          <p:nvPr>
            <p:ph type="dt" sz="half" idx="10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en-MY" altLang="en-US" sz="900">
                <a:solidFill>
                  <a:srgbClr val="898989"/>
                </a:solidFill>
              </a:rPr>
            </a:fld>
            <a:endParaRPr lang="en-MY" altLang="en-US" sz="900">
              <a:solidFill>
                <a:srgbClr val="898989"/>
              </a:solidFill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rcRect l="31628" t="26310" r="31628" b="36351"/>
          <a:stretch>
            <a:fillRect/>
          </a:stretch>
        </p:blipFill>
        <p:spPr>
          <a:xfrm>
            <a:off x="727075" y="1231265"/>
            <a:ext cx="7480300" cy="427545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>
                <a:sym typeface="+mn-ea"/>
              </a:rPr>
              <a:t>Object Meta-model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rcRect l="11582" t="9718" r="19035" b="22843"/>
          <a:stretch>
            <a:fillRect/>
          </a:stretch>
        </p:blipFill>
        <p:spPr>
          <a:xfrm>
            <a:off x="267970" y="1256665"/>
            <a:ext cx="9257030" cy="413639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>
                <a:sym typeface="+mn-ea"/>
              </a:rPr>
              <a:t>Object Meta-model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rcRect l="14005" t="7380" r="22639" b="15350"/>
          <a:stretch>
            <a:fillRect/>
          </a:stretch>
        </p:blipFill>
        <p:spPr>
          <a:xfrm>
            <a:off x="1029970" y="1195070"/>
            <a:ext cx="7084695" cy="486029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>
                <a:sym typeface="+mn-ea"/>
              </a:rPr>
              <a:t>Revision of OO Programming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rcRect l="12924" t="9026" r="20671" b="9232"/>
          <a:stretch>
            <a:fillRect/>
          </a:stretch>
        </p:blipFill>
        <p:spPr>
          <a:xfrm>
            <a:off x="1304925" y="1183005"/>
            <a:ext cx="6641465" cy="459867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>
                <a:sym typeface="+mn-ea"/>
              </a:rPr>
              <a:t>Revision of OO Programming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rcRect l="12253" t="10075" r="19136" b="12798"/>
          <a:stretch>
            <a:fillRect/>
          </a:stretch>
        </p:blipFill>
        <p:spPr>
          <a:xfrm>
            <a:off x="690880" y="1105535"/>
            <a:ext cx="7901305" cy="499554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>
                <a:sym typeface="+mn-ea"/>
              </a:rPr>
              <a:t>Revision of OO Programming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rcRect l="13125" t="10645" r="24390" b="8134"/>
          <a:stretch>
            <a:fillRect/>
          </a:stretch>
        </p:blipFill>
        <p:spPr>
          <a:xfrm>
            <a:off x="1268730" y="1060450"/>
            <a:ext cx="6727190" cy="491871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>
                <a:sym typeface="+mn-ea"/>
              </a:rPr>
              <a:t>Revision of OO Programming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8" name="Content Placeholder 7"/>
          <p:cNvPicPr>
            <a:picLocks noChangeAspect="1"/>
          </p:cNvPicPr>
          <p:nvPr>
            <p:ph idx="1"/>
          </p:nvPr>
        </p:nvPicPr>
        <p:blipFill>
          <a:blip r:embed="rId1"/>
          <a:srcRect l="12361" t="12058" r="19915" b="9684"/>
          <a:stretch>
            <a:fillRect/>
          </a:stretch>
        </p:blipFill>
        <p:spPr>
          <a:xfrm>
            <a:off x="833755" y="1203325"/>
            <a:ext cx="7720965" cy="501840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>
                <a:sym typeface="+mn-ea"/>
              </a:rPr>
              <a:t>Revision of OO Programming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rcRect l="12716" t="9067" r="20324" b="9369"/>
          <a:stretch>
            <a:fillRect/>
          </a:stretch>
        </p:blipFill>
        <p:spPr>
          <a:xfrm>
            <a:off x="759460" y="1177925"/>
            <a:ext cx="7579995" cy="492061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>
                <a:sym typeface="+mn-ea"/>
              </a:rPr>
              <a:t>Revision of OO Programming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rcRect l="15819" t="8366" r="26563" b="14049"/>
          <a:stretch>
            <a:fillRect/>
          </a:stretch>
        </p:blipFill>
        <p:spPr>
          <a:xfrm>
            <a:off x="1236345" y="1064895"/>
            <a:ext cx="6671945" cy="505333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>
                <a:sym typeface="+mn-ea"/>
              </a:rPr>
              <a:t>Revision of OO Programming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8" name="Content Placeholder 7"/>
          <p:cNvPicPr>
            <a:picLocks noChangeAspect="1"/>
          </p:cNvPicPr>
          <p:nvPr>
            <p:ph idx="1"/>
          </p:nvPr>
        </p:nvPicPr>
        <p:blipFill>
          <a:blip r:embed="rId1"/>
          <a:srcRect l="12400" t="7078" r="20748" b="9808"/>
          <a:stretch>
            <a:fillRect/>
          </a:stretch>
        </p:blipFill>
        <p:spPr>
          <a:xfrm>
            <a:off x="801370" y="923925"/>
            <a:ext cx="7336790" cy="521652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>
                <a:sym typeface="+mn-ea"/>
              </a:rPr>
              <a:t>Revision of OO Programming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rcRect l="12101" t="9245" r="19359" b="8523"/>
          <a:stretch>
            <a:fillRect/>
          </a:stretch>
        </p:blipFill>
        <p:spPr>
          <a:xfrm>
            <a:off x="975995" y="1177925"/>
            <a:ext cx="7508875" cy="492950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>
                <a:sym typeface="+mn-ea"/>
              </a:rPr>
              <a:t>Revision of OO Programming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rcRect l="13480" t="15857" r="23819" b="19698"/>
          <a:stretch>
            <a:fillRect/>
          </a:stretch>
        </p:blipFill>
        <p:spPr>
          <a:xfrm>
            <a:off x="939165" y="1431290"/>
            <a:ext cx="7246620" cy="418973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>
                <a:sym typeface="+mn-ea"/>
              </a:rPr>
              <a:t>Software Construction Paradigms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rcRect l="15000" t="4540" r="14128" b="32461"/>
          <a:stretch>
            <a:fillRect/>
          </a:stretch>
        </p:blipFill>
        <p:spPr>
          <a:xfrm>
            <a:off x="638810" y="1462405"/>
            <a:ext cx="7866380" cy="393319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>
                <a:sym typeface="+mn-ea"/>
              </a:rPr>
              <a:t>Software Construction Paradigms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rcRect l="18495" t="10754" r="20255" b="6804"/>
          <a:stretch>
            <a:fillRect/>
          </a:stretch>
        </p:blipFill>
        <p:spPr>
          <a:xfrm>
            <a:off x="1156970" y="998220"/>
            <a:ext cx="6624955" cy="501586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>
                <a:sym typeface="+mn-ea"/>
              </a:rPr>
              <a:t>Software Construction Paradigms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rcRect l="13248" t="9204" r="13256" b="9904"/>
          <a:stretch>
            <a:fillRect/>
          </a:stretch>
        </p:blipFill>
        <p:spPr>
          <a:xfrm>
            <a:off x="716280" y="1258570"/>
            <a:ext cx="7494905" cy="463994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>
                <a:sym typeface="+mn-ea"/>
              </a:rPr>
              <a:t>Software Construction Paradigms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rcRect l="19375" t="40019" r="22006" b="39465"/>
          <a:stretch>
            <a:fillRect/>
          </a:stretch>
        </p:blipFill>
        <p:spPr>
          <a:xfrm>
            <a:off x="2372360" y="2974975"/>
            <a:ext cx="4824095" cy="90551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>
                <a:sym typeface="+mn-ea"/>
              </a:rPr>
              <a:t>Software Construction Paradigms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rcRect l="14120" t="10754" r="15000" b="23909"/>
          <a:stretch>
            <a:fillRect/>
          </a:stretch>
        </p:blipFill>
        <p:spPr>
          <a:xfrm>
            <a:off x="918210" y="1481455"/>
            <a:ext cx="7339330" cy="38049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>
                <a:sym typeface="+mn-ea"/>
              </a:rPr>
              <a:t>Software Construction Paradigms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rcRect l="14120" t="9204" r="22006" b="8354"/>
          <a:stretch>
            <a:fillRect/>
          </a:stretch>
        </p:blipFill>
        <p:spPr>
          <a:xfrm>
            <a:off x="1212215" y="1123315"/>
            <a:ext cx="6528435" cy="473964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>
                <a:sym typeface="+mn-ea"/>
              </a:rPr>
              <a:t>Software Construction Paradigms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1346835"/>
            <a:ext cx="822960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>
                <a:sym typeface="+mn-ea"/>
              </a:rPr>
              <a:t>Software Construction Paradigms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rcRect l="14120" t="10754" r="15880" b="8354"/>
          <a:stretch>
            <a:fillRect/>
          </a:stretch>
        </p:blipFill>
        <p:spPr>
          <a:xfrm>
            <a:off x="892175" y="1372235"/>
            <a:ext cx="7024370" cy="456565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>
                <a:sym typeface="+mn-ea"/>
              </a:rPr>
              <a:t>Software Construction Paradigms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rcRect l="15000" t="10562" r="14128" b="5432"/>
          <a:stretch>
            <a:fillRect/>
          </a:stretch>
        </p:blipFill>
        <p:spPr>
          <a:xfrm>
            <a:off x="954405" y="1180465"/>
            <a:ext cx="7235190" cy="482409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>
                <a:sym typeface="+mn-ea"/>
              </a:rPr>
              <a:t>Software Construction Paradigms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rcRect l="14120" t="10754" r="12377" b="5240"/>
          <a:stretch>
            <a:fillRect/>
          </a:stretch>
        </p:blipFill>
        <p:spPr>
          <a:xfrm>
            <a:off x="1038860" y="1231900"/>
            <a:ext cx="7244080" cy="465709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>
                <a:sym typeface="+mn-ea"/>
              </a:rPr>
              <a:t>Software Construction Paradigms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rcRect l="15000" t="10754" r="16752" b="17682"/>
          <a:stretch>
            <a:fillRect/>
          </a:stretch>
        </p:blipFill>
        <p:spPr>
          <a:xfrm>
            <a:off x="860425" y="1354455"/>
            <a:ext cx="7711440" cy="454850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>
                <a:sym typeface="+mn-ea"/>
              </a:rPr>
              <a:t>Software Construction Paradigms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rcRect l="14113" t="10672" r="19205" b="22140"/>
          <a:stretch>
            <a:fillRect/>
          </a:stretch>
        </p:blipFill>
        <p:spPr>
          <a:xfrm>
            <a:off x="830580" y="1269365"/>
            <a:ext cx="7660005" cy="434149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>
                <a:sym typeface="+mn-ea"/>
              </a:rPr>
              <a:t>Software Construction Paradigms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rcRect l="13025" t="26228" r="14977" b="8326"/>
          <a:stretch>
            <a:fillRect/>
          </a:stretch>
        </p:blipFill>
        <p:spPr>
          <a:xfrm>
            <a:off x="261620" y="1308735"/>
            <a:ext cx="8292465" cy="424053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MY" sz="2800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  <a:t>Summary</a:t>
            </a:r>
            <a:endParaRPr kumimoji="0" lang="en-MY" sz="2800" b="1" i="0" u="none" strike="noStrike" kern="1200" cap="sm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MS PGothic" panose="020B0600070205080204" pitchFamily="34" charset="-128"/>
              <a:cs typeface="+mj-cs"/>
            </a:endParaRPr>
          </a:p>
        </p:txBody>
      </p:sp>
      <p:sp>
        <p:nvSpPr>
          <p:cNvPr id="19458" name="Slide Number Placeholder 4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900">
                <a:solidFill>
                  <a:srgbClr val="898989"/>
                </a:solidFill>
              </a:rPr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9459" name="Date Placeholder 2"/>
          <p:cNvSpPr txBox="1">
            <a:spLocks noGrp="1"/>
          </p:cNvSpPr>
          <p:nvPr>
            <p:ph type="dt" sz="half" idx="10"/>
          </p:nvPr>
        </p:nvSpPr>
        <p:spPr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en-MY" altLang="en-US" sz="900">
                <a:solidFill>
                  <a:srgbClr val="898989"/>
                </a:solidFill>
              </a:rPr>
            </a:fld>
            <a:endParaRPr lang="en-MY" altLang="en-US" sz="900">
              <a:solidFill>
                <a:srgbClr val="898989"/>
              </a:solidFill>
            </a:endParaRPr>
          </a:p>
        </p:txBody>
      </p:sp>
      <p:pic>
        <p:nvPicPr>
          <p:cNvPr id="3" name="Content Placeholder 2"/>
          <p:cNvPicPr>
            <a:picLocks noChangeAspect="1"/>
          </p:cNvPicPr>
          <p:nvPr>
            <p:ph idx="1"/>
          </p:nvPr>
        </p:nvPicPr>
        <p:blipFill>
          <a:blip r:embed="rId1"/>
          <a:srcRect l="11481" t="14966" r="19915" b="7942"/>
          <a:stretch>
            <a:fillRect/>
          </a:stretch>
        </p:blipFill>
        <p:spPr>
          <a:xfrm>
            <a:off x="724535" y="1193165"/>
            <a:ext cx="7696200" cy="486473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/>
              <a:t>References</a:t>
            </a:r>
            <a:endParaRPr lang="en-MY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MY" altLang="en-US"/>
              <a:t>McGraw Hills 2007</a:t>
            </a:r>
            <a:endParaRPr lang="en-MY" altLang="en-US"/>
          </a:p>
          <a:p>
            <a:r>
              <a:rPr lang="en-MY" altLang="en-US"/>
              <a:t>Horst Lichter, RWTH Aachen University</a:t>
            </a:r>
            <a:endParaRPr lang="en-MY" altLang="en-US"/>
          </a:p>
          <a:p>
            <a:endParaRPr lang="en-MY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D07EB6-92FB-A244-B50B-574F9C36E22B}" type="datetime1">
              <a:rPr kumimoji="0" lang="en-MY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1520</Words>
  <Application>WPS Presentation</Application>
  <PresentationFormat>On-screen Show (4:3)</PresentationFormat>
  <Paragraphs>215</Paragraphs>
  <Slides>41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41</vt:i4>
      </vt:variant>
    </vt:vector>
  </HeadingPairs>
  <TitlesOfParts>
    <vt:vector size="52" baseType="lpstr">
      <vt:lpstr>Arial</vt:lpstr>
      <vt:lpstr>SimSun</vt:lpstr>
      <vt:lpstr>Wingdings</vt:lpstr>
      <vt:lpstr>Calibri</vt:lpstr>
      <vt:lpstr>MS PGothic</vt:lpstr>
      <vt:lpstr>Microsoft YaHei</vt:lpstr>
      <vt:lpstr>Arial Unicode MS</vt:lpstr>
      <vt:lpstr>Office Theme</vt:lpstr>
      <vt:lpstr>1_Office Theme</vt:lpstr>
      <vt:lpstr>Paint.Picture</vt:lpstr>
      <vt:lpstr>Paint.Picture</vt:lpstr>
      <vt:lpstr>PowerPoint 演示文稿</vt:lpstr>
      <vt:lpstr>PowerPoint 演示文稿</vt:lpstr>
      <vt:lpstr>PowerPoint 演示文稿</vt:lpstr>
      <vt:lpstr>Object oriented paradigms</vt:lpstr>
      <vt:lpstr>Object oriented paradigms</vt:lpstr>
      <vt:lpstr>Object oriented paradigms</vt:lpstr>
      <vt:lpstr>Object oriented paradigms</vt:lpstr>
      <vt:lpstr>Object oriented paradigms</vt:lpstr>
      <vt:lpstr>Object oriented paradigms</vt:lpstr>
      <vt:lpstr>Object oriented paradigms</vt:lpstr>
      <vt:lpstr>Object oriented paradigms</vt:lpstr>
      <vt:lpstr>Object oriented paradigms</vt:lpstr>
      <vt:lpstr>Object oriented paradigms</vt:lpstr>
      <vt:lpstr>Object oriented paradigms</vt:lpstr>
      <vt:lpstr>Object oriented paradigms</vt:lpstr>
      <vt:lpstr>PowerPoint 演示文稿</vt:lpstr>
      <vt:lpstr>Object Meta-model</vt:lpstr>
      <vt:lpstr>Object Meta-model</vt:lpstr>
      <vt:lpstr>Revision of OO Programming</vt:lpstr>
      <vt:lpstr>Revision of OO Programming</vt:lpstr>
      <vt:lpstr>Revision of OO Programming</vt:lpstr>
      <vt:lpstr>Revision of OO Programming</vt:lpstr>
      <vt:lpstr>Revision of OO Programming</vt:lpstr>
      <vt:lpstr>Revision of OO Programming</vt:lpstr>
      <vt:lpstr>Revision of OO Programming</vt:lpstr>
      <vt:lpstr>Revision of OO Programming</vt:lpstr>
      <vt:lpstr>PowerPoint 演示文稿</vt:lpstr>
      <vt:lpstr>Software Construction Paradigms</vt:lpstr>
      <vt:lpstr>Software Construction Paradigms</vt:lpstr>
      <vt:lpstr>Software Construction Paradigms</vt:lpstr>
      <vt:lpstr>Software Construction Paradigms</vt:lpstr>
      <vt:lpstr>Software Construction Paradigms</vt:lpstr>
      <vt:lpstr>Software Construction Paradigms</vt:lpstr>
      <vt:lpstr>Software Construction Paradigms</vt:lpstr>
      <vt:lpstr>Software Construction Paradigms</vt:lpstr>
      <vt:lpstr>Software Construction Paradigms</vt:lpstr>
      <vt:lpstr>Software Construction Paradigms</vt:lpstr>
      <vt:lpstr>Software Construction Paradigms</vt:lpstr>
      <vt:lpstr>Software Construction Paradigms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feddy</dc:creator>
  <cp:lastModifiedBy>User</cp:lastModifiedBy>
  <cp:revision>100</cp:revision>
  <dcterms:created xsi:type="dcterms:W3CDTF">2014-12-31T03:26:48Z</dcterms:created>
  <dcterms:modified xsi:type="dcterms:W3CDTF">2020-02-06T03:29:19Z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1033-11.2.0.9085</vt:lpwstr>
  </property>
</Properties>
</file>