
<file path=[Content_Types].xml><?xml version="1.0" encoding="utf-8"?>
<Types xmlns="http://schemas.openxmlformats.org/package/2006/content-types">
  <Default Extension="jpeg" ContentType="image/jpe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>
  <p:sldMasterIdLst>
    <p:sldMasterId id="2147483648" r:id="rId1"/>
  </p:sldMasterIdLst>
  <p:notesMasterIdLst>
    <p:notesMasterId r:id="rId4"/>
  </p:notesMasterIdLst>
  <p:handoutMasterIdLst>
    <p:handoutMasterId r:id="rId55"/>
  </p:handoutMasterIdLst>
  <p:sldIdLst>
    <p:sldId id="256" r:id="rId3"/>
    <p:sldId id="286" r:id="rId5"/>
    <p:sldId id="358" r:id="rId6"/>
    <p:sldId id="431" r:id="rId7"/>
    <p:sldId id="432" r:id="rId8"/>
    <p:sldId id="433" r:id="rId9"/>
    <p:sldId id="434" r:id="rId10"/>
    <p:sldId id="435" r:id="rId11"/>
    <p:sldId id="436" r:id="rId12"/>
    <p:sldId id="437" r:id="rId13"/>
    <p:sldId id="438" r:id="rId14"/>
    <p:sldId id="439" r:id="rId15"/>
    <p:sldId id="441" r:id="rId16"/>
    <p:sldId id="440" r:id="rId17"/>
    <p:sldId id="442" r:id="rId18"/>
    <p:sldId id="443" r:id="rId19"/>
    <p:sldId id="444" r:id="rId20"/>
    <p:sldId id="447" r:id="rId21"/>
    <p:sldId id="448" r:id="rId22"/>
    <p:sldId id="449" r:id="rId23"/>
    <p:sldId id="450" r:id="rId24"/>
    <p:sldId id="451" r:id="rId25"/>
    <p:sldId id="453" r:id="rId26"/>
    <p:sldId id="452" r:id="rId27"/>
    <p:sldId id="454" r:id="rId28"/>
    <p:sldId id="455" r:id="rId29"/>
    <p:sldId id="456" r:id="rId30"/>
    <p:sldId id="457" r:id="rId31"/>
    <p:sldId id="458" r:id="rId32"/>
    <p:sldId id="459" r:id="rId33"/>
    <p:sldId id="460" r:id="rId34"/>
    <p:sldId id="461" r:id="rId35"/>
    <p:sldId id="462" r:id="rId36"/>
    <p:sldId id="463" r:id="rId37"/>
    <p:sldId id="469" r:id="rId38"/>
    <p:sldId id="470" r:id="rId39"/>
    <p:sldId id="471" r:id="rId40"/>
    <p:sldId id="472" r:id="rId41"/>
    <p:sldId id="473" r:id="rId42"/>
    <p:sldId id="474" r:id="rId43"/>
    <p:sldId id="477" r:id="rId44"/>
    <p:sldId id="478" r:id="rId45"/>
    <p:sldId id="479" r:id="rId46"/>
    <p:sldId id="480" r:id="rId47"/>
    <p:sldId id="481" r:id="rId48"/>
    <p:sldId id="482" r:id="rId49"/>
    <p:sldId id="483" r:id="rId50"/>
    <p:sldId id="464" r:id="rId51"/>
    <p:sldId id="475" r:id="rId52"/>
    <p:sldId id="476" r:id="rId53"/>
    <p:sldId id="484" r:id="rId54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705"/>
    <p:restoredTop sz="94778"/>
  </p:normalViewPr>
  <p:slideViewPr>
    <p:cSldViewPr showGuides="1">
      <p:cViewPr varScale="1">
        <p:scale>
          <a:sx n="91" d="100"/>
          <a:sy n="91" d="100"/>
        </p:scale>
        <p:origin x="1848" y="184"/>
      </p:cViewPr>
      <p:guideLst>
        <p:guide orient="horz" pos="222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handoutMaster" Target="handoutMasters/handoutMaster1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561038-A1F6-9345-8546-D2A3AA77D269}" type="datetime1"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Mohd Adham Isa, SERG-Universiti Teknologi Malaysia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5BF356-B146-6342-BC41-087E063C926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7A747E-1F41-704D-AE94-D6B205E18586}" type="datetime1"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Mohd Adham Isa, SERG-Universiti Teknologi Malaysia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172B3D-A061-7847-BA13-61291DD7DF2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endParaRPr lang="en-US" altLang="en-US"/>
          </a:p>
        </p:txBody>
      </p:sp>
      <p:sp>
        <p:nvSpPr>
          <p:cNvPr id="16387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en-US" altLang="en-US" sz="1200"/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371600" y="290513"/>
            <a:ext cx="6656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sm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UTM Software Engineering Research Group </a:t>
            </a:r>
            <a:endParaRPr kumimoji="0" lang="en-US" sz="2400" b="1" i="0" u="none" strike="noStrike" kern="1200" cap="small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3600C7-A53B-2243-8E7E-8C62609FCDE1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09F0D6-ACFD-5C40-B143-5B61C9CF8ECB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emf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619250" y="60325"/>
            <a:ext cx="5700713" cy="704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96975"/>
            <a:ext cx="8229600" cy="4929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900" smtClean="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31" name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319963" y="184150"/>
            <a:ext cx="1716087" cy="581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2" name="Picture 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824163" y="6400800"/>
            <a:ext cx="3495675" cy="1968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Straight Connector 6"/>
          <p:cNvCxnSpPr/>
          <p:nvPr/>
        </p:nvCxnSpPr>
        <p:spPr>
          <a:xfrm>
            <a:off x="179388" y="908050"/>
            <a:ext cx="878522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9388" y="6237288"/>
            <a:ext cx="878522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35" name="Picture 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9388" y="93663"/>
            <a:ext cx="762000" cy="762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 cap="small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Title 1"/>
          <p:cNvSpPr>
            <a:spLocks noGrp="1"/>
          </p:cNvSpPr>
          <p:nvPr>
            <p:ph type="ctrTitle"/>
          </p:nvPr>
        </p:nvSpPr>
        <p:spPr>
          <a:xfrm>
            <a:off x="0" y="2276475"/>
            <a:ext cx="9109075" cy="14700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Foundations of Software Design</a:t>
            </a:r>
            <a:endParaRPr kumimoji="0" lang="en-US" altLang="en-US" sz="44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65625"/>
            <a:ext cx="6400800" cy="17526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UTM-SERG Research &amp; Consultancy Team</a:t>
            </a:r>
            <a:endParaRPr kumimoji="0" lang="en-MY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School of Computing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Faculty of Engineering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Universiti</a:t>
            </a: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MY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Teknologi</a:t>
            </a: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Malaysia</a:t>
            </a:r>
            <a:b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UTM,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Skudai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, Johor.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MY" sz="1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3" name="TextBox 5"/>
          <p:cNvSpPr txBox="1"/>
          <p:nvPr/>
        </p:nvSpPr>
        <p:spPr>
          <a:xfrm>
            <a:off x="3708400" y="1443038"/>
            <a:ext cx="1727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MY" altLang="en-US" sz="2800" b="1">
                <a:latin typeface="Calibri" panose="020F0502020204030204" charset="0"/>
              </a:rPr>
              <a:t>TOPIC 2</a:t>
            </a:r>
            <a:endParaRPr lang="en-MY" altLang="en-US" sz="2800" b="1">
              <a:latin typeface="Calibri" panose="020F0502020204030204" charset="0"/>
            </a:endParaRPr>
          </a:p>
        </p:txBody>
      </p:sp>
      <p:sp>
        <p:nvSpPr>
          <p:cNvPr id="15364" name="Date Placeholder 1"/>
          <p:cNvSpPr txBox="1">
            <a:spLocks noGrp="1"/>
          </p:cNvSpPr>
          <p:nvPr>
            <p:ph type="dt" sz="half" idx="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>
              <a:buNone/>
            </a:pPr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sp>
        <p:nvSpPr>
          <p:cNvPr id="15365" name="Slide Number Placeholder 4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AGENDA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MY" altLang="en-US"/>
              <a:t>Agenda 1: Motivation, Impact of Software Design</a:t>
            </a:r>
            <a:endParaRPr lang="en-MY" altLang="en-US"/>
          </a:p>
          <a:p>
            <a:r>
              <a:rPr lang="en-MY" altLang="en-US"/>
              <a:t>Agenda 2: Concepts and Terminology</a:t>
            </a:r>
            <a:endParaRPr lang="en-MY" altLang="en-US"/>
          </a:p>
          <a:p>
            <a:r>
              <a:rPr lang="en-MY" altLang="en-US"/>
              <a:t>Agenda 3: Design Principles</a:t>
            </a:r>
            <a:endParaRPr lang="en-MY" altLang="en-US"/>
          </a:p>
          <a:p>
            <a:r>
              <a:rPr lang="en-MY" altLang="en-US"/>
              <a:t>Agenda 4: Architectural Pattern</a:t>
            </a:r>
            <a:endParaRPr lang="en-MY" altLang="en-US" sz="1800">
              <a:solidFill>
                <a:srgbClr val="0070C0"/>
              </a:solidFill>
            </a:endParaRPr>
          </a:p>
          <a:p>
            <a:r>
              <a:rPr lang="en-MY" altLang="en-US"/>
              <a:t>Agenda 5: Summary</a:t>
            </a:r>
            <a:endParaRPr lang="en-MY" altLang="en-US" sz="1800">
              <a:solidFill>
                <a:srgbClr val="0070C0"/>
              </a:solidFill>
            </a:endParaRPr>
          </a:p>
          <a:p>
            <a:endParaRPr lang="en-MY" altLang="en-US"/>
          </a:p>
        </p:txBody>
      </p:sp>
      <p:sp>
        <p:nvSpPr>
          <p:cNvPr id="17411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7412" name="Date Placeholder 2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Motivation, Impact of Software Design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31628" t="13608" r="30748" b="41015"/>
          <a:stretch>
            <a:fillRect/>
          </a:stretch>
        </p:blipFill>
        <p:spPr>
          <a:xfrm>
            <a:off x="1158875" y="1108075"/>
            <a:ext cx="6622415" cy="4492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Motivation, Impact of Software Design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15000" t="23196" r="17623" b="16132"/>
          <a:stretch>
            <a:fillRect/>
          </a:stretch>
        </p:blipFill>
        <p:spPr>
          <a:xfrm>
            <a:off x="457200" y="1356360"/>
            <a:ext cx="7799705" cy="39509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Motivation, Impact of Software Design-Advantages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26373" t="27608" r="44753" b="47243"/>
          <a:stretch>
            <a:fillRect/>
          </a:stretch>
        </p:blipFill>
        <p:spPr>
          <a:xfrm>
            <a:off x="709930" y="1351280"/>
            <a:ext cx="7451725" cy="3651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Motivation, Impact of Software Design-Use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25502" t="27874" r="43873" b="44129"/>
          <a:stretch>
            <a:fillRect/>
          </a:stretch>
        </p:blipFill>
        <p:spPr>
          <a:xfrm>
            <a:off x="745490" y="1398905"/>
            <a:ext cx="6912610" cy="3554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Motivation, Impact of Software Design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31628" t="21097" r="31628" b="37915"/>
          <a:stretch>
            <a:fillRect/>
          </a:stretch>
        </p:blipFill>
        <p:spPr>
          <a:xfrm>
            <a:off x="1303020" y="1247775"/>
            <a:ext cx="6546850" cy="4108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Motivation, Impact of Software Design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29877" t="14970" r="29877" b="37915"/>
          <a:stretch>
            <a:fillRect/>
          </a:stretch>
        </p:blipFill>
        <p:spPr>
          <a:xfrm>
            <a:off x="1294130" y="1210945"/>
            <a:ext cx="6351270" cy="41821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Concepts and Terminology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29877" t="20096" r="30748" b="31687"/>
          <a:stretch>
            <a:fillRect/>
          </a:stretch>
        </p:blipFill>
        <p:spPr>
          <a:xfrm>
            <a:off x="1099185" y="1036955"/>
            <a:ext cx="6945630" cy="4784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Concepts and Terminology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29877" t="18532" r="30748" b="33237"/>
          <a:stretch>
            <a:fillRect/>
          </a:stretch>
        </p:blipFill>
        <p:spPr>
          <a:xfrm>
            <a:off x="1201420" y="1023620"/>
            <a:ext cx="6635115" cy="4571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Concepts and Terminology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29877" t="9204" r="30748" b="44129"/>
          <a:stretch>
            <a:fillRect/>
          </a:stretch>
        </p:blipFill>
        <p:spPr>
          <a:xfrm>
            <a:off x="1178560" y="1235075"/>
            <a:ext cx="6582410" cy="4387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Concepts and Terminology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29877" t="12332" r="29877" b="39465"/>
          <a:stretch>
            <a:fillRect/>
          </a:stretch>
        </p:blipFill>
        <p:spPr>
          <a:xfrm>
            <a:off x="982345" y="1135380"/>
            <a:ext cx="6974840" cy="469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Concepts and Terminology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29684" t="18532" r="30432" b="32908"/>
          <a:stretch>
            <a:fillRect/>
          </a:stretch>
        </p:blipFill>
        <p:spPr>
          <a:xfrm>
            <a:off x="1619250" y="1212850"/>
            <a:ext cx="6270625" cy="42945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Concepts and Terminology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29236" t="16228" r="29460" b="35281"/>
          <a:stretch>
            <a:fillRect/>
          </a:stretch>
        </p:blipFill>
        <p:spPr>
          <a:xfrm>
            <a:off x="804545" y="1140460"/>
            <a:ext cx="7329805" cy="48406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Concepts and Terminology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29753" t="17737" r="29877" b="34307"/>
          <a:stretch>
            <a:fillRect/>
          </a:stretch>
        </p:blipFill>
        <p:spPr>
          <a:xfrm>
            <a:off x="1692910" y="1410335"/>
            <a:ext cx="6040755" cy="40373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Concepts and Terminology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29961" t="14966" r="29745" b="37695"/>
          <a:stretch>
            <a:fillRect/>
          </a:stretch>
        </p:blipFill>
        <p:spPr>
          <a:xfrm>
            <a:off x="1348740" y="1430020"/>
            <a:ext cx="6445885" cy="4260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MY" altLang="en-US">
                <a:sym typeface="+mn-ea"/>
              </a:rPr>
              <a:t>Design Principles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30008" t="20576" r="29637" b="29918"/>
          <a:stretch>
            <a:fillRect/>
          </a:stretch>
        </p:blipFill>
        <p:spPr>
          <a:xfrm>
            <a:off x="1203960" y="1267460"/>
            <a:ext cx="6531610" cy="45078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29961" t="20261" r="29853" b="34294"/>
          <a:stretch>
            <a:fillRect/>
          </a:stretch>
        </p:blipFill>
        <p:spPr>
          <a:xfrm>
            <a:off x="1329055" y="1398905"/>
            <a:ext cx="6249670" cy="39757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30069" t="14486" r="29853" b="39442"/>
          <a:stretch>
            <a:fillRect/>
          </a:stretch>
        </p:blipFill>
        <p:spPr>
          <a:xfrm>
            <a:off x="1028700" y="1301115"/>
            <a:ext cx="6882130" cy="4451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29861" t="17421" r="29537" b="34582"/>
          <a:stretch>
            <a:fillRect/>
          </a:stretch>
        </p:blipFill>
        <p:spPr>
          <a:xfrm>
            <a:off x="1619250" y="1395095"/>
            <a:ext cx="6116955" cy="40678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29861" t="21235" r="31289" b="34733"/>
          <a:stretch>
            <a:fillRect/>
          </a:stretch>
        </p:blipFill>
        <p:spPr>
          <a:xfrm>
            <a:off x="1043940" y="1320165"/>
            <a:ext cx="6616065" cy="42183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30733" t="17901" r="29776" b="36091"/>
          <a:stretch>
            <a:fillRect/>
          </a:stretch>
        </p:blipFill>
        <p:spPr>
          <a:xfrm>
            <a:off x="2293620" y="1647190"/>
            <a:ext cx="4712970" cy="3088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29336" t="19684" r="31389" b="34047"/>
          <a:stretch>
            <a:fillRect/>
          </a:stretch>
        </p:blipFill>
        <p:spPr>
          <a:xfrm>
            <a:off x="1466850" y="1452880"/>
            <a:ext cx="6210935" cy="41160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30417" t="15597" r="30509" b="37476"/>
          <a:stretch>
            <a:fillRect/>
          </a:stretch>
        </p:blipFill>
        <p:spPr>
          <a:xfrm>
            <a:off x="1638935" y="1542415"/>
            <a:ext cx="5866765" cy="39636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30278" t="16941" r="31181" b="34760"/>
          <a:stretch>
            <a:fillRect/>
          </a:stretch>
        </p:blipFill>
        <p:spPr>
          <a:xfrm>
            <a:off x="1904365" y="1462405"/>
            <a:ext cx="5578475" cy="39325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29753" t="14239" r="30617" b="46982"/>
          <a:stretch>
            <a:fillRect/>
          </a:stretch>
        </p:blipFill>
        <p:spPr>
          <a:xfrm>
            <a:off x="1007110" y="1466215"/>
            <a:ext cx="7130415" cy="39249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31505" t="21235" r="31389" b="31248"/>
          <a:stretch>
            <a:fillRect/>
          </a:stretch>
        </p:blipFill>
        <p:spPr>
          <a:xfrm>
            <a:off x="2123440" y="1558925"/>
            <a:ext cx="4892040" cy="35242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31628" t="18532" r="29877" b="33237"/>
          <a:stretch>
            <a:fillRect/>
          </a:stretch>
        </p:blipFill>
        <p:spPr>
          <a:xfrm>
            <a:off x="1827530" y="1365250"/>
            <a:ext cx="5488940" cy="38684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30069" t="19657" r="30301" b="34362"/>
          <a:stretch>
            <a:fillRect/>
          </a:stretch>
        </p:blipFill>
        <p:spPr>
          <a:xfrm>
            <a:off x="1619250" y="1390650"/>
            <a:ext cx="6006465" cy="392049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30177" t="21605" r="30301" b="36283"/>
          <a:stretch>
            <a:fillRect/>
          </a:stretch>
        </p:blipFill>
        <p:spPr>
          <a:xfrm>
            <a:off x="1217295" y="1438275"/>
            <a:ext cx="6877685" cy="41224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30833" t="18326" r="35201" b="42510"/>
          <a:stretch>
            <a:fillRect/>
          </a:stretch>
        </p:blipFill>
        <p:spPr>
          <a:xfrm>
            <a:off x="1513840" y="1445895"/>
            <a:ext cx="6115685" cy="396684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30069" t="18491" r="34784" b="36091"/>
          <a:stretch>
            <a:fillRect/>
          </a:stretch>
        </p:blipFill>
        <p:spPr>
          <a:xfrm>
            <a:off x="1555750" y="1336675"/>
            <a:ext cx="5594985" cy="40671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30525" t="21756" r="29954" b="29918"/>
          <a:stretch>
            <a:fillRect/>
          </a:stretch>
        </p:blipFill>
        <p:spPr>
          <a:xfrm>
            <a:off x="1540510" y="1376045"/>
            <a:ext cx="5744845" cy="39516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Design Principles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30069" t="17470" r="30509" b="34184"/>
          <a:stretch>
            <a:fillRect/>
          </a:stretch>
        </p:blipFill>
        <p:spPr>
          <a:xfrm>
            <a:off x="1892935" y="1324610"/>
            <a:ext cx="6127750" cy="422783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13997" t="22977" r="17755" b="17545"/>
          <a:stretch>
            <a:fillRect/>
          </a:stretch>
        </p:blipFill>
        <p:spPr>
          <a:xfrm>
            <a:off x="813435" y="1408430"/>
            <a:ext cx="7135495" cy="349821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Model View Controller</a:t>
            </a:r>
            <a:endParaRPr kumimoji="0" lang="en-MY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26373" t="27874" r="43002" b="42579"/>
          <a:stretch>
            <a:fillRect/>
          </a:stretch>
        </p:blipFill>
        <p:spPr>
          <a:xfrm>
            <a:off x="516890" y="1415415"/>
            <a:ext cx="7905750" cy="429069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r>
              <a:rPr lang="en-MY" noProof="0" dirty="0">
                <a:ln>
                  <a:noFill/>
                </a:ln>
                <a:effectLst/>
                <a:uLnTx/>
                <a:uFillTx/>
                <a:sym typeface="+mn-ea"/>
              </a:rPr>
              <a:t>Model View Controller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26373" t="20096" r="48248" b="44129"/>
          <a:stretch>
            <a:fillRect/>
          </a:stretch>
        </p:blipFill>
        <p:spPr>
          <a:xfrm>
            <a:off x="1056005" y="1254760"/>
            <a:ext cx="5941695" cy="47117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4128" t="6091" r="28125" b="8354"/>
          <a:stretch>
            <a:fillRect/>
          </a:stretch>
        </p:blipFill>
        <p:spPr>
          <a:xfrm>
            <a:off x="1397000" y="962660"/>
            <a:ext cx="6145530" cy="51212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250" y="293370"/>
            <a:ext cx="5701030" cy="636270"/>
          </a:xfrm>
        </p:spPr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lang="en-MY" altLang="en-US">
                <a:sym typeface="+mn-ea"/>
              </a:rPr>
            </a:br>
            <a:r>
              <a:rPr lang="en-MY" altLang="en-US">
                <a:sym typeface="+mn-ea"/>
              </a:rPr>
              <a:t>Layered Architecture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5000" t="22593" r="16752" b="28285"/>
          <a:stretch>
            <a:fillRect/>
          </a:stretch>
        </p:blipFill>
        <p:spPr>
          <a:xfrm>
            <a:off x="796925" y="1682750"/>
            <a:ext cx="7346315" cy="29743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r>
              <a:rPr lang="en-MY" altLang="en-US"/>
              <a:t>Layered Architecture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6752" t="21646" r="19375" b="6804"/>
          <a:stretch>
            <a:fillRect/>
          </a:stretch>
        </p:blipFill>
        <p:spPr>
          <a:xfrm>
            <a:off x="735965" y="1483360"/>
            <a:ext cx="6962140" cy="43865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r>
              <a:rPr lang="en-MY" altLang="en-US"/>
              <a:t>Layered Architecture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15000" t="7641" r="26373" b="8354"/>
          <a:stretch>
            <a:fillRect/>
          </a:stretch>
        </p:blipFill>
        <p:spPr>
          <a:xfrm>
            <a:off x="1336675" y="1059815"/>
            <a:ext cx="6123305" cy="49352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Client Server</a:t>
            </a:r>
            <a:r>
              <a:rPr lang="en-MY" altLang="en-US"/>
              <a:t> Architecture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5000" t="22771" r="16752" b="30137"/>
          <a:stretch>
            <a:fillRect/>
          </a:stretch>
        </p:blipFill>
        <p:spPr>
          <a:xfrm>
            <a:off x="480060" y="1647190"/>
            <a:ext cx="7980045" cy="309753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Client Server</a:t>
            </a:r>
            <a:r>
              <a:rPr lang="en-MY" altLang="en-US"/>
              <a:t> Architecture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16649" t="21753" r="17645" b="13000"/>
          <a:stretch>
            <a:fillRect/>
          </a:stretch>
        </p:blipFill>
        <p:spPr>
          <a:xfrm>
            <a:off x="812800" y="1378585"/>
            <a:ext cx="7518400" cy="421068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Client Server</a:t>
            </a:r>
            <a:r>
              <a:rPr lang="en-MY" altLang="en-US"/>
              <a:t> Architecture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26373" t="21646" r="47377" b="42579"/>
          <a:stretch>
            <a:fillRect/>
          </a:stretch>
        </p:blipFill>
        <p:spPr>
          <a:xfrm>
            <a:off x="1234440" y="1154430"/>
            <a:ext cx="5935345" cy="45497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Pipe &amp; Filter</a:t>
            </a:r>
            <a:r>
              <a:rPr lang="en-MY" altLang="en-US"/>
              <a:t> Architecture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16752" t="23196" r="16752" b="23909"/>
          <a:stretch>
            <a:fillRect/>
          </a:stretch>
        </p:blipFill>
        <p:spPr>
          <a:xfrm>
            <a:off x="760730" y="1330325"/>
            <a:ext cx="8180070" cy="36601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Pipe &amp; Filter</a:t>
            </a:r>
            <a:r>
              <a:rPr lang="en-MY" altLang="en-US"/>
              <a:t> Architecture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rcRect l="17623" t="21646" r="20255" b="11468"/>
          <a:stretch>
            <a:fillRect/>
          </a:stretch>
        </p:blipFill>
        <p:spPr>
          <a:xfrm>
            <a:off x="692785" y="1079500"/>
            <a:ext cx="7759065" cy="4699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Architectural Pattern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Pipe &amp; Filter</a:t>
            </a:r>
            <a:r>
              <a:rPr lang="en-MY" altLang="en-US"/>
              <a:t> Architecture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1" name="Content Placeholder 10"/>
          <p:cNvPicPr>
            <a:picLocks noChangeAspect="1"/>
          </p:cNvPicPr>
          <p:nvPr>
            <p:ph idx="1"/>
          </p:nvPr>
        </p:nvPicPr>
        <p:blipFill>
          <a:blip r:embed="rId1"/>
          <a:srcRect l="15000" t="7641" r="15880" b="9904"/>
          <a:stretch>
            <a:fillRect/>
          </a:stretch>
        </p:blipFill>
        <p:spPr>
          <a:xfrm>
            <a:off x="1450340" y="1146175"/>
            <a:ext cx="5688330" cy="4223385"/>
          </a:xfrm>
          <a:prstGeom prst="rect">
            <a:avLst/>
          </a:prstGeom>
        </p:spPr>
      </p:pic>
      <p:sp>
        <p:nvSpPr>
          <p:cNvPr id="12" name="Rectangles 11"/>
          <p:cNvSpPr/>
          <p:nvPr/>
        </p:nvSpPr>
        <p:spPr>
          <a:xfrm>
            <a:off x="6456045" y="1146175"/>
            <a:ext cx="864235" cy="64833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250" y="60325"/>
            <a:ext cx="5701030" cy="1024890"/>
          </a:xfrm>
        </p:spPr>
        <p:txBody>
          <a:bodyPr/>
          <a:p>
            <a:r>
              <a:rPr lang="en-MY" altLang="en-US">
                <a:sym typeface="+mn-ea"/>
              </a:rPr>
              <a:t>summary</a:t>
            </a:r>
            <a:br>
              <a:rPr kumimoji="0" lang="en-MY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Content Placeholder 5"/>
          <p:cNvSpPr/>
          <p:nvPr>
            <p:ph idx="1"/>
          </p:nvPr>
        </p:nvSpPr>
        <p:spPr>
          <a:xfrm>
            <a:off x="785495" y="1448435"/>
            <a:ext cx="7226300" cy="4678045"/>
          </a:xfrm>
        </p:spPr>
        <p:txBody>
          <a:bodyPr/>
          <a:p>
            <a:r>
              <a:rPr lang="en-US">
                <a:ln/>
                <a:solidFill>
                  <a:schemeClr val="tx1"/>
                </a:solidFill>
                <a:effectLst/>
                <a:ea typeface="SimSun" panose="02010600030101010101" pitchFamily="2" charset="-122"/>
                <a:cs typeface="+mn-lt"/>
              </a:rPr>
              <a:t>An architecture is a blueprint specifying the implementation of a software system</a:t>
            </a:r>
            <a:endParaRPr lang="en-US">
              <a:ln/>
              <a:solidFill>
                <a:schemeClr val="tx1"/>
              </a:solidFill>
              <a:effectLst/>
              <a:ea typeface="SimSun" panose="02010600030101010101" pitchFamily="2" charset="-122"/>
              <a:cs typeface="+mn-lt"/>
            </a:endParaRPr>
          </a:p>
          <a:p>
            <a:r>
              <a:rPr lang="en-US">
                <a:ln/>
                <a:solidFill>
                  <a:schemeClr val="tx1"/>
                </a:solidFill>
                <a:effectLst/>
                <a:ea typeface="SimSun" panose="02010600030101010101" pitchFamily="2" charset="-122"/>
                <a:cs typeface="+mn-lt"/>
              </a:rPr>
              <a:t>The architecture influences central software qualities to an essential extent</a:t>
            </a:r>
            <a:endParaRPr lang="en-US">
              <a:ln/>
              <a:solidFill>
                <a:schemeClr val="tx1"/>
              </a:solidFill>
              <a:effectLst/>
              <a:ea typeface="SimSun" panose="02010600030101010101" pitchFamily="2" charset="-122"/>
              <a:cs typeface="+mn-lt"/>
            </a:endParaRPr>
          </a:p>
          <a:p>
            <a:r>
              <a:rPr lang="en-US">
                <a:ln/>
                <a:solidFill>
                  <a:schemeClr val="tx1"/>
                </a:solidFill>
                <a:effectLst/>
                <a:ea typeface="SimSun" panose="02010600030101010101" pitchFamily="2" charset="-122"/>
                <a:cs typeface="+mn-lt"/>
              </a:rPr>
              <a:t>Design principles and rules support architects to develop “good” architectures</a:t>
            </a:r>
            <a:endParaRPr 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r>
              <a:rPr lang="en-US">
                <a:sym typeface="+mn-ea"/>
              </a:rPr>
              <a:t>A software architecture is a description of how a software system is organized.</a:t>
            </a:r>
            <a:endParaRPr 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Summary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Content Placeholder 5"/>
          <p:cNvSpPr/>
          <p:nvPr>
            <p:ph idx="1"/>
          </p:nvPr>
        </p:nvSpPr>
        <p:spPr/>
        <p:txBody>
          <a:bodyPr/>
          <a:p>
            <a:endParaRPr lang="en-US"/>
          </a:p>
          <a:p>
            <a:r>
              <a:rPr lang="en-US"/>
              <a:t>Architectural design decisions include decisions on the type of application, the distribution of the system, the architectural styles to be used</a:t>
            </a:r>
            <a:endParaRPr lang="en-US"/>
          </a:p>
          <a:p>
            <a:r>
              <a:rPr lang="en-US"/>
              <a:t>Architectures may be documented from several different perspectives or views such as a conceptual view, a logical view, a process view, and a development view</a:t>
            </a:r>
            <a:endParaRPr lang="en-US"/>
          </a:p>
          <a:p>
            <a:r>
              <a:rPr lang="en-US">
                <a:sym typeface="+mn-ea"/>
              </a:rPr>
              <a:t>Architectural patterns are a means of reusing knowledge about generic system architectures. They describe the architecture, explain when it may be used and describe its advantages and disadvantages. </a:t>
            </a:r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Summary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Content Placeholder 5"/>
          <p:cNvSpPr/>
          <p:nvPr>
            <p:ph idx="1"/>
          </p:nvPr>
        </p:nvSpPr>
        <p:spPr/>
        <p:txBody>
          <a:bodyPr/>
          <a:p>
            <a:r>
              <a:rPr lang="en-US"/>
              <a:t>Models of application systems architectures help us understand and compare applications, validate application system designs and assess large-scale components for reuse.</a:t>
            </a:r>
            <a:endParaRPr lang="en-US"/>
          </a:p>
          <a:p>
            <a:r>
              <a:rPr lang="en-US"/>
              <a:t>Transaction processing systems are interactive systems that allow information in a database to be remotely accessed and modified by a number of users.</a:t>
            </a:r>
            <a:endParaRPr lang="en-US"/>
          </a:p>
          <a:p>
            <a:r>
              <a:rPr lang="en-US"/>
              <a:t>Language processing systems are used to translate texts from one language into another and to carry out the instructions specified in the input language. They include a translator and an abstract machine that executes the generated language. </a:t>
            </a:r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References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Content Placeholder 5"/>
          <p:cNvSpPr/>
          <p:nvPr>
            <p:ph idx="1"/>
          </p:nvPr>
        </p:nvSpPr>
        <p:spPr/>
        <p:txBody>
          <a:bodyPr/>
          <a:p>
            <a:r>
              <a:rPr lang="en-MY" altLang="en-US">
                <a:sym typeface="+mn-ea"/>
              </a:rPr>
              <a:t>Ian Sommerville 2010</a:t>
            </a:r>
            <a:endParaRPr lang="en-MY" altLang="en-US"/>
          </a:p>
          <a:p>
            <a:r>
              <a:rPr lang="en-MY" altLang="en-US">
                <a:sym typeface="+mn-ea"/>
              </a:rPr>
              <a:t>Horst Lichter, RWTH Aachen University</a:t>
            </a: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3158</Words>
  <Application>WPS Presentation</Application>
  <PresentationFormat>On-screen Show (4:3)</PresentationFormat>
  <Paragraphs>269</Paragraphs>
  <Slides>51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73" baseType="lpstr">
      <vt:lpstr>Arial</vt:lpstr>
      <vt:lpstr>SimSun</vt:lpstr>
      <vt:lpstr>Wingdings</vt:lpstr>
      <vt:lpstr>Calibri</vt:lpstr>
      <vt:lpstr>MS PGothic</vt:lpstr>
      <vt:lpstr>Microsoft YaHei</vt:lpstr>
      <vt:lpstr>Arial Unicode MS</vt:lpstr>
      <vt:lpstr>Malgun Gothic Semilight</vt:lpstr>
      <vt:lpstr>Microsoft JhengHei</vt:lpstr>
      <vt:lpstr>Microsoft JhengHei Light</vt:lpstr>
      <vt:lpstr>Microsoft JhengHei UI</vt:lpstr>
      <vt:lpstr>Microsoft JhengHei UI Light</vt:lpstr>
      <vt:lpstr>Microsoft YaHei Light</vt:lpstr>
      <vt:lpstr>Microsoft YaHei UI</vt:lpstr>
      <vt:lpstr>Microsoft YaHei UI Light</vt:lpstr>
      <vt:lpstr>MingLiU-ExtB</vt:lpstr>
      <vt:lpstr>MS Gothic</vt:lpstr>
      <vt:lpstr>MS UI Gothic</vt:lpstr>
      <vt:lpstr>NSimSun</vt:lpstr>
      <vt:lpstr>PMingLiU-ExtB</vt:lpstr>
      <vt:lpstr>Times New Roman</vt:lpstr>
      <vt:lpstr>Office Theme</vt:lpstr>
      <vt:lpstr>Introduction to software construction</vt:lpstr>
      <vt:lpstr>AGENDA</vt:lpstr>
      <vt:lpstr>Object oriented paradigms</vt:lpstr>
      <vt:lpstr>Motivation, Impact of Software Design</vt:lpstr>
      <vt:lpstr>Motivation, Impact of Software Design</vt:lpstr>
      <vt:lpstr>Motivation, Impact of Software Design</vt:lpstr>
      <vt:lpstr>Motivation, Impact of Software Design-Use</vt:lpstr>
      <vt:lpstr>Motivation, Impact of Software Design-Use</vt:lpstr>
      <vt:lpstr>Motivation, Impact of Software Design-Use</vt:lpstr>
      <vt:lpstr>Concepts and Terminology</vt:lpstr>
      <vt:lpstr>Concepts and Terminology</vt:lpstr>
      <vt:lpstr>Concepts and Terminology</vt:lpstr>
      <vt:lpstr>Concepts and Terminology</vt:lpstr>
      <vt:lpstr>Concepts and Terminology</vt:lpstr>
      <vt:lpstr>Concepts and Terminology</vt:lpstr>
      <vt:lpstr>Concepts and Terminology</vt:lpstr>
      <vt:lpstr>Concepts and Terminology</vt:lpstr>
      <vt:lpstr>PowerPoint 演示文稿</vt:lpstr>
      <vt:lpstr>Design Principles </vt:lpstr>
      <vt:lpstr>Design Principles </vt:lpstr>
      <vt:lpstr>Design Principles </vt:lpstr>
      <vt:lpstr>Design Principles </vt:lpstr>
      <vt:lpstr>Design Principles </vt:lpstr>
      <vt:lpstr>Design Principles </vt:lpstr>
      <vt:lpstr>Design Principles </vt:lpstr>
      <vt:lpstr>Design Principles </vt:lpstr>
      <vt:lpstr>Design Principles </vt:lpstr>
      <vt:lpstr>Design Principles </vt:lpstr>
      <vt:lpstr>Design Principles </vt:lpstr>
      <vt:lpstr>Design Principles </vt:lpstr>
      <vt:lpstr>Design Principles </vt:lpstr>
      <vt:lpstr>Design Principles </vt:lpstr>
      <vt:lpstr>Design Principles </vt:lpstr>
      <vt:lpstr>Design Principles </vt:lpstr>
      <vt:lpstr>summary </vt:lpstr>
      <vt:lpstr>Architectural Pattern </vt:lpstr>
      <vt:lpstr>Architectural Pattern </vt:lpstr>
      <vt:lpstr>Architectural Pattern </vt:lpstr>
      <vt:lpstr>Architectural Pattern </vt:lpstr>
      <vt:lpstr>Architectural Pattern </vt:lpstr>
      <vt:lpstr>Architectural Pattern Layered Architecture</vt:lpstr>
      <vt:lpstr>Architectural Pattern Layered Architecture</vt:lpstr>
      <vt:lpstr>Architectural Pattern Client Server Architecture</vt:lpstr>
      <vt:lpstr>Architectural Pattern Client Server Architecture</vt:lpstr>
      <vt:lpstr>Architectural Pattern Client Server Architecture</vt:lpstr>
      <vt:lpstr>Architectural Pattern Pipe &amp; Filter Architecture</vt:lpstr>
      <vt:lpstr>Architectural Pattern Pipe &amp; Filter Architecture</vt:lpstr>
      <vt:lpstr>Design Principles </vt:lpstr>
      <vt:lpstr>PowerPoint 演示文稿</vt:lpstr>
      <vt:lpstr>PowerPoint 演示文稿</vt:lpstr>
      <vt:lpstr>Summary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feddy</dc:creator>
  <cp:lastModifiedBy>User</cp:lastModifiedBy>
  <cp:revision>103</cp:revision>
  <dcterms:created xsi:type="dcterms:W3CDTF">2014-12-31T03:26:00Z</dcterms:created>
  <dcterms:modified xsi:type="dcterms:W3CDTF">2020-02-09T08:04:27Z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1033-11.2.0.9085</vt:lpwstr>
  </property>
</Properties>
</file>