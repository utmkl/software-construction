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p:sldMasterIdLst>
    <p:sldMasterId id="2147483648" r:id="rId1"/>
  </p:sldMasterIdLst>
  <p:notesMasterIdLst>
    <p:notesMasterId r:id="rId4"/>
  </p:notesMasterIdLst>
  <p:handoutMasterIdLst>
    <p:handoutMasterId r:id="rId36"/>
  </p:handoutMasterIdLst>
  <p:sldIdLst>
    <p:sldId id="256" r:id="rId3"/>
    <p:sldId id="286" r:id="rId5"/>
    <p:sldId id="362" r:id="rId6"/>
    <p:sldId id="363" r:id="rId7"/>
    <p:sldId id="380" r:id="rId8"/>
    <p:sldId id="364" r:id="rId9"/>
    <p:sldId id="365" r:id="rId10"/>
    <p:sldId id="366" r:id="rId11"/>
    <p:sldId id="368" r:id="rId12"/>
    <p:sldId id="369" r:id="rId13"/>
    <p:sldId id="370" r:id="rId14"/>
    <p:sldId id="371" r:id="rId15"/>
    <p:sldId id="372" r:id="rId16"/>
    <p:sldId id="374" r:id="rId17"/>
    <p:sldId id="375" r:id="rId18"/>
    <p:sldId id="376" r:id="rId19"/>
    <p:sldId id="401" r:id="rId20"/>
    <p:sldId id="402" r:id="rId21"/>
    <p:sldId id="403" r:id="rId22"/>
    <p:sldId id="404" r:id="rId23"/>
    <p:sldId id="405" r:id="rId24"/>
    <p:sldId id="406" r:id="rId25"/>
    <p:sldId id="407" r:id="rId26"/>
    <p:sldId id="408" r:id="rId27"/>
    <p:sldId id="409" r:id="rId28"/>
    <p:sldId id="410" r:id="rId29"/>
    <p:sldId id="433" r:id="rId30"/>
    <p:sldId id="434" r:id="rId31"/>
    <p:sldId id="435" r:id="rId32"/>
    <p:sldId id="436" r:id="rId33"/>
    <p:sldId id="412" r:id="rId34"/>
    <p:sldId id="379" r:id="rId3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705"/>
    <p:restoredTop sz="94778"/>
  </p:normalViewPr>
  <p:slideViewPr>
    <p:cSldViewPr showGuides="1">
      <p:cViewPr varScale="1">
        <p:scale>
          <a:sx n="91" d="100"/>
          <a:sy n="91" d="100"/>
        </p:scale>
        <p:origin x="1848" y="184"/>
      </p:cViewPr>
      <p:guideLst>
        <p:guide orient="horz" pos="2205"/>
        <p:guide pos="2880"/>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72561038-A1F6-9345-8546-D2A3AA77D269}" type="datetime1">
              <a:rPr kumimoji="0" lang="en-MY"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fld>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t>Mohd Adham Isa, SERG-Universiti Teknologi Malaysia</a:t>
            </a:r>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75BF356-B146-6342-BC41-087E063C9267}" type="slidenum">
              <a:rPr kumimoji="0" lang="en-US" alt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fld>
            <a:endParaRPr kumimoji="0" lang="en-US" alt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37A747E-1F41-704D-AE94-D6B205E18586}" type="datetime1">
              <a:rPr kumimoji="0" lang="en-MY"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fld>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t>Mohd Adham Isa, SERG-Universiti Teknologi Malaysia</a:t>
            </a:r>
            <a:endParaRPr kumimoji="0" 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C172B3D-A061-7847-BA13-61291DD7DF23}" type="slidenum">
              <a:rPr kumimoji="0" lang="en-US" alt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rPr>
            </a:fld>
            <a:endParaRPr kumimoji="0" lang="en-US" altLang="en-US" sz="1200" b="0" i="0" u="none" strike="noStrike" kern="1200" cap="none"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Slide Image Placeholder 1"/>
          <p:cNvSpPr>
            <a:spLocks noGrp="1" noRot="1" noChangeAspect="1" noTextEdit="1"/>
          </p:cNvSpPr>
          <p:nvPr>
            <p:ph type="sldImg"/>
          </p:nvPr>
        </p:nvSpPr>
        <p:spPr>
          <a:ln>
            <a:solidFill>
              <a:srgbClr val="000000">
                <a:alpha val="100000"/>
              </a:srgbClr>
            </a:solidFill>
            <a:miter lim="800000"/>
          </a:ln>
        </p:spPr>
      </p:sp>
      <p:sp>
        <p:nvSpPr>
          <p:cNvPr id="16386" name="Notes Placeholder 2"/>
          <p:cNvSpPr>
            <a:spLocks noGrp="1"/>
          </p:cNvSpPr>
          <p:nvPr>
            <p:ph type="body" idx="1"/>
          </p:nvPr>
        </p:nvSpPr>
        <p:spPr>
          <a:noFill/>
          <a:ln>
            <a:noFill/>
          </a:ln>
        </p:spPr>
        <p:txBody>
          <a:bodyPr wrap="square" lIns="91440" tIns="45720" rIns="91440" bIns="45720" anchor="t"/>
          <a:p>
            <a:pPr lvl="0"/>
            <a:endParaRPr lang="en-US" altLang="en-US"/>
          </a:p>
        </p:txBody>
      </p:sp>
      <p:sp>
        <p:nvSpPr>
          <p:cNvPr id="16387"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p>
            <a:pPr lvl="0" algn="r" eaLnBrk="1" hangingPunct="1"/>
            <a:fld id="{9A0DB2DC-4C9A-4742-B13C-FB6460FD3503}" type="slidenum">
              <a:rPr lang="en-US" altLang="en-US" sz="1200"/>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3" name="TextBox 12"/>
          <p:cNvSpPr txBox="1"/>
          <p:nvPr/>
        </p:nvSpPr>
        <p:spPr>
          <a:xfrm>
            <a:off x="1371600" y="290513"/>
            <a:ext cx="6656388" cy="461963"/>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small" spc="0" normalizeH="0" baseline="0" noProof="0">
                <a:ln>
                  <a:noFill/>
                </a:ln>
                <a:solidFill>
                  <a:schemeClr val="tx1"/>
                </a:solidFill>
                <a:effectLst/>
                <a:uLnTx/>
                <a:uFillTx/>
                <a:latin typeface="Calibri" panose="020F0502020204030204" charset="0"/>
                <a:ea typeface="MS PGothic" panose="020B0600070205080204" pitchFamily="34" charset="-128"/>
                <a:cs typeface="+mn-cs"/>
              </a:rPr>
              <a:t>UTM Software Engineering Research Group </a:t>
            </a:r>
            <a:endParaRPr kumimoji="0" lang="en-US" sz="2400" b="1" i="0" u="none" strike="noStrike" kern="1200" cap="small" spc="0" normalizeH="0" baseline="0" noProof="0">
              <a:ln>
                <a:noFill/>
              </a:ln>
              <a:solidFill>
                <a:schemeClr val="tx1"/>
              </a:solidFill>
              <a:effectLst/>
              <a:uLnTx/>
              <a:uFillTx/>
              <a:latin typeface="Calibri" panose="020F0502020204030204" charset="0"/>
              <a:ea typeface="MS PGothic" panose="020B0600070205080204" pitchFamily="34" charset="-128"/>
              <a:cs typeface="+mn-cs"/>
            </a:endParaRPr>
          </a:p>
        </p:txBody>
      </p:sp>
      <p:sp>
        <p:nvSpPr>
          <p:cNvPr id="2" name="Title 1"/>
          <p:cNvSpPr>
            <a:spLocks noGrp="1"/>
          </p:cNvSpPr>
          <p:nvPr>
            <p:ph type="ctrTitle"/>
          </p:nvPr>
        </p:nvSpPr>
        <p:spPr>
          <a:xfrm>
            <a:off x="685800" y="2130427"/>
            <a:ext cx="7772400" cy="1470025"/>
          </a:xfrm>
        </p:spPr>
        <p:txBody>
          <a:bodyPr/>
          <a:lstStyle>
            <a:lvl1pPr algn="ctr">
              <a:defRPr sz="4000"/>
            </a:lvl1pPr>
          </a:lstStyle>
          <a:p>
            <a:r>
              <a:rPr lang="en-US"/>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MY"/>
          </a:p>
        </p:txBody>
      </p:sp>
      <p:sp>
        <p:nvSpPr>
          <p:cNvPr id="1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fld id="{733600C7-A53B-2243-8E7E-8C62609FCDE1}"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1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809F0D6-ACFD-5C40-B143-5B61C9CF8ECB}"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MY"/>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MY" sz="2400" b="0" i="0" u="none" strike="noStrike" kern="120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MY"/>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able Placeholder 2"/>
          <p:cNvSpPr>
            <a:spLocks noGrp="1"/>
          </p:cNvSpPr>
          <p:nvPr>
            <p:ph type="tbl" idx="1"/>
          </p:nvPr>
        </p:nvSpPr>
        <p:spPr/>
        <p:txBody>
          <a:bodyPr/>
          <a:lstStyle/>
          <a:p>
            <a:endParaRPr lang="en-US"/>
          </a:p>
        </p:txBody>
      </p:sp>
      <p:sp>
        <p:nvSpPr>
          <p:cNvPr id="4" name="Date Placeholder 3"/>
          <p:cNvSpPr>
            <a:spLocks noGrp="1"/>
          </p:cNvSpPr>
          <p:nvPr>
            <p:ph type="dt" sz="half" idx="10"/>
          </p:nvPr>
        </p:nvSpPr>
        <p:spPr/>
        <p:txBody>
          <a:bodyPr/>
          <a:lstStyle/>
          <a:p>
            <a:pPr lvl="0"/>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emf"/><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bwMode="auto">
          <a:xfrm>
            <a:off x="1619250" y="60325"/>
            <a:ext cx="5700713" cy="704850"/>
          </a:xfrm>
          <a:prstGeom prst="rect">
            <a:avLst/>
          </a:prstGeom>
          <a:noFill/>
          <a:ln>
            <a:noFill/>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a:xfrm>
            <a:off x="457200" y="1196975"/>
            <a:ext cx="8229600" cy="4929188"/>
          </a:xfrm>
          <a:prstGeom prst="rect">
            <a:avLst/>
          </a:prstGeom>
          <a:noFill/>
          <a:ln w="9525">
            <a:noFill/>
          </a:ln>
        </p:spPr>
        <p:txBody>
          <a:bodyPr/>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eaLnBrk="1" hangingPunct="1">
              <a:defRPr sz="900" smtClean="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MY"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9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B9E1EE1-097B-7142-B554-2148C1D677DC}" type="slidenum">
              <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pic>
        <p:nvPicPr>
          <p:cNvPr id="1031" name="Picture 6"/>
          <p:cNvPicPr>
            <a:picLocks noChangeAspect="1"/>
          </p:cNvPicPr>
          <p:nvPr userDrawn="1"/>
        </p:nvPicPr>
        <p:blipFill>
          <a:blip r:embed="rId13"/>
          <a:stretch>
            <a:fillRect/>
          </a:stretch>
        </p:blipFill>
        <p:spPr>
          <a:xfrm>
            <a:off x="7319963" y="184150"/>
            <a:ext cx="1716087" cy="581025"/>
          </a:xfrm>
          <a:prstGeom prst="rect">
            <a:avLst/>
          </a:prstGeom>
          <a:noFill/>
          <a:ln w="9525">
            <a:noFill/>
          </a:ln>
        </p:spPr>
      </p:pic>
      <p:pic>
        <p:nvPicPr>
          <p:cNvPr id="1032" name="Picture 1"/>
          <p:cNvPicPr>
            <a:picLocks noChangeAspect="1"/>
          </p:cNvPicPr>
          <p:nvPr userDrawn="1"/>
        </p:nvPicPr>
        <p:blipFill>
          <a:blip r:embed="rId14"/>
          <a:stretch>
            <a:fillRect/>
          </a:stretch>
        </p:blipFill>
        <p:spPr>
          <a:xfrm>
            <a:off x="2824163" y="6400800"/>
            <a:ext cx="3495675" cy="196850"/>
          </a:xfrm>
          <a:prstGeom prst="rect">
            <a:avLst/>
          </a:prstGeom>
          <a:noFill/>
          <a:ln w="9525">
            <a:noFill/>
          </a:ln>
        </p:spPr>
      </p:pic>
      <p:cxnSp>
        <p:nvCxnSpPr>
          <p:cNvPr id="7" name="Straight Connector 6"/>
          <p:cNvCxnSpPr/>
          <p:nvPr/>
        </p:nvCxnSpPr>
        <p:spPr>
          <a:xfrm>
            <a:off x="179388" y="908050"/>
            <a:ext cx="8785225" cy="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p:nvCxnSpPr>
        <p:spPr>
          <a:xfrm>
            <a:off x="179388" y="6237288"/>
            <a:ext cx="878522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1035" name="Picture 2"/>
          <p:cNvPicPr>
            <a:picLocks noChangeAspect="1"/>
          </p:cNvPicPr>
          <p:nvPr userDrawn="1"/>
        </p:nvPicPr>
        <p:blipFill>
          <a:blip r:embed="rId15"/>
          <a:stretch>
            <a:fillRect/>
          </a:stretch>
        </p:blipFill>
        <p:spPr>
          <a:xfrm>
            <a:off x="179388" y="93663"/>
            <a:ext cx="7620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p:txStyles>
    <p:titleStyle>
      <a:lvl1pPr algn="l" rtl="0" eaLnBrk="0" fontAlgn="base" hangingPunct="0">
        <a:spcBef>
          <a:spcPct val="0"/>
        </a:spcBef>
        <a:spcAft>
          <a:spcPct val="0"/>
        </a:spcAft>
        <a:defRPr sz="2800" b="1" kern="1200" cap="small">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800" b="1">
          <a:solidFill>
            <a:schemeClr val="tx1"/>
          </a:solidFill>
          <a:latin typeface="Calibri" panose="020F0502020204030204" charset="0"/>
          <a:ea typeface="MS PGothic" panose="020B0600070205080204" pitchFamily="34" charset="-128"/>
        </a:defRPr>
      </a:lvl2pPr>
      <a:lvl3pPr algn="l" rtl="0" eaLnBrk="0" fontAlgn="base" hangingPunct="0">
        <a:spcBef>
          <a:spcPct val="0"/>
        </a:spcBef>
        <a:spcAft>
          <a:spcPct val="0"/>
        </a:spcAft>
        <a:defRPr sz="2800" b="1">
          <a:solidFill>
            <a:schemeClr val="tx1"/>
          </a:solidFill>
          <a:latin typeface="Calibri" panose="020F0502020204030204" charset="0"/>
          <a:ea typeface="MS PGothic" panose="020B0600070205080204" pitchFamily="34" charset="-128"/>
        </a:defRPr>
      </a:lvl3pPr>
      <a:lvl4pPr algn="l" rtl="0" eaLnBrk="0" fontAlgn="base" hangingPunct="0">
        <a:spcBef>
          <a:spcPct val="0"/>
        </a:spcBef>
        <a:spcAft>
          <a:spcPct val="0"/>
        </a:spcAft>
        <a:defRPr sz="2800" b="1">
          <a:solidFill>
            <a:schemeClr val="tx1"/>
          </a:solidFill>
          <a:latin typeface="Calibri" panose="020F0502020204030204" charset="0"/>
          <a:ea typeface="MS PGothic" panose="020B0600070205080204" pitchFamily="34" charset="-128"/>
        </a:defRPr>
      </a:lvl4pPr>
      <a:lvl5pPr algn="l" rtl="0" eaLnBrk="0" fontAlgn="base" hangingPunct="0">
        <a:spcBef>
          <a:spcPct val="0"/>
        </a:spcBef>
        <a:spcAft>
          <a:spcPct val="0"/>
        </a:spcAft>
        <a:defRPr sz="2800" b="1">
          <a:solidFill>
            <a:schemeClr val="tx1"/>
          </a:solidFill>
          <a:latin typeface="Calibri" panose="020F0502020204030204" charset="0"/>
          <a:ea typeface="MS PGothic" panose="020B0600070205080204" pitchFamily="34" charset="-128"/>
        </a:defRPr>
      </a:lvl5pPr>
      <a:lvl6pPr marL="342900" algn="ctr" rtl="0" fontAlgn="base">
        <a:spcBef>
          <a:spcPct val="0"/>
        </a:spcBef>
        <a:spcAft>
          <a:spcPct val="0"/>
        </a:spcAft>
        <a:defRPr sz="3300">
          <a:solidFill>
            <a:schemeClr val="tx1"/>
          </a:solidFill>
          <a:latin typeface="Calibri" panose="020F0502020204030204" charset="0"/>
        </a:defRPr>
      </a:lvl6pPr>
      <a:lvl7pPr marL="685800" algn="ctr" rtl="0" fontAlgn="base">
        <a:spcBef>
          <a:spcPct val="0"/>
        </a:spcBef>
        <a:spcAft>
          <a:spcPct val="0"/>
        </a:spcAft>
        <a:defRPr sz="3300">
          <a:solidFill>
            <a:schemeClr val="tx1"/>
          </a:solidFill>
          <a:latin typeface="Calibri" panose="020F0502020204030204" charset="0"/>
        </a:defRPr>
      </a:lvl7pPr>
      <a:lvl8pPr marL="1028700" algn="ctr" rtl="0" fontAlgn="base">
        <a:spcBef>
          <a:spcPct val="0"/>
        </a:spcBef>
        <a:spcAft>
          <a:spcPct val="0"/>
        </a:spcAft>
        <a:defRPr sz="3300">
          <a:solidFill>
            <a:schemeClr val="tx1"/>
          </a:solidFill>
          <a:latin typeface="Calibri" panose="020F0502020204030204" charset="0"/>
        </a:defRPr>
      </a:lvl8pPr>
      <a:lvl9pPr marL="1371600" algn="ctr" rtl="0" fontAlgn="base">
        <a:spcBef>
          <a:spcPct val="0"/>
        </a:spcBef>
        <a:spcAft>
          <a:spcPct val="0"/>
        </a:spcAft>
        <a:defRPr sz="3300">
          <a:solidFill>
            <a:schemeClr val="tx1"/>
          </a:solidFill>
          <a:latin typeface="Calibri" panose="020F050202020403020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1pPr>
      <a:lvl2pPr marL="557530" indent="-214630"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S PGothic" panose="020B0600070205080204" pitchFamily="34" charset="-128"/>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S PGothic" panose="020B0600070205080204" pitchFamily="34" charset="-128"/>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java.sun.com/j2se/1.4.2/docs/api/java/util/Arrays.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https://theagileadmin.com/what-is-devops/" TargetMode="Externa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https://dzone.com/articles/an-agile-introduction-to-devops-what-is-devops-any" TargetMode="Externa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https://www.educba.com/agile-devops/" TargetMode="Externa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www.educba.com/agile-devop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itle 1"/>
          <p:cNvSpPr>
            <a:spLocks noGrp="1"/>
          </p:cNvSpPr>
          <p:nvPr>
            <p:ph type="ctrTitle"/>
          </p:nvPr>
        </p:nvSpPr>
        <p:spPr>
          <a:xfrm>
            <a:off x="0" y="2276475"/>
            <a:ext cx="9109075" cy="14700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MY" altLang="en-US" sz="4400" b="1" i="0" u="none" strike="noStrike" kern="1200" cap="small" spc="0" normalizeH="0" baseline="0" noProof="0" dirty="0">
                <a:ln>
                  <a:noFill/>
                </a:ln>
                <a:solidFill>
                  <a:schemeClr val="tx1"/>
                </a:solidFill>
                <a:effectLst/>
                <a:uLnTx/>
                <a:uFillTx/>
                <a:latin typeface="+mj-lt"/>
                <a:ea typeface="MS PGothic" panose="020B0600070205080204" pitchFamily="34" charset="-128"/>
                <a:cs typeface="+mj-cs"/>
              </a:rPr>
              <a:t>Design By Contract</a:t>
            </a:r>
            <a:endParaRPr kumimoji="0" lang="en-MY" altLang="en-US" sz="4400" b="1" i="0" u="none" strike="noStrike" kern="1200" cap="small" spc="0" normalizeH="0" baseline="0" noProof="0" dirty="0">
              <a:ln>
                <a:noFill/>
              </a:ln>
              <a:solidFill>
                <a:schemeClr val="tx1"/>
              </a:solidFill>
              <a:effectLst/>
              <a:uLnTx/>
              <a:uFillTx/>
              <a:latin typeface="+mj-lt"/>
              <a:ea typeface="MS PGothic" panose="020B0600070205080204" pitchFamily="34" charset="-128"/>
              <a:cs typeface="+mj-cs"/>
            </a:endParaRPr>
          </a:p>
        </p:txBody>
      </p:sp>
      <p:sp>
        <p:nvSpPr>
          <p:cNvPr id="3" name="Subtitle 2"/>
          <p:cNvSpPr>
            <a:spLocks noGrp="1"/>
          </p:cNvSpPr>
          <p:nvPr>
            <p:ph type="subTitle" idx="1"/>
          </p:nvPr>
        </p:nvSpPr>
        <p:spPr>
          <a:xfrm>
            <a:off x="1371600" y="4365625"/>
            <a:ext cx="6400800" cy="1752600"/>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MY" sz="1800" b="1" i="0" u="none" strike="noStrike" kern="1200" cap="none" spc="0" normalizeH="0" baseline="0" noProof="0" dirty="0">
                <a:ln>
                  <a:noFill/>
                </a:ln>
                <a:solidFill>
                  <a:schemeClr val="tx1"/>
                </a:solidFill>
                <a:effectLst/>
                <a:uLnTx/>
                <a:uFillTx/>
                <a:latin typeface="+mn-lt"/>
                <a:ea typeface="+mn-ea"/>
                <a:cs typeface="+mn-cs"/>
              </a:rPr>
              <a:t>UTM-SERG Research &amp; Consultancy Team</a:t>
            </a:r>
            <a:endParaRPr kumimoji="0" lang="en-MY" sz="1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MY" sz="1800" b="0" i="0" u="none" strike="noStrike" kern="1200" cap="none" spc="0" normalizeH="0" baseline="0" noProof="0" dirty="0">
                <a:ln>
                  <a:noFill/>
                </a:ln>
                <a:solidFill>
                  <a:schemeClr val="tx1"/>
                </a:solidFill>
                <a:effectLst/>
                <a:uLnTx/>
                <a:uFillTx/>
                <a:latin typeface="+mn-lt"/>
                <a:ea typeface="+mn-ea"/>
                <a:cs typeface="+mn-cs"/>
              </a:rPr>
              <a:t>School of Computing</a:t>
            </a:r>
            <a:endParaRPr kumimoji="0" lang="en-MY"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MY" sz="1800" b="0" i="0" u="none" strike="noStrike" kern="1200" cap="none" spc="0" normalizeH="0" baseline="0" noProof="0" dirty="0">
                <a:ln>
                  <a:noFill/>
                </a:ln>
                <a:solidFill>
                  <a:schemeClr val="tx1"/>
                </a:solidFill>
                <a:effectLst/>
                <a:uLnTx/>
                <a:uFillTx/>
                <a:latin typeface="+mn-lt"/>
                <a:ea typeface="+mn-ea"/>
                <a:cs typeface="+mn-cs"/>
              </a:rPr>
              <a:t>Faculty of Engineering</a:t>
            </a:r>
            <a:endParaRPr kumimoji="0" lang="en-MY"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MY" sz="1800" b="0" i="0" u="none" strike="noStrike" kern="1200" cap="none" spc="0" normalizeH="0" baseline="0" noProof="0" dirty="0" err="1">
                <a:ln>
                  <a:noFill/>
                </a:ln>
                <a:solidFill>
                  <a:schemeClr val="tx1"/>
                </a:solidFill>
                <a:effectLst/>
                <a:uLnTx/>
                <a:uFillTx/>
                <a:latin typeface="+mn-lt"/>
                <a:ea typeface="+mn-ea"/>
                <a:cs typeface="+mn-cs"/>
              </a:rPr>
              <a:t>Universiti</a:t>
            </a:r>
            <a:r>
              <a:rPr kumimoji="0" lang="en-MY" sz="1800" b="0" i="0" u="none" strike="noStrike" kern="1200" cap="none" spc="0" normalizeH="0" baseline="0" noProof="0" dirty="0">
                <a:ln>
                  <a:noFill/>
                </a:ln>
                <a:solidFill>
                  <a:schemeClr val="tx1"/>
                </a:solidFill>
                <a:effectLst/>
                <a:uLnTx/>
                <a:uFillTx/>
                <a:latin typeface="+mn-lt"/>
                <a:ea typeface="+mn-ea"/>
                <a:cs typeface="+mn-cs"/>
              </a:rPr>
              <a:t> </a:t>
            </a:r>
            <a:r>
              <a:rPr kumimoji="0" lang="en-MY" sz="1800" b="0" i="0" u="none" strike="noStrike" kern="1200" cap="none" spc="0" normalizeH="0" baseline="0" noProof="0" dirty="0" err="1">
                <a:ln>
                  <a:noFill/>
                </a:ln>
                <a:solidFill>
                  <a:schemeClr val="tx1"/>
                </a:solidFill>
                <a:effectLst/>
                <a:uLnTx/>
                <a:uFillTx/>
                <a:latin typeface="+mn-lt"/>
                <a:ea typeface="+mn-ea"/>
                <a:cs typeface="+mn-cs"/>
              </a:rPr>
              <a:t>Teknologi</a:t>
            </a:r>
            <a:r>
              <a:rPr kumimoji="0" lang="en-MY" sz="1800" b="0" i="0" u="none" strike="noStrike" kern="1200" cap="none" spc="0" normalizeH="0" baseline="0" noProof="0" dirty="0">
                <a:ln>
                  <a:noFill/>
                </a:ln>
                <a:solidFill>
                  <a:schemeClr val="tx1"/>
                </a:solidFill>
                <a:effectLst/>
                <a:uLnTx/>
                <a:uFillTx/>
                <a:latin typeface="+mn-lt"/>
                <a:ea typeface="+mn-ea"/>
                <a:cs typeface="+mn-cs"/>
              </a:rPr>
              <a:t> Malaysia</a:t>
            </a:r>
            <a:br>
              <a:rPr kumimoji="0" lang="en-MY" sz="1800" b="0" i="0" u="none" strike="noStrike" kern="1200" cap="none" spc="0" normalizeH="0" baseline="0" noProof="0" dirty="0">
                <a:ln>
                  <a:noFill/>
                </a:ln>
                <a:solidFill>
                  <a:schemeClr val="tx1"/>
                </a:solidFill>
                <a:effectLst/>
                <a:uLnTx/>
                <a:uFillTx/>
                <a:latin typeface="+mn-lt"/>
                <a:ea typeface="+mn-ea"/>
                <a:cs typeface="+mn-cs"/>
              </a:rPr>
            </a:br>
            <a:r>
              <a:rPr kumimoji="0"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UTM, </a:t>
            </a:r>
            <a:r>
              <a:rPr kumimoji="0" lang="en-US" sz="1800" b="0" i="0" u="none" strike="noStrike" kern="1200" cap="none" spc="0" normalizeH="0" baseline="0" noProof="0" dirty="0" err="1">
                <a:ln>
                  <a:noFill/>
                </a:ln>
                <a:solidFill>
                  <a:schemeClr val="tx1"/>
                </a:solidFill>
                <a:effectLst/>
                <a:uLnTx/>
                <a:uFillTx/>
                <a:latin typeface="+mn-lt"/>
                <a:ea typeface="MS PGothic" panose="020B0600070205080204" pitchFamily="34" charset="-128"/>
                <a:cs typeface="+mn-cs"/>
              </a:rPr>
              <a:t>Skudai</a:t>
            </a:r>
            <a:r>
              <a:rPr kumimoji="0"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 Johor.</a:t>
            </a:r>
            <a:endParaRPr kumimoji="0"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MY" sz="1400" b="0" i="1" u="none" strike="noStrike" kern="1200" cap="none" spc="0" normalizeH="0" baseline="0" noProof="0" dirty="0">
              <a:ln>
                <a:noFill/>
              </a:ln>
              <a:solidFill>
                <a:schemeClr val="tx1"/>
              </a:solidFill>
              <a:effectLst/>
              <a:uLnTx/>
              <a:uFillTx/>
              <a:latin typeface="+mn-lt"/>
              <a:ea typeface="+mn-ea"/>
              <a:cs typeface="+mn-cs"/>
            </a:endParaRPr>
          </a:p>
        </p:txBody>
      </p:sp>
      <p:sp>
        <p:nvSpPr>
          <p:cNvPr id="15363" name="TextBox 5"/>
          <p:cNvSpPr txBox="1"/>
          <p:nvPr/>
        </p:nvSpPr>
        <p:spPr>
          <a:xfrm>
            <a:off x="3708400" y="1443038"/>
            <a:ext cx="1727200" cy="521970"/>
          </a:xfrm>
          <a:prstGeom prst="rect">
            <a:avLst/>
          </a:prstGeom>
          <a:noFill/>
          <a:ln w="9525">
            <a:noFill/>
          </a:ln>
        </p:spPr>
        <p:txBody>
          <a:bodyPr>
            <a:spAutoFit/>
          </a:bodyPr>
          <a:p>
            <a:pPr eaLnBrk="1" hangingPunct="1"/>
            <a:r>
              <a:rPr lang="en-MY" altLang="en-US" sz="2800" b="1">
                <a:latin typeface="Calibri" panose="020F0502020204030204" charset="0"/>
              </a:rPr>
              <a:t>TOPIC 4</a:t>
            </a:r>
            <a:endParaRPr lang="en-MY" altLang="en-US" sz="2800" b="1">
              <a:latin typeface="Calibri" panose="020F0502020204030204" charset="0"/>
            </a:endParaRPr>
          </a:p>
        </p:txBody>
      </p:sp>
      <p:sp>
        <p:nvSpPr>
          <p:cNvPr id="15364" name="Date Placeholder 1"/>
          <p:cNvSpPr txBox="1">
            <a:spLocks noGrp="1"/>
          </p:cNvSpPr>
          <p:nvPr>
            <p:ph type="dt" sz="half" idx="2"/>
          </p:nvPr>
        </p:nvSpPr>
        <p:spPr>
          <a:noFill/>
          <a:ln>
            <a:noFill/>
          </a:ln>
        </p:spPr>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5pPr>
          </a:lstStyle>
          <a:p>
            <a:pPr lvl="0" eaLnBrk="1" hangingPunct="1">
              <a:buNone/>
            </a:pPr>
            <a:fld id="{BB962C8B-B14F-4D97-AF65-F5344CB8AC3E}" type="datetime1">
              <a:rPr lang="en-MY" altLang="en-US" sz="900">
                <a:solidFill>
                  <a:srgbClr val="898989"/>
                </a:solidFill>
              </a:rPr>
            </a:fld>
            <a:endParaRPr lang="en-MY" altLang="en-US" sz="900">
              <a:solidFill>
                <a:srgbClr val="898989"/>
              </a:solidFill>
            </a:endParaRPr>
          </a:p>
        </p:txBody>
      </p:sp>
      <p:sp>
        <p:nvSpPr>
          <p:cNvPr id="15365" name="Slide Number Placeholder 4"/>
          <p:cNvSpPr txBox="1">
            <a:spLocks noGrp="1"/>
          </p:cNvSpPr>
          <p:nvPr>
            <p:ph type="sldNum" sz="quarter" idx="4"/>
          </p:nvPr>
        </p:nvSpPr>
        <p:spPr>
          <a:noFill/>
          <a:ln>
            <a:noFill/>
          </a:ln>
        </p:spPr>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5pPr>
          </a:lstStyle>
          <a:p>
            <a:pPr lvl="0" algn="r" eaLnBrk="1" hangingPunct="1">
              <a:buNone/>
            </a:pPr>
            <a:fld id="{9A0DB2DC-4C9A-4742-B13C-FB6460FD3503}"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71550" y="112713"/>
            <a:ext cx="5700713" cy="70485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MY" sz="2800" b="1" i="0" u="none" strike="noStrike" kern="1200" cap="small" spc="0" normalizeH="0" baseline="0" noProof="0" dirty="0">
                <a:ln>
                  <a:noFill/>
                </a:ln>
                <a:solidFill>
                  <a:schemeClr val="tx1"/>
                </a:solidFill>
                <a:effectLst/>
                <a:uLnTx/>
                <a:uFillTx/>
                <a:latin typeface="+mj-lt"/>
                <a:ea typeface="MS PGothic" panose="020B0600070205080204" pitchFamily="34" charset="-128"/>
                <a:cs typeface="+mj-cs"/>
              </a:rPr>
              <a:t>AGENDA</a:t>
            </a:r>
            <a:endParaRPr kumimoji="0" lang="en-MY" sz="2800" b="1" i="0" u="none" strike="noStrike" kern="1200" cap="small" spc="0" normalizeH="0" baseline="0" noProof="0" dirty="0">
              <a:ln>
                <a:noFill/>
              </a:ln>
              <a:solidFill>
                <a:schemeClr val="tx1"/>
              </a:solidFill>
              <a:effectLst/>
              <a:uLnTx/>
              <a:uFillTx/>
              <a:latin typeface="+mj-lt"/>
              <a:ea typeface="MS PGothic" panose="020B0600070205080204" pitchFamily="34" charset="-128"/>
              <a:cs typeface="+mj-cs"/>
            </a:endParaRPr>
          </a:p>
        </p:txBody>
      </p:sp>
      <p:sp>
        <p:nvSpPr>
          <p:cNvPr id="17410" name="Content Placeholder 2"/>
          <p:cNvSpPr>
            <a:spLocks noGrp="1"/>
          </p:cNvSpPr>
          <p:nvPr>
            <p:ph idx="1"/>
          </p:nvPr>
        </p:nvSpPr>
        <p:spPr/>
        <p:txBody>
          <a:bodyPr vert="horz" wrap="square" lIns="91440" tIns="45720" rIns="91440" bIns="45720" anchor="t"/>
          <a:p>
            <a:pPr>
              <a:lnSpc>
                <a:spcPct val="90000"/>
              </a:lnSpc>
            </a:pPr>
            <a:r>
              <a:rPr lang="en-MY" altLang="en-US"/>
              <a:t>Agenda 1: </a:t>
            </a:r>
            <a:r>
              <a:rPr lang="en-MY">
                <a:sym typeface="+mn-ea"/>
              </a:rPr>
              <a:t>Design</a:t>
            </a:r>
            <a:r>
              <a:rPr>
                <a:sym typeface="+mn-ea"/>
              </a:rPr>
              <a:t> by contract</a:t>
            </a:r>
            <a:endParaRPr>
              <a:sym typeface="+mn-ea"/>
            </a:endParaRPr>
          </a:p>
          <a:p>
            <a:pPr>
              <a:lnSpc>
                <a:spcPct val="90000"/>
              </a:lnSpc>
            </a:pPr>
            <a:r>
              <a:rPr lang="en-MY" altLang="en-US">
                <a:sym typeface="+mn-ea"/>
              </a:rPr>
              <a:t>Agenda 2: </a:t>
            </a:r>
            <a:r>
              <a:rPr>
                <a:sym typeface="+mn-ea"/>
              </a:rPr>
              <a:t>Preconditions </a:t>
            </a:r>
            <a:endParaRPr>
              <a:sym typeface="+mn-ea"/>
            </a:endParaRPr>
          </a:p>
          <a:p>
            <a:pPr>
              <a:lnSpc>
                <a:spcPct val="90000"/>
              </a:lnSpc>
            </a:pPr>
            <a:r>
              <a:rPr lang="en-MY" altLang="en-US">
                <a:sym typeface="+mn-ea"/>
              </a:rPr>
              <a:t>Agenda 3: </a:t>
            </a:r>
            <a:r>
              <a:rPr>
                <a:sym typeface="+mn-ea"/>
              </a:rPr>
              <a:t>Exceptions in the contract</a:t>
            </a:r>
            <a:endParaRPr>
              <a:sym typeface="+mn-ea"/>
            </a:endParaRPr>
          </a:p>
          <a:p>
            <a:pPr>
              <a:lnSpc>
                <a:spcPct val="90000"/>
              </a:lnSpc>
            </a:pPr>
            <a:r>
              <a:rPr lang="en-MY" altLang="en-US">
                <a:sym typeface="+mn-ea"/>
              </a:rPr>
              <a:t>Agenda 4: </a:t>
            </a:r>
            <a:r>
              <a:rPr>
                <a:sym typeface="+mn-ea"/>
              </a:rPr>
              <a:t>Assertions</a:t>
            </a:r>
            <a:endParaRPr>
              <a:sym typeface="+mn-ea"/>
            </a:endParaRPr>
          </a:p>
          <a:p>
            <a:pPr>
              <a:lnSpc>
                <a:spcPct val="90000"/>
              </a:lnSpc>
            </a:pPr>
            <a:r>
              <a:rPr lang="en-MY" altLang="en-US">
                <a:sym typeface="+mn-ea"/>
              </a:rPr>
              <a:t>Agenda 5: </a:t>
            </a:r>
            <a:r>
              <a:rPr>
                <a:sym typeface="+mn-ea"/>
              </a:rPr>
              <a:t>Postconditions</a:t>
            </a:r>
            <a:endParaRPr>
              <a:sym typeface="+mn-ea"/>
            </a:endParaRPr>
          </a:p>
          <a:p>
            <a:pPr>
              <a:lnSpc>
                <a:spcPct val="90000"/>
              </a:lnSpc>
            </a:pPr>
            <a:r>
              <a:rPr lang="en-MY" altLang="en-US">
                <a:sym typeface="+mn-ea"/>
              </a:rPr>
              <a:t>Agenda 6: </a:t>
            </a:r>
            <a:r>
              <a:rPr>
                <a:sym typeface="+mn-ea"/>
              </a:rPr>
              <a:t>Invariants</a:t>
            </a:r>
            <a:endParaRPr>
              <a:sym typeface="+mn-ea"/>
            </a:endParaRPr>
          </a:p>
          <a:p>
            <a:pPr>
              <a:lnSpc>
                <a:spcPct val="90000"/>
              </a:lnSpc>
            </a:pPr>
            <a:r>
              <a:rPr lang="en-MY" altLang="en-US">
                <a:sym typeface="+mn-ea"/>
              </a:rPr>
              <a:t>Agenda 7: </a:t>
            </a:r>
            <a:r>
              <a:rPr lang="en-MY">
                <a:sym typeface="+mn-ea"/>
              </a:rPr>
              <a:t>Contracts and Inheritance</a:t>
            </a:r>
            <a:endParaRPr lang="en-MY">
              <a:sym typeface="+mn-ea"/>
            </a:endParaRPr>
          </a:p>
          <a:p>
            <a:pPr>
              <a:lnSpc>
                <a:spcPct val="90000"/>
              </a:lnSpc>
            </a:pPr>
            <a:r>
              <a:rPr lang="en-MY" altLang="en-US">
                <a:sym typeface="+mn-ea"/>
              </a:rPr>
              <a:t>Agenda 8: Defensive programming</a:t>
            </a:r>
            <a:endParaRPr lang="en-MY">
              <a:sym typeface="+mn-ea"/>
            </a:endParaRPr>
          </a:p>
          <a:p>
            <a:pPr>
              <a:lnSpc>
                <a:spcPct val="90000"/>
              </a:lnSpc>
            </a:pPr>
            <a:r>
              <a:rPr lang="en-MY" altLang="en-US">
                <a:sym typeface="+mn-ea"/>
              </a:rPr>
              <a:t>Agenda 9: Devops</a:t>
            </a:r>
            <a:endParaRPr lang="en-MY">
              <a:sym typeface="+mn-ea"/>
            </a:endParaRPr>
          </a:p>
          <a:p>
            <a:pPr>
              <a:lnSpc>
                <a:spcPct val="90000"/>
              </a:lnSpc>
            </a:pPr>
            <a:r>
              <a:rPr lang="en-MY" altLang="en-US">
                <a:sym typeface="+mn-ea"/>
              </a:rPr>
              <a:t>Agenda 10: Summary</a:t>
            </a:r>
            <a:endParaRPr>
              <a:sym typeface="+mn-ea"/>
            </a:endParaRPr>
          </a:p>
          <a:p>
            <a:pPr>
              <a:lnSpc>
                <a:spcPct val="90000"/>
              </a:lnSpc>
            </a:pPr>
          </a:p>
          <a:p>
            <a:endParaRPr lang="en-MY" altLang="en-US" sz="1800">
              <a:solidFill>
                <a:srgbClr val="0070C0"/>
              </a:solidFill>
            </a:endParaRPr>
          </a:p>
          <a:p>
            <a:endParaRPr lang="en-MY" altLang="en-US"/>
          </a:p>
        </p:txBody>
      </p:sp>
      <p:sp>
        <p:nvSpPr>
          <p:cNvPr id="17411" name="Slide Number Placeholder 4"/>
          <p:cNvSpPr txBox="1">
            <a:spLocks noGrp="1"/>
          </p:cNvSpPr>
          <p:nvPr>
            <p:ph type="sldNum" sz="quarter" idx="12"/>
          </p:nvPr>
        </p:nvSpPr>
        <p:spPr>
          <a:noFill/>
          <a:ln>
            <a:noFill/>
          </a:ln>
        </p:spPr>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5pPr>
          </a:lstStyle>
          <a:p>
            <a:pPr lvl="0" algn="r" eaLnBrk="1" hangingPunct="1"/>
            <a:fld id="{9A0DB2DC-4C9A-4742-B13C-FB6460FD3503}" type="slidenum">
              <a:rPr lang="en-US" altLang="en-US" sz="900">
                <a:solidFill>
                  <a:srgbClr val="898989"/>
                </a:solidFill>
              </a:rPr>
            </a:fld>
            <a:endParaRPr lang="en-US" altLang="en-US" sz="900">
              <a:solidFill>
                <a:srgbClr val="898989"/>
              </a:solidFill>
            </a:endParaRPr>
          </a:p>
        </p:txBody>
      </p:sp>
      <p:sp>
        <p:nvSpPr>
          <p:cNvPr id="17412" name="Date Placeholder 2"/>
          <p:cNvSpPr txBox="1">
            <a:spLocks noGrp="1"/>
          </p:cNvSpPr>
          <p:nvPr>
            <p:ph type="dt" sz="half" idx="10"/>
          </p:nvPr>
        </p:nvSpPr>
        <p:spPr>
          <a:noFill/>
          <a:ln>
            <a:noFill/>
          </a:ln>
        </p:spPr>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charset="0"/>
                <a:ea typeface="MS PGothic" panose="020B0600070205080204" pitchFamily="34" charset="-128"/>
                <a:cs typeface="+mn-cs"/>
              </a:defRPr>
            </a:lvl5pPr>
          </a:lstStyle>
          <a:p>
            <a:pPr lvl="0" eaLnBrk="1" hangingPunct="1"/>
            <a:fld id="{BB962C8B-B14F-4D97-AF65-F5344CB8AC3E}" type="datetime1">
              <a:rPr lang="en-MY" altLang="en-US" sz="900">
                <a:solidFill>
                  <a:srgbClr val="898989"/>
                </a:solidFill>
              </a:rPr>
            </a:fld>
            <a:endParaRPr lang="en-MY" altLang="en-US" sz="9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398786" name="Title 1398785"/>
          <p:cNvSpPr>
            <a:spLocks noGrp="1"/>
          </p:cNvSpPr>
          <p:nvPr>
            <p:ph type="title"/>
          </p:nvPr>
        </p:nvSpPr>
        <p:spPr/>
        <p:txBody>
          <a:bodyPr anchor="b"/>
          <a:p>
            <a:r>
              <a:t>Design by contract</a:t>
            </a:r>
          </a:p>
        </p:txBody>
      </p:sp>
      <p:sp>
        <p:nvSpPr>
          <p:cNvPr id="1398787" name="Text Placeholder 1398786"/>
          <p:cNvSpPr>
            <a:spLocks noGrp="1"/>
          </p:cNvSpPr>
          <p:nvPr>
            <p:ph type="body" idx="1"/>
          </p:nvPr>
        </p:nvSpPr>
        <p:spPr/>
        <p:txBody>
          <a:bodyPr/>
          <a:p>
            <a:r>
              <a:t>What is meant by "design by contract" or "programming by contract"?</a:t>
            </a:r>
          </a:p>
          <a:p/>
          <a:p/>
          <a:p/>
        </p:txBody>
      </p:sp>
      <p:sp>
        <p:nvSpPr>
          <p:cNvPr id="1398788" name="Text Box 1398787"/>
          <p:cNvSpPr txBox="1"/>
          <p:nvPr/>
        </p:nvSpPr>
        <p:spPr>
          <a:xfrm>
            <a:off x="0" y="2400300"/>
            <a:ext cx="9144000" cy="3413125"/>
          </a:xfrm>
          <a:prstGeom prst="rect">
            <a:avLst/>
          </a:prstGeom>
          <a:noFill/>
          <a:ln w="9525">
            <a:noFill/>
          </a:ln>
        </p:spPr>
        <p:txBody>
          <a:bodyPr>
            <a:spAutoFit/>
          </a:bodyPr>
          <a:p>
            <a:pPr marL="346075" indent="-346075">
              <a:spcBef>
                <a:spcPct val="20000"/>
              </a:spcBef>
              <a:buClr>
                <a:schemeClr val="folHlink"/>
              </a:buClr>
              <a:buSzPct val="60000"/>
              <a:buFont typeface="Wingdings" panose="05000000000000000000" pitchFamily="2" charset="2"/>
              <a:buChar char="n"/>
            </a:pPr>
            <a:r>
              <a:rPr b="1">
                <a:latin typeface="Verdana" panose="020B0604030504040204" pitchFamily="34" charset="0"/>
                <a:ea typeface="Times New Roman" panose="02020603050405020304" pitchFamily="18" charset="0"/>
                <a:cs typeface="Times New Roman" panose="02020603050405020304" pitchFamily="18" charset="0"/>
              </a:rPr>
              <a:t>contract</a:t>
            </a:r>
            <a:r>
              <a:rPr>
                <a:latin typeface="Verdana" panose="020B0604030504040204" pitchFamily="34" charset="0"/>
                <a:ea typeface="Times New Roman" panose="02020603050405020304" pitchFamily="18" charset="0"/>
                <a:cs typeface="Times New Roman" panose="02020603050405020304" pitchFamily="18" charset="0"/>
              </a:rPr>
              <a:t>: An agreement between classes/objects and their clients about how they will be used.</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folHlink"/>
              </a:buClr>
              <a:buSzPct val="60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used to assure that objects always have valid state</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non-software contracts: bank terms, product warning labels</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folHlink"/>
              </a:buClr>
              <a:buSzPct val="60000"/>
              <a:buFont typeface="Wingdings" panose="05000000000000000000" pitchFamily="2" charset="2"/>
            </a:pPr>
            <a:endParaRPr sz="700">
              <a:latin typeface="Verdana" panose="020B0604030504040204" pitchFamily="34" charset="0"/>
              <a:ea typeface="Times New Roman" panose="02020603050405020304" pitchFamily="18" charset="0"/>
              <a:cs typeface="Times New Roman" panose="02020603050405020304" pitchFamily="18" charset="0"/>
            </a:endParaRPr>
          </a:p>
          <a:p>
            <a:pPr marL="346075" indent="-346075">
              <a:spcBef>
                <a:spcPct val="20000"/>
              </a:spcBef>
              <a:buClr>
                <a:schemeClr val="folHlink"/>
              </a:buClr>
              <a:buSzPct val="60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To ensure every object is valid, show that:</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constructors create only valid objects</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all mutators preserve validity of the object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346075" indent="-346075">
              <a:spcBef>
                <a:spcPct val="20000"/>
              </a:spcBef>
              <a:buClr>
                <a:schemeClr val="folHlink"/>
              </a:buClr>
              <a:buSzPct val="60000"/>
              <a:buFont typeface="Wingdings" panose="05000000000000000000" pitchFamily="2" charset="2"/>
              <a:buChar char="n"/>
            </a:pPr>
            <a:endParaRPr sz="700">
              <a:latin typeface="Verdana" panose="020B0604030504040204" pitchFamily="34" charset="0"/>
              <a:ea typeface="Times New Roman" panose="02020603050405020304" pitchFamily="18" charset="0"/>
              <a:cs typeface="Times New Roman" panose="02020603050405020304" pitchFamily="18" charset="0"/>
            </a:endParaRPr>
          </a:p>
          <a:p>
            <a:pPr marL="346075" indent="-346075">
              <a:spcBef>
                <a:spcPct val="20000"/>
              </a:spcBef>
              <a:buClr>
                <a:schemeClr val="folHlink"/>
              </a:buClr>
              <a:buSzPct val="60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What is the cost of enforcing a contract?</a:t>
            </a:r>
            <a:endParaRPr>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8788"/>
                                        </p:tgtEl>
                                        <p:attrNameLst>
                                          <p:attrName>style.visibility</p:attrName>
                                        </p:attrNameLst>
                                      </p:cBhvr>
                                      <p:to>
                                        <p:strVal val="visible"/>
                                      </p:to>
                                    </p:set>
                                    <p:anim calcmode="lin" valueType="num">
                                      <p:cBhvr additive="base">
                                        <p:cTn id="7" dur="500" fill="hold"/>
                                        <p:tgtEl>
                                          <p:spTgt spid="1398788"/>
                                        </p:tgtEl>
                                        <p:attrNameLst>
                                          <p:attrName>ppt_x</p:attrName>
                                        </p:attrNameLst>
                                      </p:cBhvr>
                                      <p:tavLst>
                                        <p:tav tm="0">
                                          <p:val>
                                            <p:strVal val="#ppt_x"/>
                                          </p:val>
                                        </p:tav>
                                        <p:tav tm="100000">
                                          <p:val>
                                            <p:strVal val="#ppt_x"/>
                                          </p:val>
                                        </p:tav>
                                      </p:tavLst>
                                    </p:anim>
                                    <p:anim calcmode="lin" valueType="num">
                                      <p:cBhvr additive="base">
                                        <p:cTn id="8" dur="500" fill="hold"/>
                                        <p:tgtEl>
                                          <p:spTgt spid="13987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878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399810" name="Title 1399809"/>
          <p:cNvSpPr>
            <a:spLocks noGrp="1"/>
          </p:cNvSpPr>
          <p:nvPr>
            <p:ph type="title"/>
          </p:nvPr>
        </p:nvSpPr>
        <p:spPr/>
        <p:txBody>
          <a:bodyPr anchor="b"/>
          <a:p>
            <a:r>
              <a:t>Example contract issue</a:t>
            </a:r>
          </a:p>
        </p:txBody>
      </p:sp>
      <p:sp>
        <p:nvSpPr>
          <p:cNvPr id="1399811" name="Text Placeholder 1399810"/>
          <p:cNvSpPr>
            <a:spLocks noGrp="1"/>
          </p:cNvSpPr>
          <p:nvPr>
            <p:ph type="body" idx="1"/>
          </p:nvPr>
        </p:nvSpPr>
        <p:spPr/>
        <p:txBody>
          <a:bodyPr/>
          <a:p>
            <a:pPr>
              <a:lnSpc>
                <a:spcPct val="90000"/>
              </a:lnSpc>
            </a:pPr>
            <a:r>
              <a:t>A potential problem situation: queue class with </a:t>
            </a:r>
            <a:r>
              <a:rPr>
                <a:latin typeface="Courier New" panose="02070309020205020404" pitchFamily="49" charset="0"/>
              </a:rPr>
              <a:t>remove</a:t>
            </a:r>
            <a:r>
              <a:t> or </a:t>
            </a:r>
            <a:r>
              <a:rPr err="1">
                <a:latin typeface="Courier New" panose="02070309020205020404" pitchFamily="49" charset="0"/>
              </a:rPr>
              <a:t>dequeue</a:t>
            </a:r>
            <a:r>
              <a:t> method</a:t>
            </a:r>
          </a:p>
          <a:p>
            <a:pPr lvl="1">
              <a:lnSpc>
                <a:spcPct val="90000"/>
              </a:lnSpc>
            </a:pPr>
            <a:r>
              <a:t>client may try to remove from an empty queue</a:t>
            </a:r>
          </a:p>
          <a:p>
            <a:pPr lvl="1">
              <a:lnSpc>
                <a:spcPct val="90000"/>
              </a:lnSpc>
            </a:pPr>
          </a:p>
          <a:p>
            <a:pPr>
              <a:lnSpc>
                <a:spcPct val="90000"/>
              </a:lnSpc>
            </a:pPr>
            <a:r>
              <a:t>What are some options for how to handle this?</a:t>
            </a:r>
          </a:p>
        </p:txBody>
      </p:sp>
      <p:sp>
        <p:nvSpPr>
          <p:cNvPr id="1399812" name="Text Box 1399811"/>
          <p:cNvSpPr txBox="1"/>
          <p:nvPr/>
        </p:nvSpPr>
        <p:spPr>
          <a:xfrm>
            <a:off x="0" y="3575050"/>
            <a:ext cx="9144000" cy="2901950"/>
          </a:xfrm>
          <a:prstGeom prst="rect">
            <a:avLst/>
          </a:prstGeom>
          <a:noFill/>
          <a:ln w="9525">
            <a:noFill/>
          </a:ln>
        </p:spPr>
        <p:txBody>
          <a:bodyPr>
            <a:spAutoFit/>
          </a:bodyPr>
          <a:p>
            <a:pPr marL="800100" lvl="1" indent="-280670" eaLnBrk="1" hangingPunct="1">
              <a:lnSpc>
                <a:spcPct val="90000"/>
              </a:lnSpc>
              <a:spcBef>
                <a:spcPct val="20000"/>
              </a:spcBef>
              <a:buClr>
                <a:schemeClr val="hlink"/>
              </a:buClr>
              <a:buSzPct val="55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declare it as an error (an exception)</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tolerate the error (return null)</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print an error message inside the method</a:t>
            </a:r>
            <a:endParaRPr>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lnSpc>
                <a:spcPct val="90000"/>
              </a:lnSpc>
              <a:spcBef>
                <a:spcPct val="20000"/>
              </a:spcBef>
              <a:buClr>
                <a:schemeClr val="folHlink"/>
              </a:buClr>
              <a:buSzPct val="50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bad because it should leave this up to the caller</a:t>
            </a:r>
            <a:endParaRPr sz="28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a:latin typeface="Verdana" panose="020B0604030504040204" pitchFamily="34" charset="0"/>
                <a:ea typeface="Times New Roman" panose="02020603050405020304" pitchFamily="18" charset="0"/>
                <a:cs typeface="Times New Roman" panose="02020603050405020304" pitchFamily="18" charset="0"/>
              </a:rPr>
              <a:t>repair the error in some way (retry, etc.)</a:t>
            </a:r>
            <a:endParaRPr>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lnSpc>
                <a:spcPct val="90000"/>
              </a:lnSpc>
              <a:spcBef>
                <a:spcPct val="20000"/>
              </a:spcBef>
              <a:buClr>
                <a:schemeClr val="folHlink"/>
              </a:buClr>
              <a:buSzPct val="50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bad because it should leave this up to the caller</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346075" indent="-346075">
              <a:lnSpc>
                <a:spcPct val="90000"/>
              </a:lnSpc>
              <a:spcBef>
                <a:spcPct val="20000"/>
              </a:spcBef>
              <a:buClr>
                <a:schemeClr val="hlink"/>
              </a:buClr>
              <a:buSzPct val="55000"/>
              <a:buFont typeface="Wingdings" panose="05000000000000000000" pitchFamily="2" charset="2"/>
            </a:pPr>
            <a:endParaRPr sz="1800">
              <a:latin typeface="Verdana" panose="020B0604030504040204" pitchFamily="34" charset="0"/>
              <a:ea typeface="Times New Roman" panose="02020603050405020304" pitchFamily="18" charset="0"/>
              <a:cs typeface="Times New Roman" panose="02020603050405020304" pitchFamily="18" charset="0"/>
            </a:endParaRPr>
          </a:p>
          <a:p>
            <a:pPr marL="346075" indent="-346075">
              <a:lnSpc>
                <a:spcPct val="90000"/>
              </a:lnSpc>
              <a:spcBef>
                <a:spcPct val="20000"/>
              </a:spcBef>
              <a:buClr>
                <a:schemeClr val="hlink"/>
              </a:buClr>
              <a:buSzPct val="55000"/>
              <a:buFont typeface="Wingdings" panose="05000000000000000000" pitchFamily="2" charset="2"/>
            </a:pPr>
            <a:r>
              <a:rPr sz="1800">
                <a:latin typeface="Verdana" panose="020B0604030504040204" pitchFamily="34" charset="0"/>
                <a:ea typeface="Times New Roman" panose="02020603050405020304" pitchFamily="18" charset="0"/>
                <a:cs typeface="Times New Roman" panose="02020603050405020304" pitchFamily="18" charset="0"/>
              </a:rPr>
              <a:t>The decision we make here becomes part of the contract of the queue class!</a:t>
            </a:r>
            <a:endParaRPr sz="1600">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9812"/>
                                        </p:tgtEl>
                                        <p:attrNameLst>
                                          <p:attrName>style.visibility</p:attrName>
                                        </p:attrNameLst>
                                      </p:cBhvr>
                                      <p:to>
                                        <p:strVal val="visible"/>
                                      </p:to>
                                    </p:set>
                                    <p:anim calcmode="lin" valueType="num">
                                      <p:cBhvr additive="base">
                                        <p:cTn id="7" dur="500" fill="hold"/>
                                        <p:tgtEl>
                                          <p:spTgt spid="1399812"/>
                                        </p:tgtEl>
                                        <p:attrNameLst>
                                          <p:attrName>ppt_x</p:attrName>
                                        </p:attrNameLst>
                                      </p:cBhvr>
                                      <p:tavLst>
                                        <p:tav tm="0">
                                          <p:val>
                                            <p:strVal val="#ppt_x"/>
                                          </p:val>
                                        </p:tav>
                                        <p:tav tm="100000">
                                          <p:val>
                                            <p:strVal val="#ppt_x"/>
                                          </p:val>
                                        </p:tav>
                                      </p:tavLst>
                                    </p:anim>
                                    <p:anim calcmode="lin" valueType="num">
                                      <p:cBhvr additive="base">
                                        <p:cTn id="8" dur="500" fill="hold"/>
                                        <p:tgtEl>
                                          <p:spTgt spid="1399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98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Hoare Logic</a:t>
            </a:r>
            <a:endParaRPr lang="en-US"/>
          </a:p>
        </p:txBody>
      </p:sp>
      <p:sp>
        <p:nvSpPr>
          <p:cNvPr id="3" name="Content Placeholder 2"/>
          <p:cNvSpPr>
            <a:spLocks noGrp="1"/>
          </p:cNvSpPr>
          <p:nvPr>
            <p:ph idx="1"/>
          </p:nvPr>
        </p:nvSpPr>
        <p:spPr/>
        <p:txBody>
          <a:bodyPr/>
          <a:p>
            <a:r>
              <a:rPr lang="en-US"/>
              <a:t>Purpose: Verification of statements/programs</a:t>
            </a:r>
            <a:endParaRPr lang="en-US"/>
          </a:p>
          <a:p>
            <a:r>
              <a:rPr lang="en-US"/>
              <a:t>Central concept: Hoare Triple:</a:t>
            </a:r>
            <a:endParaRPr lang="en-US"/>
          </a:p>
          <a:p>
            <a:pPr marL="0" indent="0">
              <a:buNone/>
            </a:pPr>
            <a:r>
              <a:rPr lang="en-MY" altLang="en-US"/>
              <a:t>			</a:t>
            </a:r>
            <a:endParaRPr lang="en-MY" altLang="en-US"/>
          </a:p>
          <a:p>
            <a:pPr marL="0" indent="0">
              <a:buNone/>
            </a:pPr>
            <a:r>
              <a:rPr lang="en-MY" altLang="en-US"/>
              <a:t>			</a:t>
            </a:r>
            <a:r>
              <a:rPr lang="en-US"/>
              <a:t>{P} S {Q}</a:t>
            </a:r>
            <a:endParaRPr lang="en-US"/>
          </a:p>
          <a:p>
            <a:endParaRPr lang="en-US"/>
          </a:p>
          <a:p>
            <a:pPr lvl="1"/>
            <a:r>
              <a:rPr lang="en-US"/>
              <a:t>S is a statement /operation</a:t>
            </a:r>
            <a:endParaRPr lang="en-US"/>
          </a:p>
          <a:p>
            <a:pPr lvl="1"/>
            <a:r>
              <a:rPr lang="en-US"/>
              <a:t>P and Q are pre- and post-condition of S</a:t>
            </a:r>
            <a:endParaRPr lang="en-US"/>
          </a:p>
          <a:p>
            <a:r>
              <a:rPr lang="en-US"/>
              <a:t>Semantic</a:t>
            </a:r>
            <a:endParaRPr lang="en-US"/>
          </a:p>
          <a:p>
            <a:pPr lvl="1"/>
            <a:r>
              <a:rPr lang="en-US"/>
              <a:t>Whenever p holds before running S, and S terminates, then q will hold after running S.</a:t>
            </a:r>
            <a:endParaRPr lang="en-US"/>
          </a:p>
          <a:p>
            <a:r>
              <a:rPr lang="en-US"/>
              <a:t>Simple example</a:t>
            </a:r>
            <a:endParaRPr lang="en-US"/>
          </a:p>
          <a:p>
            <a:pPr lvl="1"/>
            <a:r>
              <a:rPr lang="en-US"/>
              <a:t>{x = y} y := y - x + 1; {y = 1}</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0834" name="Title 1400833"/>
          <p:cNvSpPr>
            <a:spLocks noGrp="1"/>
          </p:cNvSpPr>
          <p:nvPr>
            <p:ph type="title"/>
          </p:nvPr>
        </p:nvSpPr>
        <p:spPr/>
        <p:txBody>
          <a:bodyPr anchor="b"/>
          <a:p>
            <a:r>
              <a:rPr lang="en-MY"/>
              <a:t>Design</a:t>
            </a:r>
            <a:r>
              <a:t> by contract</a:t>
            </a:r>
          </a:p>
        </p:txBody>
      </p:sp>
      <p:sp>
        <p:nvSpPr>
          <p:cNvPr id="1400835" name="Text Placeholder 1400834"/>
          <p:cNvSpPr>
            <a:spLocks noGrp="1"/>
          </p:cNvSpPr>
          <p:nvPr>
            <p:ph type="body" idx="1"/>
          </p:nvPr>
        </p:nvSpPr>
        <p:spPr/>
        <p:txBody>
          <a:bodyPr/>
          <a:p>
            <a:pPr>
              <a:lnSpc>
                <a:spcPct val="90000"/>
              </a:lnSpc>
            </a:pPr>
            <a:r>
              <a:t>What is a precondition?  What happens when a precondition is not met?</a:t>
            </a:r>
          </a:p>
          <a:p>
            <a:pPr>
              <a:lnSpc>
                <a:spcPct val="90000"/>
              </a:lnSpc>
            </a:pPr>
          </a:p>
        </p:txBody>
      </p:sp>
      <p:sp>
        <p:nvSpPr>
          <p:cNvPr id="1400836" name="Text Box 1400835"/>
          <p:cNvSpPr txBox="1"/>
          <p:nvPr/>
        </p:nvSpPr>
        <p:spPr>
          <a:xfrm>
            <a:off x="0" y="2359025"/>
            <a:ext cx="9144000" cy="3432175"/>
          </a:xfrm>
          <a:prstGeom prst="rect">
            <a:avLst/>
          </a:prstGeom>
          <a:noFill/>
          <a:ln w="9525">
            <a:noFill/>
          </a:ln>
        </p:spPr>
        <p:txBody>
          <a:bodyPr>
            <a:spAutoFit/>
          </a:bodyPr>
          <a:p>
            <a:pPr marL="346075" indent="-346075">
              <a:spcBef>
                <a:spcPct val="20000"/>
              </a:spcBef>
              <a:buClr>
                <a:schemeClr val="folHlink"/>
              </a:buClr>
              <a:buSzPct val="60000"/>
              <a:buFont typeface="Wingdings" panose="05000000000000000000" pitchFamily="2" charset="2"/>
              <a:buChar char="n"/>
            </a:pPr>
            <a:r>
              <a:rPr b="1">
                <a:latin typeface="Verdana" panose="020B0604030504040204" pitchFamily="34" charset="0"/>
                <a:ea typeface="Times New Roman" panose="02020603050405020304" pitchFamily="18" charset="0"/>
                <a:cs typeface="Times New Roman" panose="02020603050405020304" pitchFamily="18" charset="0"/>
              </a:rPr>
              <a:t>precondition</a:t>
            </a:r>
            <a:r>
              <a:rPr>
                <a:latin typeface="Verdana" panose="020B0604030504040204" pitchFamily="34" charset="0"/>
                <a:ea typeface="Times New Roman" panose="02020603050405020304" pitchFamily="18" charset="0"/>
                <a:cs typeface="Times New Roman" panose="02020603050405020304" pitchFamily="18" charset="0"/>
              </a:rPr>
              <a:t>: Something that must be true before object promises to do its work.</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Example: A hash map class has a put(</a:t>
            </a:r>
            <a:r>
              <a:rPr sz="2000" i="1">
                <a:latin typeface="Verdana" panose="020B0604030504040204" pitchFamily="34" charset="0"/>
                <a:ea typeface="Times New Roman" panose="02020603050405020304" pitchFamily="18" charset="0"/>
                <a:cs typeface="Times New Roman" panose="02020603050405020304" pitchFamily="18" charset="0"/>
              </a:rPr>
              <a:t>key</a:t>
            </a:r>
            <a:r>
              <a:rPr sz="2000">
                <a:latin typeface="Verdana" panose="020B0604030504040204" pitchFamily="34" charset="0"/>
                <a:ea typeface="Times New Roman" panose="02020603050405020304" pitchFamily="18" charset="0"/>
                <a:cs typeface="Times New Roman" panose="02020603050405020304" pitchFamily="18" charset="0"/>
              </a:rPr>
              <a:t>, </a:t>
            </a:r>
            <a:r>
              <a:rPr sz="2000" i="1">
                <a:latin typeface="Verdana" panose="020B0604030504040204" pitchFamily="34" charset="0"/>
                <a:ea typeface="Times New Roman" panose="02020603050405020304" pitchFamily="18" charset="0"/>
                <a:cs typeface="Times New Roman" panose="02020603050405020304" pitchFamily="18" charset="0"/>
              </a:rPr>
              <a:t>value</a:t>
            </a:r>
            <a:r>
              <a:rPr sz="2000">
                <a:latin typeface="Verdana" panose="020B0604030504040204" pitchFamily="34" charset="0"/>
                <a:ea typeface="Times New Roman" panose="02020603050405020304" pitchFamily="18" charset="0"/>
                <a:cs typeface="Times New Roman" panose="02020603050405020304" pitchFamily="18" charset="0"/>
              </a:rPr>
              <a:t>) and a get(</a:t>
            </a:r>
            <a:r>
              <a:rPr sz="2000" i="1">
                <a:latin typeface="Verdana" panose="020B0604030504040204" pitchFamily="34" charset="0"/>
                <a:ea typeface="Times New Roman" panose="02020603050405020304" pitchFamily="18" charset="0"/>
                <a:cs typeface="Times New Roman" panose="02020603050405020304" pitchFamily="18" charset="0"/>
              </a:rPr>
              <a:t>key</a:t>
            </a:r>
            <a:r>
              <a:rPr sz="2000">
                <a:latin typeface="Verdana" panose="020B0604030504040204" pitchFamily="34" charset="0"/>
                <a:ea typeface="Times New Roman" panose="02020603050405020304" pitchFamily="18" charset="0"/>
                <a:cs typeface="Times New Roman" panose="02020603050405020304" pitchFamily="18" charset="0"/>
              </a:rPr>
              <a:t>) method.</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spcBef>
                <a:spcPct val="20000"/>
              </a:spcBef>
              <a:buClr>
                <a:schemeClr val="hlink"/>
              </a:buClr>
              <a:buSzPct val="55000"/>
              <a:buFont typeface="Wingdings" panose="05000000000000000000" pitchFamily="2" charset="2"/>
              <a:buChar char="n"/>
            </a:pPr>
            <a:r>
              <a:rPr sz="1800">
                <a:latin typeface="Verdana" panose="020B0604030504040204" pitchFamily="34" charset="0"/>
                <a:ea typeface="Times New Roman" panose="02020603050405020304" pitchFamily="18" charset="0"/>
                <a:cs typeface="Times New Roman" panose="02020603050405020304" pitchFamily="18" charset="0"/>
              </a:rPr>
              <a:t>A precondition of the get method is that the key was not modified since the time you put it into the hash map.</a:t>
            </a:r>
            <a:endParaRPr sz="18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If precondition is violated, object may choose any action it likes</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spcBef>
                <a:spcPct val="20000"/>
              </a:spcBef>
              <a:buClr>
                <a:schemeClr val="tx2"/>
              </a:buClr>
              <a:buSzPct val="55000"/>
              <a:buFont typeface="Wingdings" panose="05000000000000000000" pitchFamily="2" charset="2"/>
              <a:buChar char="n"/>
            </a:pPr>
            <a:r>
              <a:rPr sz="1800">
                <a:latin typeface="Verdana" panose="020B0604030504040204" pitchFamily="34" charset="0"/>
                <a:ea typeface="Times New Roman" panose="02020603050405020304" pitchFamily="18" charset="0"/>
                <a:cs typeface="Times New Roman" panose="02020603050405020304" pitchFamily="18" charset="0"/>
              </a:rPr>
              <a:t>If key was modified, the hash map may state that the key/value is not found, even though it is in the map.</a:t>
            </a:r>
            <a:endParaRPr sz="18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Document preconditions in Javadoc with </a:t>
            </a:r>
            <a:r>
              <a:rPr sz="2000">
                <a:latin typeface="Courier New" panose="02070309020205020404" pitchFamily="49" charset="0"/>
                <a:ea typeface="Times New Roman" panose="02020603050405020304" pitchFamily="18" charset="0"/>
                <a:cs typeface="Times New Roman" panose="02020603050405020304" pitchFamily="18" charset="0"/>
              </a:rPr>
              <a:t>@pre.condition</a:t>
            </a:r>
            <a:r>
              <a:rPr sz="2000">
                <a:latin typeface="Verdana" panose="020B0604030504040204" pitchFamily="34" charset="0"/>
                <a:ea typeface="Times New Roman" panose="02020603050405020304" pitchFamily="18" charset="0"/>
                <a:cs typeface="Times New Roman" panose="02020603050405020304" pitchFamily="18" charset="0"/>
              </a:rPr>
              <a:t> tag.</a:t>
            </a:r>
            <a:endParaRPr sz="2000">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0836"/>
                                        </p:tgtEl>
                                        <p:attrNameLst>
                                          <p:attrName>style.visibility</p:attrName>
                                        </p:attrNameLst>
                                      </p:cBhvr>
                                      <p:to>
                                        <p:strVal val="visible"/>
                                      </p:to>
                                    </p:set>
                                    <p:anim calcmode="lin" valueType="num">
                                      <p:cBhvr additive="base">
                                        <p:cTn id="7" dur="500" fill="hold"/>
                                        <p:tgtEl>
                                          <p:spTgt spid="1400836"/>
                                        </p:tgtEl>
                                        <p:attrNameLst>
                                          <p:attrName>ppt_x</p:attrName>
                                        </p:attrNameLst>
                                      </p:cBhvr>
                                      <p:tavLst>
                                        <p:tav tm="0">
                                          <p:val>
                                            <p:strVal val="#ppt_x"/>
                                          </p:val>
                                        </p:tav>
                                        <p:tav tm="100000">
                                          <p:val>
                                            <p:strVal val="#ppt_x"/>
                                          </p:val>
                                        </p:tav>
                                      </p:tavLst>
                                    </p:anim>
                                    <p:anim calcmode="lin" valueType="num">
                                      <p:cBhvr additive="base">
                                        <p:cTn id="8" dur="500" fill="hold"/>
                                        <p:tgtEl>
                                          <p:spTgt spid="14008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08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1858" name="Title 1401857"/>
          <p:cNvSpPr>
            <a:spLocks noGrp="1"/>
          </p:cNvSpPr>
          <p:nvPr>
            <p:ph type="title"/>
          </p:nvPr>
        </p:nvSpPr>
        <p:spPr/>
        <p:txBody>
          <a:bodyPr anchor="b"/>
          <a:p>
            <a:r>
              <a:t>Precondition example</a:t>
            </a:r>
          </a:p>
        </p:txBody>
      </p:sp>
      <p:sp>
        <p:nvSpPr>
          <p:cNvPr id="1401859" name="Text Placeholder 1401858"/>
          <p:cNvSpPr>
            <a:spLocks noGrp="1"/>
          </p:cNvSpPr>
          <p:nvPr>
            <p:ph type="body" idx="1"/>
          </p:nvPr>
        </p:nvSpPr>
        <p:spPr/>
        <p:txBody>
          <a:bodyPr/>
          <a:p>
            <a:pPr>
              <a:lnSpc>
                <a:spcPct val="90000"/>
              </a:lnSpc>
            </a:pPr>
            <a:r>
              <a:t>Binary search on an array of </a:t>
            </a:r>
            <a:r>
              <a:rPr err="1">
                <a:latin typeface="Courier New" panose="02070309020205020404" pitchFamily="49" charset="0"/>
              </a:rPr>
              <a:t>int</a:t>
            </a:r>
            <a:r>
              <a:rPr err="1"/>
              <a:t>s</a:t>
            </a:r>
            <a:r>
              <a:t>: </a:t>
            </a:r>
            <a:r>
              <a:rPr>
                <a:hlinkClick r:id="rId1"/>
              </a:rPr>
              <a:t>Java API link</a:t>
            </a:r>
            <a:br>
              <a:rPr>
                <a:hlinkClick r:id="rId1"/>
              </a:rPr>
            </a:br>
            <a:br>
              <a:rPr sz="1800" i="1"/>
            </a:br>
            <a:r>
              <a:rPr sz="1600" i="1" err="1"/>
              <a:t>Searches the specified array of ints</a:t>
            </a:r>
            <a:r>
              <a:rPr sz="1600" i="1"/>
              <a:t> for the specified value using the binary search algorithm. The array </a:t>
            </a:r>
            <a:r>
              <a:rPr sz="1600" b="1" i="1"/>
              <a:t>must</a:t>
            </a:r>
            <a:r>
              <a:rPr sz="1600" i="1"/>
              <a:t> be sorted (as by the sort method, above) prior to making this call. If it is not sorted, the results are undefined. If the array contains multiple elements with the specified value, there is no guarantee which one will be found.</a:t>
            </a:r>
            <a:endParaRPr sz="1600" i="1"/>
          </a:p>
          <a:p>
            <a:pPr>
              <a:lnSpc>
                <a:spcPct val="90000"/>
              </a:lnSpc>
            </a:pPr>
            <a:endParaRPr sz="1600" i="1"/>
          </a:p>
          <a:p>
            <a:pPr>
              <a:lnSpc>
                <a:spcPct val="90000"/>
              </a:lnSpc>
            </a:pPr>
            <a:r>
              <a:t>Q: why doesn't Sun just check whether the array is sorted, and sort it if it isn't?  Or why not check whether the array is sorted and throw an exception if it isn't?</a:t>
            </a:r>
          </a:p>
        </p:txBody>
      </p:sp>
      <p:sp>
        <p:nvSpPr>
          <p:cNvPr id="1401860" name="Text Box 1401859"/>
          <p:cNvSpPr txBox="1"/>
          <p:nvPr/>
        </p:nvSpPr>
        <p:spPr>
          <a:xfrm>
            <a:off x="0" y="4800600"/>
            <a:ext cx="9144000" cy="1441450"/>
          </a:xfrm>
          <a:prstGeom prst="rect">
            <a:avLst/>
          </a:prstGeom>
          <a:noFill/>
          <a:ln w="9525">
            <a:noFill/>
          </a:ln>
        </p:spPr>
        <p:txBody>
          <a:bodyPr>
            <a:spAutoFit/>
          </a:bodyPr>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1800">
                <a:latin typeface="Verdana" panose="020B0604030504040204" pitchFamily="34" charset="0"/>
                <a:ea typeface="Times New Roman" panose="02020603050405020304" pitchFamily="18" charset="0"/>
                <a:cs typeface="Times New Roman" panose="02020603050405020304" pitchFamily="18" charset="0"/>
              </a:rPr>
              <a:t>sort is costly (sort takes O(n log n) or worse time; search is O(log n))</a:t>
            </a:r>
            <a:endParaRPr sz="18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1800" err="1">
                <a:latin typeface="Verdana" panose="020B0604030504040204" pitchFamily="34" charset="0"/>
                <a:ea typeface="Times New Roman" panose="02020603050405020304" pitchFamily="18" charset="0"/>
                <a:cs typeface="Times New Roman" panose="02020603050405020304" pitchFamily="18" charset="0"/>
              </a:rPr>
              <a:t>sort modifies the input array; binarySearch</a:t>
            </a:r>
            <a:r>
              <a:rPr sz="1800">
                <a:latin typeface="Verdana" panose="020B0604030504040204" pitchFamily="34" charset="0"/>
                <a:ea typeface="Times New Roman" panose="02020603050405020304" pitchFamily="18" charset="0"/>
                <a:cs typeface="Times New Roman" panose="02020603050405020304" pitchFamily="18" charset="0"/>
              </a:rPr>
              <a:t> would not be read-only</a:t>
            </a:r>
            <a:endParaRPr sz="18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1800" err="1">
                <a:latin typeface="Verdana" panose="020B0604030504040204" pitchFamily="34" charset="0"/>
                <a:ea typeface="Times New Roman" panose="02020603050405020304" pitchFamily="18" charset="0"/>
                <a:cs typeface="Times New Roman" panose="02020603050405020304" pitchFamily="18" charset="0"/>
              </a:rPr>
              <a:t>checking to see whether the array is sorted is costly (isSorted</a:t>
            </a:r>
            <a:r>
              <a:rPr sz="1800">
                <a:latin typeface="Verdana" panose="020B0604030504040204" pitchFamily="34" charset="0"/>
                <a:ea typeface="Times New Roman" panose="02020603050405020304" pitchFamily="18" charset="0"/>
                <a:cs typeface="Times New Roman" panose="02020603050405020304" pitchFamily="18" charset="0"/>
              </a:rPr>
              <a:t> takes O(n)); omitting this check and assuming it to be true makes binary search run much faster</a:t>
            </a:r>
            <a:endParaRPr sz="1800">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1860"/>
                                        </p:tgtEl>
                                        <p:attrNameLst>
                                          <p:attrName>style.visibility</p:attrName>
                                        </p:attrNameLst>
                                      </p:cBhvr>
                                      <p:to>
                                        <p:strVal val="visible"/>
                                      </p:to>
                                    </p:set>
                                    <p:anim calcmode="lin" valueType="num">
                                      <p:cBhvr additive="base">
                                        <p:cTn id="7" dur="500" fill="hold"/>
                                        <p:tgtEl>
                                          <p:spTgt spid="1401860"/>
                                        </p:tgtEl>
                                        <p:attrNameLst>
                                          <p:attrName>ppt_x</p:attrName>
                                        </p:attrNameLst>
                                      </p:cBhvr>
                                      <p:tavLst>
                                        <p:tav tm="0">
                                          <p:val>
                                            <p:strVal val="#ppt_x"/>
                                          </p:val>
                                        </p:tav>
                                        <p:tav tm="100000">
                                          <p:val>
                                            <p:strVal val="#ppt_x"/>
                                          </p:val>
                                        </p:tav>
                                      </p:tavLst>
                                    </p:anim>
                                    <p:anim calcmode="lin" valueType="num">
                                      <p:cBhvr additive="base">
                                        <p:cTn id="8" dur="500" fill="hold"/>
                                        <p:tgtEl>
                                          <p:spTgt spid="14018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86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2882" name="Title 1402881"/>
          <p:cNvSpPr>
            <a:spLocks noGrp="1"/>
          </p:cNvSpPr>
          <p:nvPr>
            <p:ph type="title"/>
          </p:nvPr>
        </p:nvSpPr>
        <p:spPr/>
        <p:txBody>
          <a:bodyPr anchor="b"/>
          <a:p>
            <a:r>
              <a:t>Exceptions in the contract</a:t>
            </a:r>
          </a:p>
        </p:txBody>
      </p:sp>
      <p:sp>
        <p:nvSpPr>
          <p:cNvPr id="1402883" name="Text Placeholder 1402882"/>
          <p:cNvSpPr>
            <a:spLocks noGrp="1"/>
          </p:cNvSpPr>
          <p:nvPr>
            <p:ph type="body" idx="1"/>
          </p:nvPr>
        </p:nvSpPr>
        <p:spPr/>
        <p:txBody>
          <a:bodyPr/>
          <a:p>
            <a:r>
              <a:rPr sz="2000" err="1"/>
              <a:t>A precondition is something assumed to be true</a:t>
            </a:r>
            <a:br>
              <a:rPr sz="2000" err="1"/>
            </a:br>
            <a:r>
              <a:rPr sz="2000" err="1"/>
              <a:t>(and, as far as the client knows, not checked for by the calle</a:t>
            </a:r>
            <a:r>
              <a:rPr lang="en-MY" sz="2000" err="1"/>
              <a:t>e</a:t>
            </a:r>
            <a:r>
              <a:rPr sz="2000"/>
              <a:t>)</a:t>
            </a:r>
            <a:endParaRPr sz="2000"/>
          </a:p>
          <a:p>
            <a:pPr lvl="1"/>
            <a:r>
              <a:rPr sz="1800"/>
              <a:t>NOT the same thing as throwing an exception on precondition violation</a:t>
            </a:r>
            <a:endParaRPr sz="1800"/>
          </a:p>
          <a:p>
            <a:endParaRPr sz="2000"/>
          </a:p>
          <a:p>
            <a:r>
              <a:rPr sz="2000"/>
              <a:t>Example: A </a:t>
            </a:r>
            <a:r>
              <a:rPr sz="2000">
                <a:latin typeface="Courier New" panose="02070309020205020404" pitchFamily="49" charset="0"/>
              </a:rPr>
              <a:t>Stack</a:t>
            </a:r>
            <a:r>
              <a:rPr sz="2000"/>
              <a:t> class has a </a:t>
            </a:r>
            <a:r>
              <a:rPr sz="2000">
                <a:latin typeface="Courier New" panose="02070309020205020404" pitchFamily="49" charset="0"/>
              </a:rPr>
              <a:t>pop</a:t>
            </a:r>
            <a:r>
              <a:rPr sz="2000"/>
              <a:t> method to remove and return the top element.  Making the stack throw an exception when the client calls </a:t>
            </a:r>
            <a:r>
              <a:rPr sz="2000">
                <a:latin typeface="Courier New" panose="02070309020205020404" pitchFamily="49" charset="0"/>
              </a:rPr>
              <a:t>pop</a:t>
            </a:r>
            <a:r>
              <a:rPr sz="2000"/>
              <a:t> on an empty stack is </a:t>
            </a:r>
            <a:r>
              <a:rPr sz="2000" b="1"/>
              <a:t>not</a:t>
            </a:r>
            <a:r>
              <a:rPr sz="2000"/>
              <a:t> a precondition.</a:t>
            </a:r>
            <a:endParaRPr sz="2000"/>
          </a:p>
          <a:p>
            <a:pPr lvl="1"/>
            <a:r>
              <a:rPr sz="1800" err="1"/>
              <a:t>The caller can see that the callee</a:t>
            </a:r>
            <a:r>
              <a:rPr sz="1800"/>
              <a:t> checks for this and has a predictable action when it fails.</a:t>
            </a:r>
            <a:endParaRPr sz="1800"/>
          </a:p>
          <a:p>
            <a:pPr lvl="1"/>
            <a:r>
              <a:rPr sz="1800"/>
              <a:t>We say instead that the </a:t>
            </a:r>
            <a:r>
              <a:rPr sz="1800" err="1">
                <a:latin typeface="Courier New" panose="02070309020205020404" pitchFamily="49" charset="0"/>
              </a:rPr>
              <a:t>EmptyStackException</a:t>
            </a:r>
            <a:r>
              <a:rPr sz="1800"/>
              <a:t> is part of the contract.</a:t>
            </a:r>
            <a:endParaRPr sz="1800"/>
          </a:p>
          <a:p>
            <a:pPr lvl="1"/>
            <a:endParaRPr sz="1800"/>
          </a:p>
          <a:p>
            <a:pPr lvl="1"/>
            <a:r>
              <a:rPr sz="1800"/>
              <a:t>Document exceptions in Javadoc with </a:t>
            </a:r>
            <a:r>
              <a:rPr sz="1800">
                <a:latin typeface="Courier New" panose="02070309020205020404" pitchFamily="49" charset="0"/>
              </a:rPr>
              <a:t>@throws</a:t>
            </a:r>
            <a:r>
              <a:rPr sz="1800"/>
              <a:t> tag.</a:t>
            </a:r>
            <a:endParaRPr sz="160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4930" name="Title 1404929"/>
          <p:cNvSpPr>
            <a:spLocks noGrp="1"/>
          </p:cNvSpPr>
          <p:nvPr>
            <p:ph type="title"/>
          </p:nvPr>
        </p:nvSpPr>
        <p:spPr/>
        <p:txBody>
          <a:bodyPr anchor="b"/>
          <a:p>
            <a:r>
              <a:t>Example exception code</a:t>
            </a:r>
          </a:p>
        </p:txBody>
      </p:sp>
      <p:sp>
        <p:nvSpPr>
          <p:cNvPr id="1404931" name="Text Placeholder 1404930"/>
          <p:cNvSpPr>
            <a:spLocks noGrp="1"/>
          </p:cNvSpPr>
          <p:nvPr>
            <p:ph type="body" idx="1"/>
          </p:nvPr>
        </p:nvSpPr>
        <p:spPr/>
        <p:txBody>
          <a:bodyPr/>
          <a:p>
            <a:pPr>
              <a:lnSpc>
                <a:spcPct val="70000"/>
              </a:lnSpc>
              <a:buNone/>
            </a:pPr>
            <a:r>
              <a:rPr sz="1600">
                <a:latin typeface="Courier New" panose="02070309020205020404" pitchFamily="49" charset="0"/>
              </a:rPr>
              <a:t>/** Constructs a new account with the given name and password.</a:t>
            </a:r>
            <a:endParaRPr sz="1600">
              <a:latin typeface="Courier New" panose="02070309020205020404" pitchFamily="49" charset="0"/>
            </a:endParaRPr>
          </a:p>
          <a:p>
            <a:pPr>
              <a:lnSpc>
                <a:spcPct val="70000"/>
              </a:lnSpc>
              <a:buNone/>
            </a:pPr>
            <a:r>
              <a:rPr sz="1600" b="1" err="1">
                <a:latin typeface="Courier New" panose="02070309020205020404" pitchFamily="49" charset="0"/>
              </a:rPr>
              <a:t> *  @throws NullPointerException</a:t>
            </a:r>
            <a:r>
              <a:rPr sz="1600" b="1">
                <a:latin typeface="Courier New" panose="02070309020205020404" pitchFamily="49" charset="0"/>
              </a:rPr>
              <a:t> if name or password is null.</a:t>
            </a:r>
            <a:endParaRPr sz="1600" b="1">
              <a:latin typeface="Courier New" panose="02070309020205020404" pitchFamily="49" charset="0"/>
            </a:endParaRPr>
          </a:p>
          <a:p>
            <a:pPr>
              <a:lnSpc>
                <a:spcPct val="70000"/>
              </a:lnSpc>
              <a:buNone/>
            </a:pPr>
            <a:r>
              <a:rPr sz="1600" b="1">
                <a:latin typeface="Courier New" panose="02070309020205020404" pitchFamily="49" charset="0"/>
              </a:rPr>
              <a:t> *  @throws IllegalArgumentException if password has fewer than 6</a:t>
            </a:r>
            <a:endParaRPr sz="1600" b="1">
              <a:latin typeface="Courier New" panose="02070309020205020404" pitchFamily="49" charset="0"/>
            </a:endParaRPr>
          </a:p>
          <a:p>
            <a:pPr>
              <a:lnSpc>
                <a:spcPct val="70000"/>
              </a:lnSpc>
              <a:buNone/>
            </a:pPr>
            <a:r>
              <a:rPr sz="1600" b="1">
                <a:latin typeface="Courier New" panose="02070309020205020404" pitchFamily="49" charset="0"/>
              </a:rPr>
              <a:t> *          characters or fewer than 3 unique characters.</a:t>
            </a:r>
            <a:endParaRPr sz="1600" b="1">
              <a:latin typeface="Courier New" panose="02070309020205020404" pitchFamily="49" charset="0"/>
            </a:endParaRPr>
          </a:p>
          <a:p>
            <a:pPr>
              <a:lnSpc>
                <a:spcPct val="70000"/>
              </a:lnSpc>
              <a:buNone/>
            </a:pPr>
            <a:r>
              <a:rPr sz="1600">
                <a:latin typeface="Courier New" panose="02070309020205020404" pitchFamily="49" charset="0"/>
              </a:rPr>
              <a:t> */</a:t>
            </a:r>
            <a:endParaRPr sz="1600">
              <a:latin typeface="Courier New" panose="02070309020205020404" pitchFamily="49" charset="0"/>
            </a:endParaRPr>
          </a:p>
          <a:p>
            <a:pPr>
              <a:lnSpc>
                <a:spcPct val="70000"/>
              </a:lnSpc>
              <a:buNone/>
            </a:pPr>
            <a:r>
              <a:rPr sz="1600">
                <a:latin typeface="Courier New" panose="02070309020205020404" pitchFamily="49" charset="0"/>
              </a:rPr>
              <a:t>public Account(String name, String password) {</a:t>
            </a:r>
            <a:endParaRPr sz="1600">
              <a:latin typeface="Courier New" panose="02070309020205020404" pitchFamily="49" charset="0"/>
            </a:endParaRPr>
          </a:p>
          <a:p>
            <a:pPr>
              <a:lnSpc>
                <a:spcPct val="70000"/>
              </a:lnSpc>
              <a:buNone/>
            </a:pPr>
            <a:r>
              <a:rPr sz="1600">
                <a:latin typeface="Courier New" panose="02070309020205020404" pitchFamily="49" charset="0"/>
              </a:rPr>
              <a:t>    if (name == null || password == null)</a:t>
            </a:r>
            <a:endParaRPr sz="1600">
              <a:latin typeface="Courier New" panose="02070309020205020404" pitchFamily="49" charset="0"/>
            </a:endParaRPr>
          </a:p>
          <a:p>
            <a:pPr>
              <a:lnSpc>
                <a:spcPct val="70000"/>
              </a:lnSpc>
              <a:buNone/>
            </a:pPr>
            <a:r>
              <a:rPr sz="1600" b="1" err="1">
                <a:latin typeface="Courier New" panose="02070309020205020404" pitchFamily="49" charset="0"/>
              </a:rPr>
              <a:t>        throw new NullPointerException</a:t>
            </a:r>
            <a:r>
              <a:rPr sz="1600" b="1">
                <a:latin typeface="Courier New" panose="02070309020205020404" pitchFamily="49" charset="0"/>
              </a:rPr>
              <a:t>();</a:t>
            </a:r>
            <a:endParaRPr sz="1600" b="1">
              <a:latin typeface="Courier New" panose="02070309020205020404" pitchFamily="49" charset="0"/>
            </a:endParaRPr>
          </a:p>
          <a:p>
            <a:pPr>
              <a:lnSpc>
                <a:spcPct val="70000"/>
              </a:lnSpc>
              <a:buNone/>
            </a:pPr>
            <a:r>
              <a:rPr sz="1600" err="1">
                <a:latin typeface="Courier New" panose="02070309020205020404" pitchFamily="49" charset="0"/>
              </a:rPr>
              <a:t>    else if (password.length() &lt; 6 || getUnique(password</a:t>
            </a:r>
            <a:r>
              <a:rPr sz="1600">
                <a:latin typeface="Courier New" panose="02070309020205020404" pitchFamily="49" charset="0"/>
              </a:rPr>
              <a:t>) &lt; 3)</a:t>
            </a:r>
            <a:endParaRPr sz="1600">
              <a:latin typeface="Courier New" panose="02070309020205020404" pitchFamily="49" charset="0"/>
            </a:endParaRPr>
          </a:p>
          <a:p>
            <a:pPr>
              <a:lnSpc>
                <a:spcPct val="70000"/>
              </a:lnSpc>
              <a:buNone/>
            </a:pPr>
            <a:r>
              <a:rPr sz="1600" b="1">
                <a:latin typeface="Courier New" panose="02070309020205020404" pitchFamily="49" charset="0"/>
              </a:rPr>
              <a:t>        throw new IllegalArgumentException(password);</a:t>
            </a:r>
            <a:endParaRPr sz="1600" b="1">
              <a:latin typeface="Courier New" panose="02070309020205020404" pitchFamily="49" charset="0"/>
            </a:endParaRPr>
          </a:p>
          <a:p>
            <a:pPr>
              <a:lnSpc>
                <a:spcPct val="70000"/>
              </a:lnSpc>
              <a:buNone/>
            </a:pPr>
            <a:r>
              <a:rPr sz="1600">
                <a:latin typeface="Courier New" panose="02070309020205020404" pitchFamily="49" charset="0"/>
              </a:rPr>
              <a:t>  </a:t>
            </a:r>
            <a:endParaRPr sz="1600">
              <a:latin typeface="Courier New" panose="02070309020205020404" pitchFamily="49" charset="0"/>
            </a:endParaRPr>
          </a:p>
          <a:p>
            <a:pPr>
              <a:lnSpc>
                <a:spcPct val="70000"/>
              </a:lnSpc>
              <a:buNone/>
            </a:pPr>
            <a:r>
              <a:rPr sz="1600">
                <a:latin typeface="Courier New" panose="02070309020205020404" pitchFamily="49" charset="0"/>
              </a:rPr>
              <a:t>    this.name = name;</a:t>
            </a:r>
            <a:endParaRPr sz="1600">
              <a:latin typeface="Courier New" panose="02070309020205020404" pitchFamily="49" charset="0"/>
            </a:endParaRPr>
          </a:p>
          <a:p>
            <a:pPr>
              <a:lnSpc>
                <a:spcPct val="70000"/>
              </a:lnSpc>
              <a:buNone/>
            </a:pPr>
            <a:r>
              <a:rPr sz="1600">
                <a:latin typeface="Courier New" panose="02070309020205020404" pitchFamily="49" charset="0"/>
              </a:rPr>
              <a:t>    this.password = password;</a:t>
            </a:r>
            <a:endParaRPr sz="1600">
              <a:latin typeface="Courier New" panose="02070309020205020404" pitchFamily="49" charset="0"/>
            </a:endParaRPr>
          </a:p>
          <a:p>
            <a:pPr>
              <a:lnSpc>
                <a:spcPct val="70000"/>
              </a:lnSpc>
              <a:buNone/>
            </a:pPr>
            <a:r>
              <a:rPr sz="1600">
                <a:latin typeface="Courier New" panose="02070309020205020404" pitchFamily="49" charset="0"/>
              </a:rPr>
              <a:t>}</a:t>
            </a:r>
            <a:endParaRPr sz="1600">
              <a:latin typeface="Courier New" panose="02070309020205020404" pitchFamily="49" charset="0"/>
            </a:endParaRPr>
          </a:p>
          <a:p>
            <a:pPr>
              <a:lnSpc>
                <a:spcPct val="70000"/>
              </a:lnSpc>
              <a:buNone/>
            </a:pPr>
            <a:endParaRPr sz="1600">
              <a:latin typeface="Courier New" panose="02070309020205020404" pitchFamily="49" charset="0"/>
            </a:endParaRPr>
          </a:p>
          <a:p>
            <a:pPr>
              <a:lnSpc>
                <a:spcPct val="70000"/>
              </a:lnSpc>
              <a:buNone/>
            </a:pPr>
            <a:r>
              <a:rPr sz="1600" err="1">
                <a:latin typeface="Courier New" panose="02070309020205020404" pitchFamily="49" charset="0"/>
              </a:rPr>
              <a:t>public void setPassword(String</a:t>
            </a:r>
            <a:r>
              <a:rPr sz="1600">
                <a:latin typeface="Courier New" panose="02070309020205020404" pitchFamily="49" charset="0"/>
              </a:rPr>
              <a:t> password) {</a:t>
            </a:r>
            <a:endParaRPr sz="1600">
              <a:latin typeface="Courier New" panose="02070309020205020404" pitchFamily="49" charset="0"/>
            </a:endParaRPr>
          </a:p>
          <a:p>
            <a:pPr>
              <a:lnSpc>
                <a:spcPct val="70000"/>
              </a:lnSpc>
              <a:buNone/>
            </a:pPr>
            <a:r>
              <a:rPr sz="1600">
                <a:latin typeface="Courier New" panose="02070309020205020404" pitchFamily="49" charset="0"/>
              </a:rPr>
              <a:t>    if (password == null)</a:t>
            </a:r>
            <a:endParaRPr sz="1600">
              <a:latin typeface="Courier New" panose="02070309020205020404" pitchFamily="49" charset="0"/>
            </a:endParaRPr>
          </a:p>
          <a:p>
            <a:pPr>
              <a:lnSpc>
                <a:spcPct val="70000"/>
              </a:lnSpc>
              <a:buNone/>
            </a:pPr>
            <a:r>
              <a:rPr sz="1600" b="1" err="1">
                <a:latin typeface="Courier New" panose="02070309020205020404" pitchFamily="49" charset="0"/>
              </a:rPr>
              <a:t>        throw new NullPointerException</a:t>
            </a:r>
            <a:r>
              <a:rPr sz="1600" b="1">
                <a:latin typeface="Courier New" panose="02070309020205020404" pitchFamily="49" charset="0"/>
              </a:rPr>
              <a:t>();</a:t>
            </a:r>
            <a:endParaRPr sz="1600" b="1">
              <a:latin typeface="Courier New" panose="02070309020205020404" pitchFamily="49" charset="0"/>
            </a:endParaRPr>
          </a:p>
          <a:p>
            <a:pPr>
              <a:lnSpc>
                <a:spcPct val="70000"/>
              </a:lnSpc>
              <a:buNone/>
            </a:pPr>
            <a:r>
              <a:rPr sz="1600" err="1">
                <a:latin typeface="Courier New" panose="02070309020205020404" pitchFamily="49" charset="0"/>
              </a:rPr>
              <a:t>    else if (password.length() &lt; 6 || getUnique(password</a:t>
            </a:r>
            <a:r>
              <a:rPr sz="1600">
                <a:latin typeface="Courier New" panose="02070309020205020404" pitchFamily="49" charset="0"/>
              </a:rPr>
              <a:t>) &lt; 3)</a:t>
            </a:r>
            <a:endParaRPr sz="1600">
              <a:latin typeface="Courier New" panose="02070309020205020404" pitchFamily="49" charset="0"/>
            </a:endParaRPr>
          </a:p>
          <a:p>
            <a:pPr>
              <a:lnSpc>
                <a:spcPct val="70000"/>
              </a:lnSpc>
              <a:buNone/>
            </a:pPr>
            <a:r>
              <a:rPr sz="1600" b="1">
                <a:latin typeface="Courier New" panose="02070309020205020404" pitchFamily="49" charset="0"/>
              </a:rPr>
              <a:t>        throw new IllegalArgumentException(password);</a:t>
            </a:r>
            <a:endParaRPr sz="1600" b="1">
              <a:latin typeface="Courier New" panose="02070309020205020404" pitchFamily="49" charset="0"/>
            </a:endParaRPr>
          </a:p>
          <a:p>
            <a:pPr>
              <a:lnSpc>
                <a:spcPct val="70000"/>
              </a:lnSpc>
              <a:buNone/>
            </a:pPr>
            <a:endParaRPr sz="1600" b="1">
              <a:latin typeface="Courier New" panose="02070309020205020404" pitchFamily="49" charset="0"/>
            </a:endParaRPr>
          </a:p>
          <a:p>
            <a:pPr>
              <a:lnSpc>
                <a:spcPct val="70000"/>
              </a:lnSpc>
              <a:buNone/>
            </a:pPr>
            <a:r>
              <a:rPr sz="1600">
                <a:latin typeface="Courier New" panose="02070309020205020404" pitchFamily="49" charset="0"/>
              </a:rPr>
              <a:t>    this.password = password;</a:t>
            </a:r>
            <a:endParaRPr sz="1600">
              <a:latin typeface="Courier New" panose="02070309020205020404" pitchFamily="49" charset="0"/>
            </a:endParaRPr>
          </a:p>
          <a:p>
            <a:pPr>
              <a:lnSpc>
                <a:spcPct val="70000"/>
              </a:lnSpc>
              <a:buNone/>
            </a:pPr>
            <a:r>
              <a:rPr sz="1600">
                <a:latin typeface="Courier New" panose="02070309020205020404" pitchFamily="49" charset="0"/>
              </a:rPr>
              <a:t>}</a:t>
            </a:r>
            <a:endParaRPr sz="1600">
              <a:latin typeface="Courier New" panose="02070309020205020404" pitchFamily="49" charset="0"/>
            </a:endParaRPr>
          </a:p>
          <a:p>
            <a:r>
              <a:rPr sz="2000"/>
              <a:t>How could this code be improved?</a:t>
            </a:r>
            <a:endParaRPr sz="200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5954" name="Title 1405953"/>
          <p:cNvSpPr>
            <a:spLocks noGrp="1"/>
          </p:cNvSpPr>
          <p:nvPr>
            <p:ph type="title"/>
          </p:nvPr>
        </p:nvSpPr>
        <p:spPr/>
        <p:txBody>
          <a:bodyPr anchor="b"/>
          <a:p>
            <a:r>
              <a:t>What makes a precondition?</a:t>
            </a:r>
          </a:p>
        </p:txBody>
      </p:sp>
      <p:sp>
        <p:nvSpPr>
          <p:cNvPr id="1405955" name="Text Placeholder 1405954"/>
          <p:cNvSpPr>
            <a:spLocks noGrp="1"/>
          </p:cNvSpPr>
          <p:nvPr>
            <p:ph type="body" idx="1"/>
          </p:nvPr>
        </p:nvSpPr>
        <p:spPr/>
        <p:txBody>
          <a:bodyPr/>
          <a:p>
            <a:pPr>
              <a:lnSpc>
                <a:spcPct val="90000"/>
              </a:lnSpc>
            </a:pPr>
            <a:r>
              <a:t>It must be something testable from the outside.</a:t>
            </a:r>
          </a:p>
          <a:p>
            <a:pPr lvl="1">
              <a:lnSpc>
                <a:spcPct val="90000"/>
              </a:lnSpc>
            </a:pPr>
            <a:r>
              <a:t>Client code should be able to claim that it has met all preconditions before it calls your code.</a:t>
            </a:r>
          </a:p>
          <a:p>
            <a:pPr lvl="1">
              <a:lnSpc>
                <a:spcPct val="90000"/>
              </a:lnSpc>
            </a:pPr>
            <a:r>
              <a:t>Don't make a precondition that can only be verified by using private data.</a:t>
            </a:r>
          </a:p>
          <a:p>
            <a:pPr lvl="2">
              <a:lnSpc>
                <a:spcPct val="90000"/>
              </a:lnSpc>
            </a:pPr>
            <a:r>
              <a:t>Example: a </a:t>
            </a:r>
            <a:r>
              <a:rPr>
                <a:latin typeface="Courier New" panose="02070309020205020404" pitchFamily="49" charset="0"/>
              </a:rPr>
              <a:t>swapTop2</a:t>
            </a:r>
            <a:r>
              <a:t> method with a precondition that the </a:t>
            </a:r>
            <a:r>
              <a:rPr>
                <a:latin typeface="Courier New" panose="02070309020205020404" pitchFamily="49" charset="0"/>
              </a:rPr>
              <a:t>Stack</a:t>
            </a:r>
            <a:r>
              <a:t>'s (</a:t>
            </a:r>
            <a:r>
              <a:rPr>
                <a:latin typeface="Courier New" panose="02070309020205020404" pitchFamily="49" charset="0"/>
              </a:rPr>
              <a:t>private int</a:t>
            </a:r>
            <a:r>
              <a:t>) </a:t>
            </a:r>
            <a:r>
              <a:rPr>
                <a:latin typeface="Courier New" panose="02070309020205020404" pitchFamily="49" charset="0"/>
              </a:rPr>
              <a:t>size &gt;= 2</a:t>
            </a:r>
            <a:r>
              <a:t>, if client code can only check whether it </a:t>
            </a:r>
            <a:r>
              <a:rPr err="1">
                <a:latin typeface="Courier New" panose="02070309020205020404" pitchFamily="49" charset="0"/>
              </a:rPr>
              <a:t>isEmpty</a:t>
            </a:r>
            <a:r>
              <a:rPr>
                <a:latin typeface="Courier New" panose="02070309020205020404" pitchFamily="49" charset="0"/>
              </a:rPr>
              <a:t>()</a:t>
            </a:r>
            <a:endParaRPr>
              <a:latin typeface="Courier New" panose="02070309020205020404" pitchFamily="49" charset="0"/>
            </a:endParaRPr>
          </a:p>
          <a:p>
            <a:pPr>
              <a:lnSpc>
                <a:spcPct val="90000"/>
              </a:lnSpc>
            </a:pPr>
          </a:p>
          <a:p>
            <a:pPr>
              <a:lnSpc>
                <a:spcPct val="90000"/>
              </a:lnSpc>
            </a:pPr>
            <a:r>
              <a:t>Don't make it a precondition if they can't verify it beforehand.</a:t>
            </a:r>
          </a:p>
          <a:p>
            <a:pPr lvl="1">
              <a:lnSpc>
                <a:spcPct val="90000"/>
              </a:lnSpc>
            </a:pPr>
            <a:r>
              <a:t>Bad example: "precondition: file exists and can be read"</a:t>
            </a:r>
          </a:p>
          <a:p>
            <a:pPr lvl="2">
              <a:lnSpc>
                <a:spcPct val="90000"/>
              </a:lnSpc>
            </a:pPr>
            <a:r>
              <a:t>How can the client verify this?  It is unpredictable.</a:t>
            </a:r>
          </a:p>
          <a:p>
            <a:pPr lvl="2">
              <a:lnSpc>
                <a:spcPct val="90000"/>
              </a:lnSpc>
            </a:pPr>
            <a:r>
              <a:t>Even if caller does check this, it could be changed when the object tries to read it.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6978" name="Title 1406977"/>
          <p:cNvSpPr>
            <a:spLocks noGrp="1"/>
          </p:cNvSpPr>
          <p:nvPr>
            <p:ph type="title"/>
          </p:nvPr>
        </p:nvSpPr>
        <p:spPr/>
        <p:txBody>
          <a:bodyPr anchor="b"/>
          <a:p>
            <a:r>
              <a:t>What about other tests?</a:t>
            </a:r>
          </a:p>
        </p:txBody>
      </p:sp>
      <p:sp>
        <p:nvSpPr>
          <p:cNvPr id="1406979" name="Text Placeholder 1406978"/>
          <p:cNvSpPr>
            <a:spLocks noGrp="1"/>
          </p:cNvSpPr>
          <p:nvPr>
            <p:ph type="body" idx="1"/>
          </p:nvPr>
        </p:nvSpPr>
        <p:spPr/>
        <p:txBody>
          <a:bodyPr/>
          <a:p>
            <a:r>
              <a:t>If an object shouldn't have code that checks whether its preconditions are true (and throw exceptions etc. if not), how do we catch bugs where a client accidentally calls the code with a false precondition?</a:t>
            </a:r>
          </a:p>
        </p:txBody>
      </p:sp>
      <p:sp>
        <p:nvSpPr>
          <p:cNvPr id="1406980" name="Text Box 1406979"/>
          <p:cNvSpPr txBox="1"/>
          <p:nvPr/>
        </p:nvSpPr>
        <p:spPr>
          <a:xfrm>
            <a:off x="0" y="3276600"/>
            <a:ext cx="9144000" cy="2852738"/>
          </a:xfrm>
          <a:prstGeom prst="rect">
            <a:avLst/>
          </a:prstGeom>
          <a:noFill/>
          <a:ln w="9525">
            <a:noFill/>
          </a:ln>
        </p:spPr>
        <p:txBody>
          <a:bodyPr>
            <a:spAutoFit/>
          </a:bodyPr>
          <a:p>
            <a:pPr marL="346075" indent="-346075">
              <a:lnSpc>
                <a:spcPct val="90000"/>
              </a:lnSpc>
              <a:spcBef>
                <a:spcPct val="20000"/>
              </a:spcBef>
              <a:buClr>
                <a:schemeClr val="folHlink"/>
              </a:buClr>
              <a:buSzPct val="60000"/>
              <a:buFont typeface="Wingdings" panose="05000000000000000000" pitchFamily="2" charset="2"/>
              <a:buChar char="n"/>
            </a:pPr>
            <a:r>
              <a:rPr b="1">
                <a:latin typeface="Verdana" panose="020B0604030504040204" pitchFamily="34" charset="0"/>
                <a:ea typeface="Times New Roman" panose="02020603050405020304" pitchFamily="18" charset="0"/>
                <a:cs typeface="Times New Roman" panose="02020603050405020304" pitchFamily="18" charset="0"/>
              </a:rPr>
              <a:t>assertion</a:t>
            </a:r>
            <a:r>
              <a:rPr>
                <a:latin typeface="Verdana" panose="020B0604030504040204" pitchFamily="34" charset="0"/>
                <a:ea typeface="Times New Roman" panose="02020603050405020304" pitchFamily="18" charset="0"/>
                <a:cs typeface="Times New Roman" panose="02020603050405020304" pitchFamily="18" charset="0"/>
              </a:rPr>
              <a:t>: A fail-fast way to test for error conditions that should never occur.</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Use assertions to verify preconditions when testing and debugging your code.</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Don't over-rely on assertions;</a:t>
            </a:r>
            <a:br>
              <a:rPr sz="2000">
                <a:latin typeface="Verdana" panose="020B0604030504040204" pitchFamily="34" charset="0"/>
                <a:ea typeface="Times New Roman" panose="02020603050405020304" pitchFamily="18" charset="0"/>
                <a:cs typeface="Times New Roman" panose="02020603050405020304" pitchFamily="18" charset="0"/>
              </a:rPr>
            </a:br>
            <a:r>
              <a:rPr sz="2000">
                <a:latin typeface="Verdana" panose="020B0604030504040204" pitchFamily="34" charset="0"/>
                <a:ea typeface="Times New Roman" panose="02020603050405020304" pitchFamily="18" charset="0"/>
                <a:cs typeface="Times New Roman" panose="02020603050405020304" pitchFamily="18" charset="0"/>
              </a:rPr>
              <a:t>they are more commonly used for things that NEVER should happen!  Exceptions in the contract are more common.</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lnSpc>
                <a:spcPct val="90000"/>
              </a:lnSpc>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When an assertion fails, this is considered an error on the part of the developer and should be fixed immediately.</a:t>
            </a:r>
            <a:endParaRPr sz="2000">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6980"/>
                                        </p:tgtEl>
                                        <p:attrNameLst>
                                          <p:attrName>style.visibility</p:attrName>
                                        </p:attrNameLst>
                                      </p:cBhvr>
                                      <p:to>
                                        <p:strVal val="visible"/>
                                      </p:to>
                                    </p:set>
                                    <p:anim calcmode="lin" valueType="num">
                                      <p:cBhvr additive="base">
                                        <p:cTn id="7" dur="500" fill="hold"/>
                                        <p:tgtEl>
                                          <p:spTgt spid="1406980"/>
                                        </p:tgtEl>
                                        <p:attrNameLst>
                                          <p:attrName>ppt_x</p:attrName>
                                        </p:attrNameLst>
                                      </p:cBhvr>
                                      <p:tavLst>
                                        <p:tav tm="0">
                                          <p:val>
                                            <p:strVal val="#ppt_x"/>
                                          </p:val>
                                        </p:tav>
                                        <p:tav tm="100000">
                                          <p:val>
                                            <p:strVal val="#ppt_x"/>
                                          </p:val>
                                        </p:tav>
                                      </p:tavLst>
                                    </p:anim>
                                    <p:anim calcmode="lin" valueType="num">
                                      <p:cBhvr additive="base">
                                        <p:cTn id="8" dur="500" fill="hold"/>
                                        <p:tgtEl>
                                          <p:spTgt spid="1406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8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8002" name="Title 1408001"/>
          <p:cNvSpPr>
            <a:spLocks noGrp="1"/>
          </p:cNvSpPr>
          <p:nvPr>
            <p:ph type="title"/>
          </p:nvPr>
        </p:nvSpPr>
        <p:spPr/>
        <p:txBody>
          <a:bodyPr anchor="b"/>
          <a:p>
            <a:r>
              <a:t>Assertions in Java</a:t>
            </a:r>
          </a:p>
        </p:txBody>
      </p:sp>
      <p:sp>
        <p:nvSpPr>
          <p:cNvPr id="1408003" name="Text Placeholder 1408002"/>
          <p:cNvSpPr>
            <a:spLocks noGrp="1"/>
          </p:cNvSpPr>
          <p:nvPr>
            <p:ph type="body" idx="1"/>
          </p:nvPr>
        </p:nvSpPr>
        <p:spPr/>
        <p:txBody>
          <a:bodyPr/>
          <a:p>
            <a:pPr>
              <a:lnSpc>
                <a:spcPct val="90000"/>
              </a:lnSpc>
            </a:pPr>
            <a:r>
              <a:t>Java assert statements</a:t>
            </a:r>
          </a:p>
          <a:p>
            <a:pPr lvl="1">
              <a:lnSpc>
                <a:spcPct val="90000"/>
              </a:lnSpc>
            </a:pPr>
            <a:r>
              <a:rPr>
                <a:latin typeface="Courier New" panose="02070309020205020404" pitchFamily="49" charset="0"/>
              </a:rPr>
              <a:t>assert </a:t>
            </a:r>
            <a:r>
              <a:rPr b="1" i="1"/>
              <a:t>&lt;condition&gt; </a:t>
            </a:r>
            <a:r>
              <a:rPr>
                <a:latin typeface="Courier New" panose="02070309020205020404" pitchFamily="49" charset="0"/>
              </a:rPr>
              <a:t>;</a:t>
            </a:r>
            <a:endParaRPr>
              <a:latin typeface="Courier New" panose="02070309020205020404" pitchFamily="49" charset="0"/>
            </a:endParaRPr>
          </a:p>
          <a:p>
            <a:pPr lvl="1">
              <a:lnSpc>
                <a:spcPct val="90000"/>
              </a:lnSpc>
            </a:pPr>
            <a:r>
              <a:rPr>
                <a:latin typeface="Courier New" panose="02070309020205020404" pitchFamily="49" charset="0"/>
              </a:rPr>
              <a:t>assert </a:t>
            </a:r>
            <a:r>
              <a:rPr b="1" i="1"/>
              <a:t>&lt;condition&gt;</a:t>
            </a:r>
            <a:r>
              <a:rPr i="1">
                <a:latin typeface="Courier New" panose="02070309020205020404" pitchFamily="49" charset="0"/>
              </a:rPr>
              <a:t> </a:t>
            </a:r>
            <a:r>
              <a:rPr>
                <a:latin typeface="Courier New" panose="02070309020205020404" pitchFamily="49" charset="0"/>
              </a:rPr>
              <a:t>: </a:t>
            </a:r>
            <a:r>
              <a:rPr b="1" i="1"/>
              <a:t>&lt;message&gt;</a:t>
            </a:r>
            <a:r>
              <a:rPr>
                <a:latin typeface="Courier New" panose="02070309020205020404" pitchFamily="49" charset="0"/>
              </a:rPr>
              <a:t>;</a:t>
            </a:r>
            <a:endParaRPr>
              <a:latin typeface="Courier New" panose="02070309020205020404" pitchFamily="49" charset="0"/>
            </a:endParaRPr>
          </a:p>
          <a:p>
            <a:pPr>
              <a:lnSpc>
                <a:spcPct val="90000"/>
              </a:lnSpc>
              <a:buNone/>
            </a:pPr>
            <a:r>
              <a:t>	</a:t>
            </a:r>
          </a:p>
          <a:p>
            <a:pPr>
              <a:lnSpc>
                <a:spcPct val="90000"/>
              </a:lnSpc>
            </a:pPr>
            <a:r>
              <a:t>enabling assertions</a:t>
            </a:r>
          </a:p>
          <a:p>
            <a:pPr lvl="1">
              <a:lnSpc>
                <a:spcPct val="90000"/>
              </a:lnSpc>
            </a:pPr>
            <a:r>
              <a:t>when compiling: </a:t>
            </a:r>
            <a:r>
              <a:rPr err="1">
                <a:latin typeface="Courier New" panose="02070309020205020404" pitchFamily="49" charset="0"/>
              </a:rPr>
              <a:t>javac -source 1.5 ClassName.java</a:t>
            </a:r>
            <a:endParaRPr>
              <a:latin typeface="Courier New" panose="02070309020205020404" pitchFamily="49" charset="0"/>
            </a:endParaRPr>
          </a:p>
          <a:p>
            <a:pPr lvl="1">
              <a:lnSpc>
                <a:spcPct val="90000"/>
              </a:lnSpc>
            </a:pPr>
            <a:r>
              <a:t>when running:   </a:t>
            </a:r>
            <a:r>
              <a:rPr err="1">
                <a:latin typeface="Courier New" panose="02070309020205020404" pitchFamily="49" charset="0"/>
              </a:rPr>
              <a:t>java -ea ClassName</a:t>
            </a:r>
            <a:endParaRPr>
              <a:latin typeface="Courier New" panose="02070309020205020404" pitchFamily="49" charset="0"/>
            </a:endParaRPr>
          </a:p>
          <a:p>
            <a:pPr>
              <a:lnSpc>
                <a:spcPct val="90000"/>
              </a:lnSpc>
            </a:pPr>
          </a:p>
          <a:p>
            <a:pPr lvl="1">
              <a:lnSpc>
                <a:spcPct val="90000"/>
              </a:lnSpc>
            </a:pPr>
            <a:r>
              <a:t>In C/C++, assert is a compile-time thing.</a:t>
            </a:r>
          </a:p>
          <a:p>
            <a:pPr lvl="1">
              <a:lnSpc>
                <a:spcPct val="90000"/>
              </a:lnSpc>
            </a:pPr>
            <a:r>
              <a:t>In Java, can selectively en/disable assertions at runtime.</a:t>
            </a:r>
          </a:p>
          <a:p>
            <a:pPr>
              <a:lnSpc>
                <a:spcPct val="90000"/>
              </a:lnSpc>
              <a:buNone/>
            </a:pPr>
          </a:p>
          <a:p>
            <a:pPr lvl="1">
              <a:lnSpc>
                <a:spcPct val="90000"/>
              </a:lnSpc>
            </a:pPr>
            <a:r>
              <a:t>Assertions should NOT be enabled in a shipping product;</a:t>
            </a:r>
            <a:br/>
            <a:r>
              <a:t>the user gets unfriendly error message, can't fix it or recover.</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09026" name="Title 1409025"/>
          <p:cNvSpPr>
            <a:spLocks noGrp="1"/>
          </p:cNvSpPr>
          <p:nvPr>
            <p:ph type="title"/>
          </p:nvPr>
        </p:nvSpPr>
        <p:spPr/>
        <p:txBody>
          <a:bodyPr anchor="b"/>
          <a:p>
            <a:r>
              <a:t>Example assertion code</a:t>
            </a:r>
          </a:p>
        </p:txBody>
      </p:sp>
      <p:sp>
        <p:nvSpPr>
          <p:cNvPr id="1409027" name="Text Placeholder 1409026"/>
          <p:cNvSpPr>
            <a:spLocks noGrp="1"/>
          </p:cNvSpPr>
          <p:nvPr>
            <p:ph type="body" idx="1"/>
          </p:nvPr>
        </p:nvSpPr>
        <p:spPr/>
        <p:txBody>
          <a:bodyPr/>
          <a:p>
            <a:pPr>
              <a:lnSpc>
                <a:spcPct val="90000"/>
              </a:lnSpc>
            </a:pPr>
            <a:r>
              <a:t>Consider int array binary search code:</a:t>
            </a:r>
          </a:p>
          <a:p>
            <a:pPr>
              <a:lnSpc>
                <a:spcPct val="90000"/>
              </a:lnSpc>
              <a:buNone/>
            </a:pPr>
            <a:endParaRPr sz="1600">
              <a:latin typeface="Courier New" panose="02070309020205020404" pitchFamily="49" charset="0"/>
            </a:endParaRPr>
          </a:p>
          <a:p>
            <a:pPr>
              <a:lnSpc>
                <a:spcPct val="90000"/>
              </a:lnSpc>
              <a:buNone/>
            </a:pPr>
            <a:r>
              <a:rPr sz="1600">
                <a:latin typeface="Courier New" panose="02070309020205020404" pitchFamily="49" charset="0"/>
              </a:rPr>
              <a:t>/** Returns index of value n in array a.</a:t>
            </a:r>
            <a:endParaRPr sz="1600">
              <a:latin typeface="Courier New" panose="02070309020205020404" pitchFamily="49" charset="0"/>
            </a:endParaRPr>
          </a:p>
          <a:p>
            <a:pPr>
              <a:lnSpc>
                <a:spcPct val="90000"/>
              </a:lnSpc>
              <a:buNone/>
            </a:pPr>
            <a:r>
              <a:rPr sz="1600" b="1">
                <a:latin typeface="Courier New" panose="02070309020205020404" pitchFamily="49" charset="0"/>
              </a:rPr>
              <a:t> *  @pre.condition The array a is in sorted order.</a:t>
            </a:r>
            <a:endParaRPr sz="1600" b="1">
              <a:latin typeface="Courier New" panose="02070309020205020404" pitchFamily="49" charset="0"/>
            </a:endParaRPr>
          </a:p>
          <a:p>
            <a:pPr>
              <a:lnSpc>
                <a:spcPct val="90000"/>
              </a:lnSpc>
              <a:buNone/>
            </a:pPr>
            <a:r>
              <a:rPr sz="1600">
                <a:latin typeface="Courier New" panose="02070309020205020404" pitchFamily="49" charset="0"/>
              </a:rPr>
              <a:t> */</a:t>
            </a:r>
            <a:endParaRPr sz="1600">
              <a:latin typeface="Courier New" panose="02070309020205020404" pitchFamily="49" charset="0"/>
            </a:endParaRPr>
          </a:p>
          <a:p>
            <a:pPr>
              <a:lnSpc>
                <a:spcPct val="90000"/>
              </a:lnSpc>
              <a:buNone/>
            </a:pPr>
            <a:r>
              <a:rPr sz="1600" err="1">
                <a:latin typeface="Courier New" panose="02070309020205020404" pitchFamily="49" charset="0"/>
              </a:rPr>
              <a:t>public static void binarySearch(int</a:t>
            </a:r>
            <a:r>
              <a:rPr sz="1600">
                <a:latin typeface="Courier New" panose="02070309020205020404" pitchFamily="49" charset="0"/>
              </a:rPr>
              <a:t>[] a, int n) {</a:t>
            </a:r>
            <a:endParaRPr sz="1600">
              <a:latin typeface="Courier New" panose="02070309020205020404" pitchFamily="49" charset="0"/>
            </a:endParaRPr>
          </a:p>
          <a:p>
            <a:pPr>
              <a:lnSpc>
                <a:spcPct val="90000"/>
              </a:lnSpc>
              <a:buNone/>
            </a:pPr>
            <a:r>
              <a:rPr sz="1600" b="1" err="1">
                <a:latin typeface="Courier New" panose="02070309020205020404" pitchFamily="49" charset="0"/>
              </a:rPr>
              <a:t>    assert isSorted(a</a:t>
            </a:r>
            <a:r>
              <a:rPr sz="1600" b="1">
                <a:latin typeface="Courier New" panose="02070309020205020404" pitchFamily="49" charset="0"/>
              </a:rPr>
              <a:t>) : "Array must be sorted";</a:t>
            </a:r>
            <a:endParaRPr sz="1600" b="1">
              <a:latin typeface="Courier New" panose="02070309020205020404" pitchFamily="49" charset="0"/>
            </a:endParaRPr>
          </a:p>
          <a:p>
            <a:pPr>
              <a:lnSpc>
                <a:spcPct val="90000"/>
              </a:lnSpc>
              <a:buNone/>
            </a:pPr>
            <a:r>
              <a:rPr sz="1600">
                <a:latin typeface="Courier New" panose="02070309020205020404" pitchFamily="49" charset="0"/>
              </a:rPr>
              <a:t>    ...</a:t>
            </a:r>
            <a:endParaRPr sz="1600">
              <a:latin typeface="Courier New" panose="02070309020205020404" pitchFamily="49" charset="0"/>
            </a:endParaRPr>
          </a:p>
          <a:p>
            <a:pPr>
              <a:lnSpc>
                <a:spcPct val="90000"/>
              </a:lnSpc>
              <a:buNone/>
            </a:pPr>
            <a:r>
              <a:rPr sz="1600">
                <a:latin typeface="Courier New" panose="02070309020205020404" pitchFamily="49" charset="0"/>
              </a:rPr>
              <a:t>}</a:t>
            </a:r>
            <a:endParaRPr sz="1600">
              <a:latin typeface="Courier New" panose="02070309020205020404" pitchFamily="49" charset="0"/>
            </a:endParaRPr>
          </a:p>
          <a:p>
            <a:pPr>
              <a:lnSpc>
                <a:spcPct val="90000"/>
              </a:lnSpc>
              <a:buNone/>
            </a:pPr>
            <a:endParaRPr sz="1600">
              <a:latin typeface="Courier New" panose="02070309020205020404" pitchFamily="49" charset="0"/>
            </a:endParaRPr>
          </a:p>
          <a:p>
            <a:pPr>
              <a:lnSpc>
                <a:spcPct val="90000"/>
              </a:lnSpc>
              <a:buNone/>
            </a:pPr>
            <a:r>
              <a:rPr sz="1600" err="1">
                <a:latin typeface="Courier New" panose="02070309020205020404" pitchFamily="49" charset="0"/>
              </a:rPr>
              <a:t>private static boolean isSorted(int</a:t>
            </a:r>
            <a:r>
              <a:rPr sz="1600">
                <a:latin typeface="Courier New" panose="02070309020205020404" pitchFamily="49" charset="0"/>
              </a:rPr>
              <a:t>[] a) {</a:t>
            </a:r>
            <a:endParaRPr sz="1600">
              <a:latin typeface="Courier New" panose="02070309020205020404" pitchFamily="49" charset="0"/>
            </a:endParaRPr>
          </a:p>
          <a:p>
            <a:pPr>
              <a:lnSpc>
                <a:spcPct val="90000"/>
              </a:lnSpc>
              <a:buNone/>
            </a:pPr>
            <a:r>
              <a:rPr sz="1600">
                <a:latin typeface="Courier New" panose="02070309020205020404" pitchFamily="49" charset="0"/>
              </a:rPr>
              <a:t>    for (int i = 0; i &lt; a.length - 1; i++)</a:t>
            </a:r>
            <a:endParaRPr sz="1600">
              <a:latin typeface="Courier New" panose="02070309020205020404" pitchFamily="49" charset="0"/>
            </a:endParaRPr>
          </a:p>
          <a:p>
            <a:pPr>
              <a:lnSpc>
                <a:spcPct val="90000"/>
              </a:lnSpc>
              <a:buNone/>
            </a:pPr>
            <a:r>
              <a:rPr sz="1600">
                <a:latin typeface="Courier New" panose="02070309020205020404" pitchFamily="49" charset="0"/>
              </a:rPr>
              <a:t>        if (a[i] &gt; a[i+1])</a:t>
            </a:r>
            <a:endParaRPr sz="1600">
              <a:latin typeface="Courier New" panose="02070309020205020404" pitchFamily="49" charset="0"/>
            </a:endParaRPr>
          </a:p>
          <a:p>
            <a:pPr>
              <a:lnSpc>
                <a:spcPct val="90000"/>
              </a:lnSpc>
              <a:buNone/>
            </a:pPr>
            <a:r>
              <a:rPr sz="1600">
                <a:latin typeface="Courier New" panose="02070309020205020404" pitchFamily="49" charset="0"/>
              </a:rPr>
              <a:t>            return false;</a:t>
            </a:r>
            <a:endParaRPr sz="1600">
              <a:latin typeface="Courier New" panose="02070309020205020404" pitchFamily="49" charset="0"/>
            </a:endParaRPr>
          </a:p>
          <a:p>
            <a:pPr>
              <a:lnSpc>
                <a:spcPct val="90000"/>
              </a:lnSpc>
              <a:buNone/>
            </a:pPr>
            <a:r>
              <a:rPr sz="1600">
                <a:latin typeface="Courier New" panose="02070309020205020404" pitchFamily="49" charset="0"/>
              </a:rPr>
              <a:t>    return true;</a:t>
            </a:r>
            <a:endParaRPr sz="1600">
              <a:latin typeface="Courier New" panose="02070309020205020404" pitchFamily="49" charset="0"/>
            </a:endParaRPr>
          </a:p>
          <a:p>
            <a:pPr>
              <a:lnSpc>
                <a:spcPct val="90000"/>
              </a:lnSpc>
              <a:buNone/>
            </a:pPr>
            <a:r>
              <a:rPr sz="1600">
                <a:latin typeface="Courier New" panose="02070309020205020404" pitchFamily="49" charset="0"/>
              </a:rPr>
              <a:t>}</a:t>
            </a:r>
            <a:endParaRPr sz="1600">
              <a:latin typeface="Courier New" panose="02070309020205020404" pitchFamily="49" charset="0"/>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11074" name="Title 1411073"/>
          <p:cNvSpPr>
            <a:spLocks noGrp="1"/>
          </p:cNvSpPr>
          <p:nvPr>
            <p:ph type="title"/>
          </p:nvPr>
        </p:nvSpPr>
        <p:spPr/>
        <p:txBody>
          <a:bodyPr anchor="b"/>
          <a:p>
            <a:r>
              <a:t>Postconditions</a:t>
            </a:r>
          </a:p>
        </p:txBody>
      </p:sp>
      <p:sp>
        <p:nvSpPr>
          <p:cNvPr id="1411075" name="Text Placeholder 1411074"/>
          <p:cNvSpPr>
            <a:spLocks noGrp="1"/>
          </p:cNvSpPr>
          <p:nvPr>
            <p:ph type="body" idx="1"/>
          </p:nvPr>
        </p:nvSpPr>
        <p:spPr/>
        <p:txBody>
          <a:bodyPr/>
          <a:p>
            <a:pPr>
              <a:lnSpc>
                <a:spcPct val="90000"/>
              </a:lnSpc>
            </a:pPr>
            <a:r>
              <a:t>What is a postcondition?  Whose fault is it when a postcondition is not met, and what should be done?</a:t>
            </a:r>
          </a:p>
        </p:txBody>
      </p:sp>
      <p:sp>
        <p:nvSpPr>
          <p:cNvPr id="1411076" name="Text Box 1411075"/>
          <p:cNvSpPr txBox="1"/>
          <p:nvPr/>
        </p:nvSpPr>
        <p:spPr>
          <a:xfrm>
            <a:off x="0" y="2743200"/>
            <a:ext cx="9144000" cy="3378200"/>
          </a:xfrm>
          <a:prstGeom prst="rect">
            <a:avLst/>
          </a:prstGeom>
          <a:noFill/>
          <a:ln w="9525">
            <a:noFill/>
          </a:ln>
        </p:spPr>
        <p:txBody>
          <a:bodyPr>
            <a:spAutoFit/>
          </a:bodyPr>
          <a:p>
            <a:pPr marL="346075" indent="-346075">
              <a:spcBef>
                <a:spcPct val="20000"/>
              </a:spcBef>
              <a:buClr>
                <a:schemeClr val="folHlink"/>
              </a:buClr>
              <a:buSzPct val="60000"/>
              <a:buFont typeface="Wingdings" panose="05000000000000000000" pitchFamily="2" charset="2"/>
              <a:buChar char="n"/>
            </a:pPr>
            <a:r>
              <a:rPr b="1">
                <a:latin typeface="Verdana" panose="020B0604030504040204" pitchFamily="34" charset="0"/>
                <a:ea typeface="Times New Roman" panose="02020603050405020304" pitchFamily="18" charset="0"/>
                <a:cs typeface="Times New Roman" panose="02020603050405020304" pitchFamily="18" charset="0"/>
              </a:rPr>
              <a:t>postcondition</a:t>
            </a:r>
            <a:r>
              <a:rPr>
                <a:latin typeface="Verdana" panose="020B0604030504040204" pitchFamily="34" charset="0"/>
                <a:ea typeface="Times New Roman" panose="02020603050405020304" pitchFamily="18" charset="0"/>
                <a:cs typeface="Times New Roman" panose="02020603050405020304" pitchFamily="18" charset="0"/>
              </a:rPr>
              <a:t>: Something that must be true upon completion of the object's work.</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Example: At end of </a:t>
            </a:r>
            <a:r>
              <a:rPr sz="2000">
                <a:latin typeface="Courier New" panose="02070309020205020404" pitchFamily="49" charset="0"/>
                <a:ea typeface="Times New Roman" panose="02020603050405020304" pitchFamily="18" charset="0"/>
                <a:cs typeface="Times New Roman" panose="02020603050405020304" pitchFamily="18" charset="0"/>
              </a:rPr>
              <a:t>sort(int[])</a:t>
            </a:r>
            <a:r>
              <a:rPr sz="2000">
                <a:latin typeface="Verdana" panose="020B0604030504040204" pitchFamily="34" charset="0"/>
                <a:ea typeface="Times New Roman" panose="02020603050405020304" pitchFamily="18" charset="0"/>
                <a:cs typeface="Times New Roman" panose="02020603050405020304" pitchFamily="18" charset="0"/>
              </a:rPr>
              <a:t>, the array is in sorted order.</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Check them with statements at end of methods, if needed.</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A postcondition being violated is object's (your) own fault.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Assert the postcondition, so it crashes if not met.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spcBef>
                <a:spcPct val="20000"/>
              </a:spcBef>
              <a:buClr>
                <a:schemeClr val="tx2"/>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Don't throw an exception -- it's not the client's fault!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Document postconditions in Javadoc with </a:t>
            </a:r>
            <a:r>
              <a:rPr sz="2000">
                <a:latin typeface="Courier New" panose="02070309020205020404" pitchFamily="49" charset="0"/>
                <a:ea typeface="Times New Roman" panose="02020603050405020304" pitchFamily="18" charset="0"/>
                <a:cs typeface="Times New Roman" panose="02020603050405020304" pitchFamily="18" charset="0"/>
              </a:rPr>
              <a:t>@post.condition</a:t>
            </a:r>
            <a:endParaRPr sz="2000">
              <a:latin typeface="Courier New" panose="02070309020205020404" pitchFamily="49"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1076"/>
                                        </p:tgtEl>
                                        <p:attrNameLst>
                                          <p:attrName>style.visibility</p:attrName>
                                        </p:attrNameLst>
                                      </p:cBhvr>
                                      <p:to>
                                        <p:strVal val="visible"/>
                                      </p:to>
                                    </p:set>
                                    <p:anim calcmode="lin" valueType="num">
                                      <p:cBhvr additive="base">
                                        <p:cTn id="7" dur="500" fill="hold"/>
                                        <p:tgtEl>
                                          <p:spTgt spid="1411076"/>
                                        </p:tgtEl>
                                        <p:attrNameLst>
                                          <p:attrName>ppt_x</p:attrName>
                                        </p:attrNameLst>
                                      </p:cBhvr>
                                      <p:tavLst>
                                        <p:tav tm="0">
                                          <p:val>
                                            <p:strVal val="#ppt_x"/>
                                          </p:val>
                                        </p:tav>
                                        <p:tav tm="100000">
                                          <p:val>
                                            <p:strVal val="#ppt_x"/>
                                          </p:val>
                                        </p:tav>
                                      </p:tavLst>
                                    </p:anim>
                                    <p:anim calcmode="lin" valueType="num">
                                      <p:cBhvr additive="base">
                                        <p:cTn id="8" dur="500" fill="hold"/>
                                        <p:tgtEl>
                                          <p:spTgt spid="1411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10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12098" name="Title 1412097"/>
          <p:cNvSpPr>
            <a:spLocks noGrp="1"/>
          </p:cNvSpPr>
          <p:nvPr>
            <p:ph type="title"/>
          </p:nvPr>
        </p:nvSpPr>
        <p:spPr/>
        <p:txBody>
          <a:bodyPr anchor="b"/>
          <a:p>
            <a:r>
              <a:t>Class invariants</a:t>
            </a:r>
          </a:p>
        </p:txBody>
      </p:sp>
      <p:sp>
        <p:nvSpPr>
          <p:cNvPr id="1412099" name="Text Placeholder 1412098"/>
          <p:cNvSpPr>
            <a:spLocks noGrp="1"/>
          </p:cNvSpPr>
          <p:nvPr>
            <p:ph type="body" idx="1"/>
          </p:nvPr>
        </p:nvSpPr>
        <p:spPr/>
        <p:txBody>
          <a:bodyPr/>
          <a:p>
            <a:pPr>
              <a:lnSpc>
                <a:spcPct val="90000"/>
              </a:lnSpc>
            </a:pPr>
            <a:r>
              <a:t>What is a class invariant?  How is it enforced?</a:t>
            </a:r>
          </a:p>
        </p:txBody>
      </p:sp>
      <p:sp>
        <p:nvSpPr>
          <p:cNvPr id="1412100" name="Text Box 1412099"/>
          <p:cNvSpPr txBox="1"/>
          <p:nvPr/>
        </p:nvSpPr>
        <p:spPr>
          <a:xfrm>
            <a:off x="0" y="1905000"/>
            <a:ext cx="9144000" cy="3987800"/>
          </a:xfrm>
          <a:prstGeom prst="rect">
            <a:avLst/>
          </a:prstGeom>
          <a:noFill/>
          <a:ln w="9525">
            <a:noFill/>
          </a:ln>
        </p:spPr>
        <p:txBody>
          <a:bodyPr>
            <a:spAutoFit/>
          </a:bodyPr>
          <a:p>
            <a:pPr marL="346075" indent="-346075">
              <a:spcBef>
                <a:spcPct val="20000"/>
              </a:spcBef>
              <a:buClr>
                <a:schemeClr val="folHlink"/>
              </a:buClr>
              <a:buSzPct val="60000"/>
              <a:buFont typeface="Wingdings" panose="05000000000000000000" pitchFamily="2" charset="2"/>
              <a:buChar char="n"/>
            </a:pPr>
            <a:r>
              <a:rPr b="1">
                <a:latin typeface="Verdana" panose="020B0604030504040204" pitchFamily="34" charset="0"/>
                <a:ea typeface="Times New Roman" panose="02020603050405020304" pitchFamily="18" charset="0"/>
                <a:cs typeface="Times New Roman" panose="02020603050405020304" pitchFamily="18" charset="0"/>
              </a:rPr>
              <a:t>class invariant</a:t>
            </a:r>
            <a:r>
              <a:rPr>
                <a:latin typeface="Verdana" panose="020B0604030504040204" pitchFamily="34" charset="0"/>
                <a:ea typeface="Times New Roman" panose="02020603050405020304" pitchFamily="18" charset="0"/>
                <a:cs typeface="Times New Roman" panose="02020603050405020304" pitchFamily="18" charset="0"/>
              </a:rPr>
              <a:t>: A logical condition that always holds for any object of a class.</a:t>
            </a:r>
            <a:endParaRPr>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Example: Our account's balance should never be negative.</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Similar to loop invariants, which are statements that must be true on every iteration of a loop.</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Can be tested at start or end of every method.</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Assert your invariants, so it crashes if they are not met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1143000" lvl="2" indent="-228600" eaLnBrk="1" hangingPunct="1">
              <a:spcBef>
                <a:spcPct val="20000"/>
              </a:spcBef>
              <a:buClr>
                <a:schemeClr val="tx2"/>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don't throw an exception -- it's not the client's fault!</a:t>
            </a: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endParaRPr sz="2000">
              <a:latin typeface="Verdana" panose="020B0604030504040204" pitchFamily="34" charset="0"/>
              <a:ea typeface="Times New Roman" panose="02020603050405020304" pitchFamily="18" charset="0"/>
              <a:cs typeface="Times New Roman" panose="02020603050405020304" pitchFamily="18" charset="0"/>
            </a:endParaRPr>
          </a:p>
          <a:p>
            <a:pPr marL="800100" lvl="1" indent="-280670" eaLnBrk="1" hangingPunct="1">
              <a:spcBef>
                <a:spcPct val="20000"/>
              </a:spcBef>
              <a:buClr>
                <a:schemeClr val="hlink"/>
              </a:buClr>
              <a:buSzPct val="55000"/>
              <a:buFont typeface="Wingdings" panose="05000000000000000000" pitchFamily="2" charset="2"/>
              <a:buChar char="n"/>
            </a:pPr>
            <a:r>
              <a:rPr sz="2000">
                <a:latin typeface="Verdana" panose="020B0604030504040204" pitchFamily="34" charset="0"/>
                <a:ea typeface="Times New Roman" panose="02020603050405020304" pitchFamily="18" charset="0"/>
                <a:cs typeface="Times New Roman" panose="02020603050405020304" pitchFamily="18" charset="0"/>
              </a:rPr>
              <a:t>Document class invariants in the Javadoc comment header at the top of the class.  (no special tag)</a:t>
            </a:r>
            <a:endParaRPr sz="2000">
              <a:latin typeface="Verdana" panose="020B0604030504040204" pitchFamily="34" charset="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2100"/>
                                        </p:tgtEl>
                                        <p:attrNameLst>
                                          <p:attrName>style.visibility</p:attrName>
                                        </p:attrNameLst>
                                      </p:cBhvr>
                                      <p:to>
                                        <p:strVal val="visible"/>
                                      </p:to>
                                    </p:set>
                                    <p:anim calcmode="lin" valueType="num">
                                      <p:cBhvr additive="base">
                                        <p:cTn id="7" dur="500" fill="hold"/>
                                        <p:tgtEl>
                                          <p:spTgt spid="1412100"/>
                                        </p:tgtEl>
                                        <p:attrNameLst>
                                          <p:attrName>ppt_x</p:attrName>
                                        </p:attrNameLst>
                                      </p:cBhvr>
                                      <p:tavLst>
                                        <p:tav tm="0">
                                          <p:val>
                                            <p:strVal val="#ppt_x"/>
                                          </p:val>
                                        </p:tav>
                                        <p:tav tm="100000">
                                          <p:val>
                                            <p:strVal val="#ppt_x"/>
                                          </p:val>
                                        </p:tav>
                                      </p:tavLst>
                                    </p:anim>
                                    <p:anim calcmode="lin" valueType="num">
                                      <p:cBhvr additive="base">
                                        <p:cTn id="8" dur="500" fill="hold"/>
                                        <p:tgtEl>
                                          <p:spTgt spid="1412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0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13122" name="Title 1413121"/>
          <p:cNvSpPr>
            <a:spLocks noGrp="1"/>
          </p:cNvSpPr>
          <p:nvPr>
            <p:ph type="title"/>
          </p:nvPr>
        </p:nvSpPr>
        <p:spPr/>
        <p:txBody>
          <a:bodyPr anchor="b"/>
          <a:p>
            <a:r>
              <a:t>Running Javadoc with tags</a:t>
            </a:r>
          </a:p>
        </p:txBody>
      </p:sp>
      <p:sp>
        <p:nvSpPr>
          <p:cNvPr id="1413123" name="Text Placeholder 1413122"/>
          <p:cNvSpPr>
            <a:spLocks noGrp="1"/>
          </p:cNvSpPr>
          <p:nvPr>
            <p:ph type="body" idx="1"/>
          </p:nvPr>
        </p:nvSpPr>
        <p:spPr/>
        <p:txBody>
          <a:bodyPr/>
          <a:p>
            <a:r>
              <a:rPr sz="1600" err="1">
                <a:latin typeface="Courier New" panose="02070309020205020404" pitchFamily="49" charset="0"/>
              </a:rPr>
              <a:t>javadoc</a:t>
            </a:r>
            <a:r>
              <a:rPr sz="1600">
                <a:latin typeface="Courier New" panose="02070309020205020404" pitchFamily="49" charset="0"/>
              </a:rPr>
              <a:t> </a:t>
            </a:r>
            <a:r>
              <a:rPr sz="1600" b="1">
                <a:latin typeface="Courier New" panose="02070309020205020404" pitchFamily="49" charset="0"/>
              </a:rPr>
              <a:t>-source 1.5</a:t>
            </a:r>
            <a:br>
              <a:rPr sz="1600">
                <a:latin typeface="Courier New" panose="02070309020205020404" pitchFamily="49" charset="0"/>
              </a:rPr>
            </a:br>
            <a:r>
              <a:rPr sz="1600">
                <a:latin typeface="Courier New" panose="02070309020205020404" pitchFamily="49" charset="0"/>
              </a:rPr>
              <a:t>        -d </a:t>
            </a:r>
            <a:r>
              <a:rPr sz="1600" i="1">
                <a:latin typeface="Courier New" panose="02070309020205020404" pitchFamily="49" charset="0"/>
              </a:rPr>
              <a:t>output_folder_name</a:t>
            </a:r>
            <a:br>
              <a:rPr sz="1600">
                <a:latin typeface="Courier New" panose="02070309020205020404" pitchFamily="49" charset="0"/>
              </a:rPr>
            </a:br>
            <a:r>
              <a:rPr sz="1600" b="1">
                <a:latin typeface="Courier New" panose="02070309020205020404" pitchFamily="49" charset="0"/>
              </a:rPr>
              <a:t>        -tag pre.condition:cm:"Precondition:"</a:t>
            </a:r>
            <a:br>
              <a:rPr sz="1600" b="1">
                <a:latin typeface="Courier New" panose="02070309020205020404" pitchFamily="49" charset="0"/>
              </a:rPr>
            </a:br>
            <a:r>
              <a:rPr sz="1600" b="1">
                <a:latin typeface="Courier New" panose="02070309020205020404" pitchFamily="49" charset="0"/>
              </a:rPr>
              <a:t>        -tag post.condition:cm:"Postcondition:"</a:t>
            </a:r>
            <a:br>
              <a:rPr sz="1600" b="1">
                <a:latin typeface="Courier New" panose="02070309020205020404" pitchFamily="49" charset="0"/>
              </a:rPr>
            </a:br>
            <a:r>
              <a:rPr sz="1600">
                <a:latin typeface="Courier New" panose="02070309020205020404" pitchFamily="49" charset="0"/>
              </a:rPr>
              <a:t>        </a:t>
            </a:r>
            <a:r>
              <a:rPr sz="1600" i="1">
                <a:latin typeface="Courier New" panose="02070309020205020404" pitchFamily="49" charset="0"/>
              </a:rPr>
              <a:t>file_name</a:t>
            </a:r>
            <a:r>
              <a:rPr sz="1600">
                <a:latin typeface="Courier New" panose="02070309020205020404" pitchFamily="49" charset="0"/>
              </a:rPr>
              <a:t>.java</a:t>
            </a:r>
            <a:endParaRPr sz="1600">
              <a:latin typeface="Courier New" panose="02070309020205020404" pitchFamily="49" charset="0"/>
            </a:endParaRPr>
          </a:p>
          <a:p>
            <a:endParaRPr sz="1600"/>
          </a:p>
          <a:p>
            <a:r>
              <a:t>Javadoc output will</a:t>
            </a:r>
            <a:br/>
            <a:r>
              <a:t>show pre, postconditions</a:t>
            </a:r>
          </a:p>
        </p:txBody>
      </p:sp>
      <p:pic>
        <p:nvPicPr>
          <p:cNvPr id="1413124" name="Picture 1413123"/>
          <p:cNvPicPr>
            <a:picLocks noChangeAspect="1"/>
          </p:cNvPicPr>
          <p:nvPr/>
        </p:nvPicPr>
        <p:blipFill>
          <a:blip r:embed="rId1"/>
          <a:stretch>
            <a:fillRect/>
          </a:stretch>
        </p:blipFill>
        <p:spPr>
          <a:xfrm>
            <a:off x="5105400" y="2667000"/>
            <a:ext cx="4038600" cy="3976688"/>
          </a:xfrm>
          <a:prstGeom prst="rect">
            <a:avLst/>
          </a:prstGeom>
          <a:noFill/>
          <a:ln w="9525">
            <a:noFill/>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Inheritance: Preconditions</a:t>
            </a:r>
            <a:endParaRPr lang="en-US"/>
          </a:p>
        </p:txBody>
      </p:sp>
      <p:sp>
        <p:nvSpPr>
          <p:cNvPr id="3" name="Content Placeholder 2"/>
          <p:cNvSpPr>
            <a:spLocks noGrp="1"/>
          </p:cNvSpPr>
          <p:nvPr>
            <p:ph sz="half" idx="1"/>
          </p:nvPr>
        </p:nvSpPr>
        <p:spPr/>
        <p:txBody>
          <a:bodyPr/>
          <a:p>
            <a:r>
              <a:rPr lang="en-US"/>
              <a:t>If the precondition of the ClassB.someMethod is stronger than the precondition of the ClassA.someMethod, then this is not fair to the Client</a:t>
            </a:r>
            <a:endParaRPr lang="en-US"/>
          </a:p>
          <a:p>
            <a:endParaRPr lang="en-US"/>
          </a:p>
          <a:p>
            <a:r>
              <a:rPr lang="en-US"/>
              <a:t>The code for ClassB may have been written after Client was written, so Client has no way of knowing its contractual requirements for ClassB</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pic>
        <p:nvPicPr>
          <p:cNvPr id="6" name="Content Placeholder 5"/>
          <p:cNvPicPr>
            <a:picLocks noChangeAspect="1"/>
          </p:cNvPicPr>
          <p:nvPr>
            <p:ph sz="half" idx="2"/>
          </p:nvPr>
        </p:nvPicPr>
        <p:blipFill>
          <a:blip r:embed="rId1"/>
          <a:srcRect l="52574" t="27703" r="31707" b="38761"/>
          <a:stretch>
            <a:fillRect/>
          </a:stretch>
        </p:blipFill>
        <p:spPr>
          <a:xfrm>
            <a:off x="4671060" y="1286510"/>
            <a:ext cx="3923665" cy="47078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Inheritance: Postconditions</a:t>
            </a:r>
            <a:endParaRPr lang="en-US"/>
          </a:p>
        </p:txBody>
      </p:sp>
      <p:sp>
        <p:nvSpPr>
          <p:cNvPr id="3" name="Content Placeholder 2"/>
          <p:cNvSpPr>
            <a:spLocks noGrp="1"/>
          </p:cNvSpPr>
          <p:nvPr>
            <p:ph sz="half" idx="1"/>
          </p:nvPr>
        </p:nvSpPr>
        <p:spPr>
          <a:xfrm>
            <a:off x="457200" y="1600200"/>
            <a:ext cx="7874635" cy="2855595"/>
          </a:xfrm>
        </p:spPr>
        <p:txBody>
          <a:bodyPr/>
          <a:p>
            <a:r>
              <a:rPr lang="en-US"/>
              <a:t>If the postcondition of the ClassB.someMethod is weaker than the postcondition of the ClassA.someMethod, then this is not fair to the Client</a:t>
            </a:r>
            <a:endParaRPr lang="en-US"/>
          </a:p>
          <a:p>
            <a:endParaRPr lang="en-US"/>
          </a:p>
          <a:p>
            <a:r>
              <a:rPr lang="en-US"/>
              <a:t>Since Client may not have known about ClassB, it could have relied on the stronger guarantees provided by the ClassA.someMethod</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a:xfrm>
            <a:off x="457200" y="1098550"/>
            <a:ext cx="8524240" cy="5027930"/>
          </a:xfrm>
        </p:spPr>
        <p:txBody>
          <a:bodyPr/>
          <a:p>
            <a:r>
              <a:rPr lang="en-US"/>
              <a:t>Contracts can not be broken in sub-classes!</a:t>
            </a:r>
            <a:endParaRPr lang="en-US"/>
          </a:p>
          <a:p>
            <a:r>
              <a:rPr lang="en-US"/>
              <a:t>Pre- and post-conditions of methods are inherited in redefined methods</a:t>
            </a:r>
            <a:endParaRPr lang="en-US"/>
          </a:p>
          <a:p>
            <a:pPr lvl="1"/>
            <a:r>
              <a:rPr lang="en-US"/>
              <a:t>The pre-condition can be weaker</a:t>
            </a:r>
            <a:endParaRPr lang="en-US"/>
          </a:p>
          <a:p>
            <a:pPr lvl="2"/>
            <a:r>
              <a:rPr lang="en-US"/>
              <a:t>The method accepts more input cases</a:t>
            </a:r>
            <a:endParaRPr lang="en-US"/>
          </a:p>
          <a:p>
            <a:pPr lvl="2"/>
            <a:r>
              <a:rPr lang="en-US"/>
              <a:t>The new pre-condition is combined with previous pre-condition using disjunction (OR)</a:t>
            </a:r>
            <a:endParaRPr lang="en-US"/>
          </a:p>
          <a:p>
            <a:endParaRPr lang="en-US"/>
          </a:p>
          <a:p>
            <a:pPr lvl="1"/>
            <a:r>
              <a:rPr lang="en-US"/>
              <a:t>The post-condition can be stronger</a:t>
            </a:r>
            <a:endParaRPr lang="en-US"/>
          </a:p>
          <a:p>
            <a:pPr lvl="2"/>
            <a:r>
              <a:rPr lang="en-US"/>
              <a:t>The method delivers more specify results</a:t>
            </a:r>
            <a:endParaRPr lang="en-US"/>
          </a:p>
          <a:p>
            <a:pPr lvl="2"/>
            <a:r>
              <a:rPr lang="en-US"/>
              <a:t>The new post-condition is combined with previous post-condition using conjunction (AND)</a:t>
            </a:r>
            <a:endParaRPr lang="en-US"/>
          </a:p>
          <a:p>
            <a:endParaRPr lang="en-US"/>
          </a:p>
          <a:p>
            <a:r>
              <a:rPr lang="en-US"/>
              <a:t>The invariant of the parent class are passed to the derived classes</a:t>
            </a:r>
            <a:endParaRPr lang="en-US"/>
          </a:p>
          <a:p>
            <a:pPr lvl="1"/>
            <a:r>
              <a:rPr lang="en-US"/>
              <a:t>Invariants are combined using conjunction</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Guidelines</a:t>
            </a:r>
            <a:endParaRPr lang="en-US"/>
          </a:p>
        </p:txBody>
      </p:sp>
      <p:sp>
        <p:nvSpPr>
          <p:cNvPr id="3" name="Content Placeholder 2"/>
          <p:cNvSpPr>
            <a:spLocks noGrp="1"/>
          </p:cNvSpPr>
          <p:nvPr>
            <p:ph sz="half" idx="1"/>
          </p:nvPr>
        </p:nvSpPr>
        <p:spPr>
          <a:xfrm>
            <a:off x="457200" y="994410"/>
            <a:ext cx="8350250" cy="5132070"/>
          </a:xfrm>
        </p:spPr>
        <p:txBody>
          <a:bodyPr/>
          <a:p>
            <a:r>
              <a:rPr lang="en-US"/>
              <a:t>Always check pre-conditions, raising exceptions if they fail! It must be something testable from the outside. Client should be able to claim that it has met all preconditions before it calls the code. Don't make a precondition that can only be verified by using private data.</a:t>
            </a:r>
            <a:endParaRPr lang="en-US"/>
          </a:p>
          <a:p>
            <a:endParaRPr lang="en-US"/>
          </a:p>
          <a:p>
            <a:r>
              <a:rPr lang="en-US"/>
              <a:t>Every class has its own invariant (declared as protected)!</a:t>
            </a:r>
            <a:endParaRPr lang="en-US"/>
          </a:p>
          <a:p>
            <a:r>
              <a:rPr lang="en-US"/>
              <a:t>Check post-conditions and invariants to inform yourself when you violate the contract!</a:t>
            </a:r>
            <a:endParaRPr lang="en-US"/>
          </a:p>
          <a:p>
            <a:r>
              <a:rPr lang="en-US"/>
              <a:t>Check post-conditions and invariants whenever the implementation is non-trivial!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MY" altLang="en-US"/>
              <a:t>Defensive Programming</a:t>
            </a:r>
            <a:endParaRPr lang="en-MY" altLang="en-US"/>
          </a:p>
        </p:txBody>
      </p:sp>
      <p:sp>
        <p:nvSpPr>
          <p:cNvPr id="3" name="Content Placeholder 2"/>
          <p:cNvSpPr>
            <a:spLocks noGrp="1"/>
          </p:cNvSpPr>
          <p:nvPr>
            <p:ph sz="half" idx="1"/>
          </p:nvPr>
        </p:nvSpPr>
        <p:spPr>
          <a:xfrm>
            <a:off x="457200" y="1176020"/>
            <a:ext cx="8073390" cy="4950460"/>
          </a:xfrm>
        </p:spPr>
        <p:txBody>
          <a:bodyPr/>
          <a:p>
            <a:r>
              <a:rPr lang="en-US"/>
              <a:t>Robustness</a:t>
            </a:r>
            <a:endParaRPr lang="en-US"/>
          </a:p>
          <a:p>
            <a:pPr lvl="1"/>
            <a:r>
              <a:rPr lang="en-US"/>
              <a:t>The degree to which a system or component can function correctly in the presence of invalid inputs or stressful environmental conditions.</a:t>
            </a:r>
            <a:endParaRPr lang="en-US"/>
          </a:p>
          <a:p>
            <a:endParaRPr lang="en-US"/>
          </a:p>
          <a:p>
            <a:r>
              <a:rPr lang="en-US"/>
              <a:t>Sources of errors</a:t>
            </a:r>
            <a:endParaRPr lang="en-US"/>
          </a:p>
          <a:p>
            <a:pPr lvl="1"/>
            <a:r>
              <a:rPr lang="en-US"/>
              <a:t>Erroneous usage</a:t>
            </a:r>
            <a:endParaRPr lang="en-US"/>
          </a:p>
          <a:p>
            <a:pPr lvl="2"/>
            <a:r>
              <a:rPr lang="en-US"/>
              <a:t>Wrong input data</a:t>
            </a:r>
            <a:endParaRPr lang="en-US"/>
          </a:p>
          <a:p>
            <a:pPr lvl="1"/>
            <a:r>
              <a:rPr lang="en-US"/>
              <a:t>Erroneous environmental conditions</a:t>
            </a:r>
            <a:endParaRPr lang="en-US"/>
          </a:p>
          <a:p>
            <a:pPr lvl="2"/>
            <a:r>
              <a:rPr lang="en-US"/>
              <a:t>Disk full</a:t>
            </a:r>
            <a:endParaRPr lang="en-US"/>
          </a:p>
          <a:p>
            <a:pPr lvl="2"/>
            <a:r>
              <a:rPr lang="en-US"/>
              <a:t>Network down, etc.</a:t>
            </a:r>
            <a:endParaRPr lang="en-US"/>
          </a:p>
          <a:p>
            <a:endParaRPr lang="en-US"/>
          </a:p>
          <a:p>
            <a:r>
              <a:rPr lang="en-US"/>
              <a:t>Approach</a:t>
            </a:r>
            <a:endParaRPr lang="en-US"/>
          </a:p>
          <a:p>
            <a:pPr lvl="1"/>
            <a:r>
              <a:rPr lang="en-US"/>
              <a:t>We make assumptions which error scenarios are likely to happen!</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MY" altLang="en-US"/>
              <a:t>Defensive Programming</a:t>
            </a:r>
            <a:endParaRPr lang="en-MY" altLang="en-US"/>
          </a:p>
        </p:txBody>
      </p:sp>
      <p:sp>
        <p:nvSpPr>
          <p:cNvPr id="3" name="Content Placeholder 2"/>
          <p:cNvSpPr>
            <a:spLocks noGrp="1"/>
          </p:cNvSpPr>
          <p:nvPr>
            <p:ph sz="half" idx="1"/>
          </p:nvPr>
        </p:nvSpPr>
        <p:spPr>
          <a:xfrm>
            <a:off x="457200" y="1089660"/>
            <a:ext cx="8124825" cy="5036820"/>
          </a:xfrm>
        </p:spPr>
        <p:txBody>
          <a:bodyPr/>
          <a:p>
            <a:r>
              <a:rPr lang="en-US"/>
              <a:t>A general approach to programming that assumes that errors will occur during both initial development and maintenance and, as a result, creates code in such a way that the program still operates properly when errors occur IEEE</a:t>
            </a:r>
            <a:endParaRPr lang="en-US"/>
          </a:p>
          <a:p>
            <a:endParaRPr lang="en-US"/>
          </a:p>
          <a:p>
            <a:r>
              <a:rPr lang="en-US"/>
              <a:t>Every method shall protect itself against (known) errors</a:t>
            </a:r>
            <a:endParaRPr lang="en-US"/>
          </a:p>
          <a:p>
            <a:endParaRPr lang="en-US"/>
          </a:p>
          <a:p>
            <a:r>
              <a:rPr lang="en-US"/>
              <a:t>Implementation</a:t>
            </a:r>
            <a:endParaRPr lang="en-US"/>
          </a:p>
          <a:p>
            <a:pPr lvl="1"/>
            <a:r>
              <a:rPr lang="en-US"/>
              <a:t>We try to handle all possible error scenarios</a:t>
            </a:r>
            <a:endParaRPr lang="en-US"/>
          </a:p>
          <a:p>
            <a:pPr lvl="1"/>
            <a:r>
              <a:rPr lang="en-US"/>
              <a:t>Assertions and exception handling</a:t>
            </a:r>
            <a:endParaRPr lang="en-US"/>
          </a:p>
          <a:p>
            <a:endParaRPr lang="en-US"/>
          </a:p>
          <a:p>
            <a:r>
              <a:rPr lang="en-US"/>
              <a:t>Implication</a:t>
            </a:r>
            <a:endParaRPr lang="en-US"/>
          </a:p>
          <a:p>
            <a:pPr lvl="1"/>
            <a:r>
              <a:rPr lang="en-US"/>
              <a:t>A method contains of “functional” code and of “defensive” code!</a:t>
            </a:r>
            <a:endParaRPr lang="en-US"/>
          </a:p>
          <a:p>
            <a:pPr lvl="1"/>
            <a:r>
              <a:rPr lang="en-US"/>
              <a:t>The defensive code may be very large!</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77900" y="129540"/>
            <a:ext cx="6333490" cy="704850"/>
          </a:xfrm>
        </p:spPr>
        <p:txBody>
          <a:bodyPr/>
          <a:p>
            <a:r>
              <a:rPr lang="en-US"/>
              <a:t>Protecting Your Program from Invalid Inputs</a:t>
            </a:r>
            <a:endParaRPr lang="en-US"/>
          </a:p>
        </p:txBody>
      </p:sp>
      <p:sp>
        <p:nvSpPr>
          <p:cNvPr id="3" name="Content Placeholder 2"/>
          <p:cNvSpPr>
            <a:spLocks noGrp="1"/>
          </p:cNvSpPr>
          <p:nvPr>
            <p:ph sz="half" idx="1"/>
          </p:nvPr>
        </p:nvSpPr>
        <p:spPr>
          <a:xfrm>
            <a:off x="457200" y="1176020"/>
            <a:ext cx="8384540" cy="4950460"/>
          </a:xfrm>
        </p:spPr>
        <p:txBody>
          <a:bodyPr/>
          <a:p>
            <a:r>
              <a:rPr lang="en-US"/>
              <a:t>For production software, </a:t>
            </a:r>
            <a:r>
              <a:rPr lang="en-US" b="1"/>
              <a:t>garbage in, garbage out isn't good enough</a:t>
            </a:r>
            <a:r>
              <a:rPr lang="en-US"/>
              <a:t>.</a:t>
            </a:r>
            <a:endParaRPr lang="en-US"/>
          </a:p>
          <a:p>
            <a:pPr lvl="1"/>
            <a:r>
              <a:rPr lang="en-US"/>
              <a:t>A good program never put out garbage, regardless of what it takes in.</a:t>
            </a:r>
            <a:endParaRPr lang="en-US"/>
          </a:p>
          <a:p>
            <a:pPr lvl="1"/>
            <a:r>
              <a:rPr lang="en-US"/>
              <a:t>"Garbage in, nothing out"</a:t>
            </a:r>
            <a:endParaRPr lang="en-US"/>
          </a:p>
          <a:p>
            <a:pPr lvl="1"/>
            <a:r>
              <a:rPr lang="en-US"/>
              <a:t>"Garbage in, error message out"</a:t>
            </a:r>
            <a:endParaRPr lang="en-US"/>
          </a:p>
          <a:p>
            <a:pPr lvl="1"/>
            <a:r>
              <a:rPr lang="en-US"/>
              <a:t>"No garbage allowed in“</a:t>
            </a:r>
            <a:endParaRPr lang="en-US"/>
          </a:p>
          <a:p>
            <a:r>
              <a:rPr lang="en-US"/>
              <a:t>Check the values of all data from external sources!</a:t>
            </a:r>
            <a:endParaRPr lang="en-US"/>
          </a:p>
          <a:p>
            <a:r>
              <a:rPr lang="en-US"/>
              <a:t>Decide how to handle bad inputs!</a:t>
            </a:r>
            <a:endParaRPr lang="en-US"/>
          </a:p>
          <a:p>
            <a:pPr lvl="1"/>
            <a:r>
              <a:rPr lang="en-US"/>
              <a:t>Use error-handling code for conditions you expect to occur</a:t>
            </a:r>
            <a:endParaRPr lang="en-US"/>
          </a:p>
          <a:p>
            <a:pPr lvl="1"/>
            <a:r>
              <a:rPr lang="en-US"/>
              <a:t>Use assertions for conditions that should never occur</a:t>
            </a:r>
            <a:endParaRPr lang="en-US"/>
          </a:p>
          <a:p>
            <a:pPr lvl="2"/>
            <a:r>
              <a:rPr lang="en-US"/>
              <a:t>To document contracts</a:t>
            </a:r>
            <a:endParaRPr lang="en-US"/>
          </a:p>
          <a:p>
            <a:pPr lvl="1"/>
            <a:r>
              <a:rPr lang="en-US"/>
              <a:t>For highly robust code, assert and then </a:t>
            </a:r>
            <a:r>
              <a:rPr lang="en-US" b="1"/>
              <a:t>handle the error anyway</a:t>
            </a:r>
            <a:endParaRPr lang="en-US" b="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Correctness vs. Robustness</a:t>
            </a:r>
            <a:endParaRPr lang="en-US"/>
          </a:p>
        </p:txBody>
      </p:sp>
      <p:sp>
        <p:nvSpPr>
          <p:cNvPr id="3" name="Content Placeholder 2"/>
          <p:cNvSpPr>
            <a:spLocks noGrp="1"/>
          </p:cNvSpPr>
          <p:nvPr>
            <p:ph sz="half" idx="1"/>
          </p:nvPr>
        </p:nvSpPr>
        <p:spPr>
          <a:xfrm>
            <a:off x="457200" y="1193800"/>
            <a:ext cx="8411210" cy="4932680"/>
          </a:xfrm>
        </p:spPr>
        <p:txBody>
          <a:bodyPr/>
          <a:p>
            <a:r>
              <a:rPr lang="en-US"/>
              <a:t>Correctness</a:t>
            </a:r>
            <a:endParaRPr lang="en-US"/>
          </a:p>
          <a:p>
            <a:pPr lvl="1"/>
            <a:r>
              <a:rPr lang="en-US"/>
              <a:t>Never returning an inaccurate result; returning no result is better than returning an inaccurate result.</a:t>
            </a:r>
            <a:endParaRPr lang="en-US"/>
          </a:p>
          <a:p>
            <a:endParaRPr lang="en-US"/>
          </a:p>
          <a:p>
            <a:r>
              <a:rPr lang="en-US"/>
              <a:t>Robustness</a:t>
            </a:r>
            <a:endParaRPr lang="en-US"/>
          </a:p>
          <a:p>
            <a:pPr lvl="1"/>
            <a:r>
              <a:rPr lang="en-US"/>
              <a:t>Always trying to do something that will allow the software to keep operating, even if that leads to results that are inaccurate sometimes.</a:t>
            </a:r>
            <a:endParaRPr lang="en-US"/>
          </a:p>
          <a:p>
            <a:endParaRPr lang="en-US"/>
          </a:p>
          <a:p>
            <a:r>
              <a:rPr lang="en-US"/>
              <a:t>These terms are at opposite ends of the scale from each other.</a:t>
            </a:r>
            <a:endParaRPr lang="en-US"/>
          </a:p>
          <a:p>
            <a:pPr lvl="1"/>
            <a:r>
              <a:rPr lang="en-US"/>
              <a:t>Safety-critical applications tend to favor correctness to robustness!</a:t>
            </a:r>
            <a:endParaRPr lang="en-US"/>
          </a:p>
          <a:p>
            <a:pPr lvl="1"/>
            <a:r>
              <a:rPr lang="en-US"/>
              <a:t>Consumer applications tend to favor robustness to correctness!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MY" altLang="en-US"/>
              <a:t>example</a:t>
            </a:r>
            <a:endParaRPr lang="en-MY" alt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graphicFrame>
        <p:nvGraphicFramePr>
          <p:cNvPr id="7" name="Content Placeholder 6"/>
          <p:cNvGraphicFramePr>
            <a:graphicFrameLocks noChangeAspect="1"/>
          </p:cNvGraphicFramePr>
          <p:nvPr>
            <p:ph sz="half" idx="2"/>
          </p:nvPr>
        </p:nvGraphicFramePr>
        <p:xfrm>
          <a:off x="1003935" y="1155700"/>
          <a:ext cx="6263005" cy="4174490"/>
        </p:xfrm>
        <a:graphic>
          <a:graphicData uri="http://schemas.openxmlformats.org/presentationml/2006/ole">
            <mc:AlternateContent xmlns:mc="http://schemas.openxmlformats.org/markup-compatibility/2006">
              <mc:Choice xmlns:v="urn:schemas-microsoft-com:vml" Requires="v">
                <p:oleObj spid="_x0000_s8" name="" r:id="rId1" imgW="7458075" imgH="4972050" progId="Paint.Picture">
                  <p:embed/>
                </p:oleObj>
              </mc:Choice>
              <mc:Fallback>
                <p:oleObj name="" r:id="rId1" imgW="7458075" imgH="4972050" progId="Paint.Picture">
                  <p:embed/>
                  <p:pic>
                    <p:nvPicPr>
                      <p:cNvPr id="0" name="Picture 7"/>
                      <p:cNvPicPr/>
                      <p:nvPr/>
                    </p:nvPicPr>
                    <p:blipFill>
                      <a:blip r:embed="rId2"/>
                      <a:stretch>
                        <a:fillRect/>
                      </a:stretch>
                    </p:blipFill>
                    <p:spPr>
                      <a:xfrm>
                        <a:off x="1003935" y="1155700"/>
                        <a:ext cx="6263005" cy="4174490"/>
                      </a:xfrm>
                      <a:prstGeom prst="rect">
                        <a:avLst/>
                      </a:prstGeom>
                    </p:spPr>
                  </p:pic>
                </p:oleObj>
              </mc:Fallback>
            </mc:AlternateContent>
          </a:graphicData>
        </a:graphic>
      </p:graphicFrame>
      <p:sp>
        <p:nvSpPr>
          <p:cNvPr id="9" name="Content Placeholder 8"/>
          <p:cNvSpPr/>
          <p:nvPr>
            <p:ph sz="half" idx="1"/>
          </p:nvPr>
        </p:nvSpPr>
        <p:spPr/>
        <p:txBody>
          <a:bodyPr/>
          <a:p>
            <a:endParaRPr lang="en-US"/>
          </a:p>
        </p:txBody>
      </p:sp>
      <p:sp>
        <p:nvSpPr>
          <p:cNvPr id="10" name="Left Arrow 9"/>
          <p:cNvSpPr/>
          <p:nvPr/>
        </p:nvSpPr>
        <p:spPr>
          <a:xfrm>
            <a:off x="5363845" y="1557020"/>
            <a:ext cx="2160270" cy="575945"/>
          </a:xfrm>
          <a:prstGeom prst="leftArrow">
            <a:avLst/>
          </a:prstGeom>
        </p:spPr>
        <p:style>
          <a:lnRef idx="2">
            <a:schemeClr val="accent6"/>
          </a:lnRef>
          <a:fillRef idx="1">
            <a:schemeClr val="lt1"/>
          </a:fillRef>
          <a:effectRef idx="0">
            <a:schemeClr val="accent6"/>
          </a:effectRef>
          <a:fontRef idx="minor">
            <a:schemeClr val="dk1"/>
          </a:fontRef>
        </p:style>
        <p:txBody>
          <a:bodyPr rtlCol="0" anchor="ctr"/>
          <a:p>
            <a:pPr algn="ctr"/>
            <a:r>
              <a:rPr lang="en-MY" altLang="en-US"/>
              <a:t>Check errors</a:t>
            </a:r>
            <a:endParaRPr lang="en-MY" altLang="en-US"/>
          </a:p>
        </p:txBody>
      </p:sp>
      <p:sp>
        <p:nvSpPr>
          <p:cNvPr id="11" name="Left Arrow 10"/>
          <p:cNvSpPr/>
          <p:nvPr/>
        </p:nvSpPr>
        <p:spPr>
          <a:xfrm>
            <a:off x="5031740" y="3575050"/>
            <a:ext cx="2160270" cy="575945"/>
          </a:xfrm>
          <a:prstGeom prst="leftArrow">
            <a:avLst/>
          </a:prstGeom>
        </p:spPr>
        <p:style>
          <a:lnRef idx="2">
            <a:schemeClr val="accent6"/>
          </a:lnRef>
          <a:fillRef idx="1">
            <a:schemeClr val="lt1"/>
          </a:fillRef>
          <a:effectRef idx="0">
            <a:schemeClr val="accent6"/>
          </a:effectRef>
          <a:fontRef idx="minor">
            <a:schemeClr val="dk1"/>
          </a:fontRef>
        </p:style>
        <p:txBody>
          <a:bodyPr rtlCol="0" anchor="ctr"/>
          <a:p>
            <a:pPr algn="ctr"/>
            <a:r>
              <a:rPr lang="en-MY" altLang="en-US"/>
              <a:t>Exception Handling</a:t>
            </a:r>
            <a:endParaRPr lang="en-MY"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Defensive Programming vs. Design by Contract</a:t>
            </a:r>
            <a:endParaRPr lang="en-US"/>
          </a:p>
        </p:txBody>
      </p:sp>
      <p:sp>
        <p:nvSpPr>
          <p:cNvPr id="3" name="Content Placeholder 2"/>
          <p:cNvSpPr>
            <a:spLocks noGrp="1"/>
          </p:cNvSpPr>
          <p:nvPr>
            <p:ph sz="half" idx="1"/>
          </p:nvPr>
        </p:nvSpPr>
        <p:spPr>
          <a:xfrm>
            <a:off x="457200" y="1210310"/>
            <a:ext cx="8020685" cy="4916170"/>
          </a:xfrm>
        </p:spPr>
        <p:txBody>
          <a:bodyPr/>
          <a:p>
            <a:r>
              <a:rPr lang="en-US"/>
              <a:t>Defensive programming</a:t>
            </a:r>
            <a:endParaRPr lang="en-US"/>
          </a:p>
          <a:p>
            <a:pPr lvl="1"/>
            <a:r>
              <a:rPr lang="en-US"/>
              <a:t>promotes putting checks in every method/module to detect unexpected situations</a:t>
            </a:r>
            <a:endParaRPr lang="en-US"/>
          </a:p>
          <a:p>
            <a:pPr lvl="1"/>
            <a:r>
              <a:rPr lang="en-US"/>
              <a:t>results in redundant check (both client and server)</a:t>
            </a:r>
            <a:endParaRPr lang="en-US"/>
          </a:p>
          <a:p>
            <a:pPr lvl="1"/>
            <a:r>
              <a:rPr lang="en-US"/>
              <a:t>checks can make the software more complex and harder to maintain</a:t>
            </a:r>
            <a:endParaRPr lang="en-US"/>
          </a:p>
          <a:p>
            <a:endParaRPr lang="en-US"/>
          </a:p>
          <a:p>
            <a:r>
              <a:rPr lang="en-US"/>
              <a:t>Design by Contract</a:t>
            </a:r>
            <a:endParaRPr lang="en-US"/>
          </a:p>
          <a:p>
            <a:pPr lvl="1"/>
            <a:r>
              <a:rPr lang="en-US">
                <a:sym typeface="+mn-ea"/>
              </a:rPr>
              <a:t>The responsibility assignment is clear and part of the interface</a:t>
            </a:r>
            <a:endParaRPr lang="en-US"/>
          </a:p>
          <a:p>
            <a:pPr lvl="2"/>
            <a:r>
              <a:rPr lang="en-US" sz="1400">
                <a:sym typeface="+mn-ea"/>
              </a:rPr>
              <a:t>prevents redundant checks</a:t>
            </a:r>
            <a:endParaRPr lang="en-US" sz="1400"/>
          </a:p>
          <a:p>
            <a:pPr lvl="2"/>
            <a:r>
              <a:rPr lang="en-US" sz="1400">
                <a:sym typeface="+mn-ea"/>
              </a:rPr>
              <a:t>easier to maintain</a:t>
            </a:r>
            <a:endParaRPr lang="en-US" sz="1400"/>
          </a:p>
          <a:p>
            <a:pPr lvl="2"/>
            <a:r>
              <a:rPr lang="en-US" sz="1400">
                <a:sym typeface="+mn-ea"/>
              </a:rPr>
              <a:t>provides a (partial) specification of functionality</a:t>
            </a:r>
            <a:endParaRPr lang="en-US" sz="2100"/>
          </a:p>
          <a:p>
            <a:pPr marL="685800" lvl="2" indent="0">
              <a:buNone/>
            </a:pPr>
            <a:endParaRPr lang="en-US"/>
          </a:p>
          <a:p>
            <a:r>
              <a:rPr lang="en-MY" altLang="en-US">
                <a:sym typeface="+mn-ea"/>
              </a:rPr>
              <a:t>Both are needed based on situations</a:t>
            </a:r>
            <a:endParaRPr lang="en-US"/>
          </a:p>
          <a:p>
            <a:pPr marL="685800" lvl="2" indent="0">
              <a:buNone/>
            </a:pP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ltLang="en-US" dirty="0"/>
              <a:t>DevOps: Agile &amp; Lean to Operations Work</a:t>
            </a:r>
            <a:endParaRPr lang="en-MY" altLang="en-US" dirty="0"/>
          </a:p>
        </p:txBody>
      </p:sp>
      <p:sp>
        <p:nvSpPr>
          <p:cNvPr id="3" name="Content Placeholder 2"/>
          <p:cNvSpPr>
            <a:spLocks noGrp="1"/>
          </p:cNvSpPr>
          <p:nvPr>
            <p:ph sz="half" idx="1"/>
          </p:nvPr>
        </p:nvSpPr>
        <p:spPr>
          <a:xfrm>
            <a:off x="457200" y="1193165"/>
            <a:ext cx="8077200" cy="2994025"/>
          </a:xfrm>
        </p:spPr>
        <p:txBody>
          <a:bodyPr/>
          <a:lstStyle/>
          <a:p>
            <a:r>
              <a:rPr lang="en-MY" altLang="en-US" dirty="0"/>
              <a:t>DevOps: a practice of </a:t>
            </a:r>
            <a:r>
              <a:rPr lang="en-MY" altLang="en-US" b="1" dirty="0">
                <a:solidFill>
                  <a:srgbClr val="C00000"/>
                </a:solidFill>
              </a:rPr>
              <a:t>operations</a:t>
            </a:r>
            <a:r>
              <a:rPr lang="en-MY" altLang="en-US" b="1" dirty="0">
                <a:solidFill>
                  <a:srgbClr val="FF0000"/>
                </a:solidFill>
              </a:rPr>
              <a:t> </a:t>
            </a:r>
            <a:r>
              <a:rPr lang="en-MY" altLang="en-US" dirty="0"/>
              <a:t>and </a:t>
            </a:r>
            <a:r>
              <a:rPr lang="en-MY" altLang="en-US" b="1" dirty="0">
                <a:solidFill>
                  <a:srgbClr val="C00000"/>
                </a:solidFill>
              </a:rPr>
              <a:t>developments</a:t>
            </a:r>
            <a:r>
              <a:rPr lang="en-MY" altLang="en-US" b="1" dirty="0">
                <a:solidFill>
                  <a:srgbClr val="FF0000"/>
                </a:solidFill>
              </a:rPr>
              <a:t> </a:t>
            </a:r>
            <a:r>
              <a:rPr lang="en-MY" altLang="en-US" dirty="0">
                <a:solidFill>
                  <a:schemeClr val="tx1"/>
                </a:solidFill>
              </a:rPr>
              <a:t>engineers participating together in the entire service lifecycle from design through development process to production support</a:t>
            </a:r>
            <a:endParaRPr lang="en-MY" altLang="en-US" dirty="0">
              <a:solidFill>
                <a:schemeClr val="tx1"/>
              </a:solidFill>
            </a:endParaRPr>
          </a:p>
        </p:txBody>
      </p:sp>
      <p:sp>
        <p:nvSpPr>
          <p:cNvPr id="4" name="Date Placeholder 3"/>
          <p:cNvSpPr>
            <a:spLocks noGrp="1"/>
          </p:cNvSpPr>
          <p:nvPr>
            <p:ph type="dt" sz="half" idx="10"/>
          </p:nvPr>
        </p:nvSpPr>
        <p:spPr/>
        <p:txBody>
          <a:bodyPr/>
          <a:lstStyle/>
          <a:p>
            <a:r>
              <a:rPr lang="en-US"/>
              <a:t>2020</a:t>
            </a:r>
            <a:endParaRPr lang="en-US"/>
          </a:p>
        </p:txBody>
      </p:sp>
      <p:sp>
        <p:nvSpPr>
          <p:cNvPr id="5" name="Footer Placeholder 4"/>
          <p:cNvSpPr>
            <a:spLocks noGrp="1"/>
          </p:cNvSpPr>
          <p:nvPr>
            <p:ph type="ftr" sz="quarter" idx="11"/>
          </p:nvPr>
        </p:nvSpPr>
        <p:spPr/>
        <p:txBody>
          <a:bodyPr/>
          <a:lstStyle/>
          <a:p>
            <a:r>
              <a:rPr lang="en-US"/>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fld>
            <a:endParaRPr lang="en-US"/>
          </a:p>
        </p:txBody>
      </p:sp>
      <p:pic>
        <p:nvPicPr>
          <p:cNvPr id="7" name="Content Placeholder 6"/>
          <p:cNvPicPr>
            <a:picLocks noGrp="1" noChangeAspect="1"/>
          </p:cNvPicPr>
          <p:nvPr>
            <p:ph sz="half" idx="2"/>
          </p:nvPr>
        </p:nvPicPr>
        <p:blipFill>
          <a:blip r:embed="rId1"/>
          <a:srcRect t="20772" b="14985"/>
          <a:stretch>
            <a:fillRect/>
          </a:stretch>
        </p:blipFill>
        <p:spPr>
          <a:xfrm>
            <a:off x="1034732" y="2749058"/>
            <a:ext cx="6922135" cy="2501265"/>
          </a:xfrm>
          <a:prstGeom prst="rect">
            <a:avLst/>
          </a:prstGeom>
        </p:spPr>
      </p:pic>
      <p:sp>
        <p:nvSpPr>
          <p:cNvPr id="8" name="TextBox 7"/>
          <p:cNvSpPr txBox="1"/>
          <p:nvPr/>
        </p:nvSpPr>
        <p:spPr>
          <a:xfrm>
            <a:off x="1181100" y="5484495"/>
            <a:ext cx="5074659" cy="369332"/>
          </a:xfrm>
          <a:prstGeom prst="rect">
            <a:avLst/>
          </a:prstGeom>
          <a:noFill/>
        </p:spPr>
        <p:txBody>
          <a:bodyPr wrap="none" rtlCol="0">
            <a:spAutoFit/>
          </a:bodyPr>
          <a:lstStyle/>
          <a:p>
            <a:r>
              <a:rPr lang="en-MY" dirty="0"/>
              <a:t>Source: </a:t>
            </a:r>
            <a:r>
              <a:rPr lang="en-GB" dirty="0">
                <a:hlinkClick r:id="rId2"/>
              </a:rPr>
              <a:t>https://theagileadmin.com/what-is-devops/</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ltLang="en-US" dirty="0"/>
              <a:t>DevOps and Tools</a:t>
            </a:r>
            <a:endParaRPr lang="en-MY" altLang="en-US" dirty="0"/>
          </a:p>
        </p:txBody>
      </p:sp>
      <p:sp>
        <p:nvSpPr>
          <p:cNvPr id="3" name="Content Placeholder 2"/>
          <p:cNvSpPr>
            <a:spLocks noGrp="1"/>
          </p:cNvSpPr>
          <p:nvPr>
            <p:ph sz="half" idx="1"/>
          </p:nvPr>
        </p:nvSpPr>
        <p:spPr>
          <a:xfrm>
            <a:off x="135253" y="1097915"/>
            <a:ext cx="5105401" cy="4800600"/>
          </a:xfrm>
        </p:spPr>
        <p:txBody>
          <a:bodyPr>
            <a:noAutofit/>
          </a:bodyPr>
          <a:lstStyle/>
          <a:p>
            <a:r>
              <a:rPr lang="en-US" sz="2400" dirty="0"/>
              <a:t>DevOps is a set of practices that emphasizes the </a:t>
            </a:r>
            <a:r>
              <a:rPr lang="en-US" sz="2400" b="1" dirty="0">
                <a:solidFill>
                  <a:srgbClr val="C00000"/>
                </a:solidFill>
              </a:rPr>
              <a:t>collaboration and communication </a:t>
            </a:r>
            <a:r>
              <a:rPr lang="en-US" sz="2400" dirty="0"/>
              <a:t>of both software developers and other information technology (IT) professionals, while </a:t>
            </a:r>
            <a:r>
              <a:rPr lang="en-US" sz="2400" b="1" dirty="0">
                <a:solidFill>
                  <a:srgbClr val="C00000"/>
                </a:solidFill>
              </a:rPr>
              <a:t>automating the process </a:t>
            </a:r>
            <a:r>
              <a:rPr lang="en-US" sz="2400" dirty="0"/>
              <a:t>of software delivery and infrastructure changes, its implementation can include the definition of the </a:t>
            </a:r>
            <a:r>
              <a:rPr lang="en-US" sz="2400" b="1" dirty="0">
                <a:solidFill>
                  <a:srgbClr val="C00000"/>
                </a:solidFill>
              </a:rPr>
              <a:t>series of tools </a:t>
            </a:r>
            <a:r>
              <a:rPr lang="en-US" sz="2400" dirty="0"/>
              <a:t>used at various stages of the lifecycle</a:t>
            </a:r>
            <a:endParaRPr lang="en-US" sz="2400" dirty="0"/>
          </a:p>
          <a:p>
            <a:r>
              <a:rPr lang="en-US" sz="2400" dirty="0"/>
              <a:t>There is no one product that can be considered a single DevOps tool</a:t>
            </a:r>
            <a:endParaRPr lang="en-US" sz="2400" dirty="0"/>
          </a:p>
        </p:txBody>
      </p:sp>
      <p:sp>
        <p:nvSpPr>
          <p:cNvPr id="5" name="Date Placeholder 4"/>
          <p:cNvSpPr>
            <a:spLocks noGrp="1"/>
          </p:cNvSpPr>
          <p:nvPr>
            <p:ph type="dt" sz="half" idx="10"/>
          </p:nvPr>
        </p:nvSpPr>
        <p:spPr/>
        <p:txBody>
          <a:bodyPr/>
          <a:lstStyle/>
          <a:p>
            <a:r>
              <a:rPr lang="en-US"/>
              <a:t>2020</a:t>
            </a:r>
            <a:endParaRPr lang="en-US"/>
          </a:p>
        </p:txBody>
      </p:sp>
      <p:sp>
        <p:nvSpPr>
          <p:cNvPr id="6" name="Footer Placeholder 5"/>
          <p:cNvSpPr>
            <a:spLocks noGrp="1"/>
          </p:cNvSpPr>
          <p:nvPr>
            <p:ph type="ftr" sz="quarter" idx="11"/>
          </p:nvPr>
        </p:nvSpPr>
        <p:spPr/>
        <p:txBody>
          <a:bodyPr/>
          <a:lstStyle/>
          <a:p>
            <a:r>
              <a:rPr lang="en-US"/>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fld>
            <a:endParaRPr lang="en-US"/>
          </a:p>
        </p:txBody>
      </p:sp>
      <p:pic>
        <p:nvPicPr>
          <p:cNvPr id="8" name="Content Placeholder 7"/>
          <p:cNvPicPr>
            <a:picLocks noGrp="1" noChangeAspect="1"/>
          </p:cNvPicPr>
          <p:nvPr>
            <p:ph sz="half" idx="2"/>
          </p:nvPr>
        </p:nvPicPr>
        <p:blipFill>
          <a:blip r:embed="rId1"/>
          <a:stretch>
            <a:fillRect/>
          </a:stretch>
        </p:blipFill>
        <p:spPr>
          <a:xfrm>
            <a:off x="5169035" y="1721485"/>
            <a:ext cx="3822566" cy="3039710"/>
          </a:xfrm>
          <a:prstGeom prst="rect">
            <a:avLst/>
          </a:prstGeom>
        </p:spPr>
      </p:pic>
      <p:sp>
        <p:nvSpPr>
          <p:cNvPr id="4" name="TextBox 3"/>
          <p:cNvSpPr txBox="1"/>
          <p:nvPr/>
        </p:nvSpPr>
        <p:spPr>
          <a:xfrm>
            <a:off x="457200" y="6131684"/>
            <a:ext cx="8421986" cy="369332"/>
          </a:xfrm>
          <a:prstGeom prst="rect">
            <a:avLst/>
          </a:prstGeom>
          <a:noFill/>
        </p:spPr>
        <p:txBody>
          <a:bodyPr wrap="none" rtlCol="0">
            <a:spAutoFit/>
          </a:bodyPr>
          <a:lstStyle/>
          <a:p>
            <a:r>
              <a:rPr lang="en-MY" dirty="0"/>
              <a:t>Source: </a:t>
            </a:r>
            <a:r>
              <a:rPr lang="en-GB" dirty="0">
                <a:hlinkClick r:id="rId2"/>
              </a:rPr>
              <a:t>https://dzone.com/articles/an-agile-introduction-to-devops-what-is-devops-any</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ltLang="en-US" dirty="0"/>
              <a:t>Agile DevOps…</a:t>
            </a:r>
            <a:endParaRPr lang="en-MY" altLang="en-US" dirty="0"/>
          </a:p>
        </p:txBody>
      </p:sp>
      <p:sp>
        <p:nvSpPr>
          <p:cNvPr id="4" name="Content Placeholder 3"/>
          <p:cNvSpPr>
            <a:spLocks noGrp="1"/>
          </p:cNvSpPr>
          <p:nvPr>
            <p:ph sz="half" idx="2"/>
          </p:nvPr>
        </p:nvSpPr>
        <p:spPr>
          <a:xfrm>
            <a:off x="5067300" y="1583935"/>
            <a:ext cx="4069715" cy="4940056"/>
          </a:xfrm>
        </p:spPr>
        <p:txBody>
          <a:bodyPr>
            <a:normAutofit fontScale="75000" lnSpcReduction="20000"/>
          </a:bodyPr>
          <a:lstStyle/>
          <a:p>
            <a:r>
              <a:rPr lang="en-US" dirty="0"/>
              <a:t>Agile along with DevOps has a </a:t>
            </a:r>
            <a:r>
              <a:rPr lang="en-US" b="1" dirty="0">
                <a:solidFill>
                  <a:srgbClr val="C00000"/>
                </a:solidFill>
              </a:rPr>
              <a:t>collaborative working style</a:t>
            </a:r>
            <a:r>
              <a:rPr lang="en-US" dirty="0"/>
              <a:t>, irrespective of the method implemented</a:t>
            </a:r>
            <a:endParaRPr lang="en-US" dirty="0"/>
          </a:p>
          <a:p>
            <a:r>
              <a:rPr lang="en-US" dirty="0"/>
              <a:t>Both the methodologies rely on </a:t>
            </a:r>
            <a:r>
              <a:rPr lang="en-US" b="1" dirty="0">
                <a:solidFill>
                  <a:srgbClr val="C00000"/>
                </a:solidFill>
              </a:rPr>
              <a:t>continual feedback and routine updates </a:t>
            </a:r>
            <a:r>
              <a:rPr lang="en-US" dirty="0"/>
              <a:t>about the work progress from internal and external stakeholders</a:t>
            </a:r>
            <a:endParaRPr lang="en-US" dirty="0"/>
          </a:p>
          <a:p>
            <a:r>
              <a:rPr lang="en-US" dirty="0"/>
              <a:t>Both Agile and DevOps focus on </a:t>
            </a:r>
            <a:r>
              <a:rPr lang="en-US" b="1" dirty="0">
                <a:solidFill>
                  <a:srgbClr val="C00000"/>
                </a:solidFill>
              </a:rPr>
              <a:t>developing the product at a fast pace</a:t>
            </a:r>
            <a:r>
              <a:rPr lang="en-US" dirty="0"/>
              <a:t>, by keeping smaller teams and using a risk-free approach</a:t>
            </a:r>
            <a:endParaRPr lang="en-US" dirty="0"/>
          </a:p>
          <a:p>
            <a:r>
              <a:rPr lang="en-US" dirty="0"/>
              <a:t>Both methods </a:t>
            </a:r>
            <a:r>
              <a:rPr lang="en-US" b="1" dirty="0">
                <a:solidFill>
                  <a:srgbClr val="C00000"/>
                </a:solidFill>
              </a:rPr>
              <a:t>adapt to the business requirements </a:t>
            </a:r>
            <a:r>
              <a:rPr lang="en-US" dirty="0"/>
              <a:t>and continually improve the products to fulfill customer expectations</a:t>
            </a:r>
            <a:endParaRPr lang="en-US" dirty="0"/>
          </a:p>
          <a:p>
            <a:endParaRPr lang="en-US" dirty="0"/>
          </a:p>
        </p:txBody>
      </p:sp>
      <p:sp>
        <p:nvSpPr>
          <p:cNvPr id="5" name="Date Placeholder 4"/>
          <p:cNvSpPr>
            <a:spLocks noGrp="1"/>
          </p:cNvSpPr>
          <p:nvPr>
            <p:ph type="dt" sz="half" idx="10"/>
          </p:nvPr>
        </p:nvSpPr>
        <p:spPr/>
        <p:txBody>
          <a:bodyPr/>
          <a:lstStyle/>
          <a:p>
            <a:r>
              <a:rPr lang="en-US"/>
              <a:t>2020</a:t>
            </a:r>
            <a:endParaRPr lang="en-US"/>
          </a:p>
        </p:txBody>
      </p:sp>
      <p:sp>
        <p:nvSpPr>
          <p:cNvPr id="6" name="Footer Placeholder 5"/>
          <p:cNvSpPr>
            <a:spLocks noGrp="1"/>
          </p:cNvSpPr>
          <p:nvPr>
            <p:ph type="ftr" sz="quarter" idx="11"/>
          </p:nvPr>
        </p:nvSpPr>
        <p:spPr/>
        <p:txBody>
          <a:bodyPr/>
          <a:lstStyle/>
          <a:p>
            <a:r>
              <a:rPr lang="en-US"/>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fld>
            <a:endParaRPr lang="en-US"/>
          </a:p>
        </p:txBody>
      </p:sp>
      <p:pic>
        <p:nvPicPr>
          <p:cNvPr id="8" name="Content Placeholder 7"/>
          <p:cNvPicPr>
            <a:picLocks noGrp="1" noChangeAspect="1"/>
          </p:cNvPicPr>
          <p:nvPr>
            <p:ph sz="half" idx="1"/>
          </p:nvPr>
        </p:nvPicPr>
        <p:blipFill>
          <a:blip r:embed="rId1"/>
          <a:stretch>
            <a:fillRect/>
          </a:stretch>
        </p:blipFill>
        <p:spPr>
          <a:xfrm>
            <a:off x="466090" y="1003935"/>
            <a:ext cx="4601210" cy="4601210"/>
          </a:xfrm>
          <a:prstGeom prst="rect">
            <a:avLst/>
          </a:prstGeom>
        </p:spPr>
      </p:pic>
      <p:sp>
        <p:nvSpPr>
          <p:cNvPr id="3" name="TextBox 2"/>
          <p:cNvSpPr txBox="1"/>
          <p:nvPr/>
        </p:nvSpPr>
        <p:spPr>
          <a:xfrm>
            <a:off x="905510" y="5700453"/>
            <a:ext cx="3953775" cy="369332"/>
          </a:xfrm>
          <a:prstGeom prst="rect">
            <a:avLst/>
          </a:prstGeom>
          <a:noFill/>
        </p:spPr>
        <p:txBody>
          <a:bodyPr wrap="none" rtlCol="0">
            <a:spAutoFit/>
          </a:bodyPr>
          <a:lstStyle/>
          <a:p>
            <a:r>
              <a:rPr lang="en-GB" dirty="0">
                <a:hlinkClick r:id="rId2"/>
              </a:rPr>
              <a:t>https://www.educba.com/agile-devops/</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altLang="en-US" dirty="0"/>
              <a:t>Agile DevOps</a:t>
            </a:r>
            <a:endParaRPr lang="en-MY" altLang="en-US" dirty="0"/>
          </a:p>
        </p:txBody>
      </p:sp>
      <p:sp>
        <p:nvSpPr>
          <p:cNvPr id="3" name="Content Placeholder 2"/>
          <p:cNvSpPr>
            <a:spLocks noGrp="1"/>
          </p:cNvSpPr>
          <p:nvPr>
            <p:ph sz="half" idx="1"/>
          </p:nvPr>
        </p:nvSpPr>
        <p:spPr>
          <a:xfrm>
            <a:off x="457200" y="1600200"/>
            <a:ext cx="8229600" cy="4526280"/>
          </a:xfrm>
        </p:spPr>
        <p:txBody>
          <a:bodyPr>
            <a:normAutofit lnSpcReduction="10000"/>
          </a:bodyPr>
          <a:lstStyle/>
          <a:p>
            <a:r>
              <a:rPr lang="en-GB" dirty="0"/>
              <a:t>Agile DevOps is an </a:t>
            </a:r>
            <a:r>
              <a:rPr lang="en-GB" b="1" dirty="0">
                <a:solidFill>
                  <a:srgbClr val="C00000"/>
                </a:solidFill>
              </a:rPr>
              <a:t>extended agile methodology </a:t>
            </a:r>
            <a:r>
              <a:rPr lang="en-GB" dirty="0"/>
              <a:t>for product development where DevOps is a succession to agile and not a replacement</a:t>
            </a:r>
            <a:endParaRPr lang="en-US" dirty="0">
              <a:sym typeface="+mn-ea"/>
            </a:endParaRPr>
          </a:p>
          <a:p>
            <a:r>
              <a:rPr lang="en-US" dirty="0">
                <a:sym typeface="+mn-ea"/>
              </a:rPr>
              <a:t>In a nutshell, Agile works towards software development by making </a:t>
            </a:r>
            <a:r>
              <a:rPr lang="en-MY" altLang="en-US" b="1" dirty="0">
                <a:solidFill>
                  <a:srgbClr val="C00000"/>
                </a:solidFill>
                <a:sym typeface="+mn-ea"/>
              </a:rPr>
              <a:t>continuous </a:t>
            </a:r>
            <a:r>
              <a:rPr lang="en-US" b="1" dirty="0">
                <a:solidFill>
                  <a:srgbClr val="C00000"/>
                </a:solidFill>
                <a:sym typeface="+mn-ea"/>
              </a:rPr>
              <a:t>alterations</a:t>
            </a:r>
            <a:r>
              <a:rPr lang="en-US" dirty="0">
                <a:sym typeface="+mn-ea"/>
              </a:rPr>
              <a:t>, adapting and developing products as per customer expectations</a:t>
            </a:r>
            <a:endParaRPr lang="en-US" dirty="0">
              <a:sym typeface="+mn-ea"/>
            </a:endParaRPr>
          </a:p>
          <a:p>
            <a:r>
              <a:rPr lang="en-US" dirty="0">
                <a:sym typeface="+mn-ea"/>
              </a:rPr>
              <a:t>While DevOps through </a:t>
            </a:r>
            <a:r>
              <a:rPr lang="en-US" b="1" dirty="0">
                <a:solidFill>
                  <a:srgbClr val="C00000"/>
                </a:solidFill>
                <a:sym typeface="+mn-ea"/>
              </a:rPr>
              <a:t>automated processes</a:t>
            </a:r>
            <a:r>
              <a:rPr lang="en-US" dirty="0">
                <a:solidFill>
                  <a:srgbClr val="C00000"/>
                </a:solidFill>
                <a:sym typeface="+mn-ea"/>
              </a:rPr>
              <a:t> </a:t>
            </a:r>
            <a:r>
              <a:rPr lang="en-US" dirty="0">
                <a:sym typeface="+mn-ea"/>
              </a:rPr>
              <a:t>and </a:t>
            </a:r>
            <a:r>
              <a:rPr lang="en-US" b="1" dirty="0">
                <a:solidFill>
                  <a:srgbClr val="C00000"/>
                </a:solidFill>
                <a:sym typeface="+mn-ea"/>
              </a:rPr>
              <a:t>bug detection</a:t>
            </a:r>
            <a:r>
              <a:rPr lang="en-US" dirty="0">
                <a:solidFill>
                  <a:srgbClr val="C00000"/>
                </a:solidFill>
                <a:sym typeface="+mn-ea"/>
              </a:rPr>
              <a:t> </a:t>
            </a:r>
            <a:r>
              <a:rPr lang="en-US" dirty="0">
                <a:sym typeface="+mn-ea"/>
              </a:rPr>
              <a:t>at an early stage of software development focusses primarily on deploying products of high quality</a:t>
            </a:r>
            <a:endParaRPr lang="en-US" dirty="0"/>
          </a:p>
        </p:txBody>
      </p:sp>
      <p:sp>
        <p:nvSpPr>
          <p:cNvPr id="5" name="Date Placeholder 4"/>
          <p:cNvSpPr>
            <a:spLocks noGrp="1"/>
          </p:cNvSpPr>
          <p:nvPr>
            <p:ph type="dt" sz="half" idx="10"/>
          </p:nvPr>
        </p:nvSpPr>
        <p:spPr/>
        <p:txBody>
          <a:bodyPr/>
          <a:lstStyle/>
          <a:p>
            <a:r>
              <a:rPr lang="en-US"/>
              <a:t>2020</a:t>
            </a:r>
            <a:endParaRPr lang="en-US"/>
          </a:p>
        </p:txBody>
      </p:sp>
      <p:sp>
        <p:nvSpPr>
          <p:cNvPr id="6" name="Footer Placeholder 5"/>
          <p:cNvSpPr>
            <a:spLocks noGrp="1"/>
          </p:cNvSpPr>
          <p:nvPr>
            <p:ph type="ftr" sz="quarter" idx="11"/>
          </p:nvPr>
        </p:nvSpPr>
        <p:spPr/>
        <p:txBody>
          <a:bodyPr/>
          <a:lstStyle/>
          <a:p>
            <a:r>
              <a:rPr lang="en-US"/>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fld>
            <a:endParaRPr lang="en-US"/>
          </a:p>
        </p:txBody>
      </p:sp>
      <p:sp>
        <p:nvSpPr>
          <p:cNvPr id="4" name="TextBox 3"/>
          <p:cNvSpPr txBox="1"/>
          <p:nvPr/>
        </p:nvSpPr>
        <p:spPr>
          <a:xfrm>
            <a:off x="838200" y="6124376"/>
            <a:ext cx="4708597" cy="369332"/>
          </a:xfrm>
          <a:prstGeom prst="rect">
            <a:avLst/>
          </a:prstGeom>
          <a:noFill/>
        </p:spPr>
        <p:txBody>
          <a:bodyPr wrap="none" rtlCol="0">
            <a:spAutoFit/>
          </a:bodyPr>
          <a:lstStyle/>
          <a:p>
            <a:r>
              <a:rPr lang="en-MY" dirty="0"/>
              <a:t>Source: </a:t>
            </a:r>
            <a:r>
              <a:rPr lang="en-GB" dirty="0">
                <a:hlinkClick r:id="rId1"/>
              </a:rPr>
              <a:t>https://www.educba.com/agile-devops/</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Summary</a:t>
            </a:r>
            <a:endParaRPr lang="en-US"/>
          </a:p>
        </p:txBody>
      </p:sp>
      <p:sp>
        <p:nvSpPr>
          <p:cNvPr id="3" name="Content Placeholder 2"/>
          <p:cNvSpPr>
            <a:spLocks noGrp="1"/>
          </p:cNvSpPr>
          <p:nvPr>
            <p:ph idx="1"/>
          </p:nvPr>
        </p:nvSpPr>
        <p:spPr/>
        <p:txBody>
          <a:bodyPr/>
          <a:p>
            <a:r>
              <a:rPr lang="en-US"/>
              <a:t>Design by Contract</a:t>
            </a:r>
            <a:endParaRPr lang="en-US"/>
          </a:p>
          <a:p>
            <a:pPr lvl="1"/>
            <a:r>
              <a:rPr lang="en-US"/>
              <a:t>bridges the gap between formal correctness proofs and writing code without any specification</a:t>
            </a:r>
            <a:endParaRPr lang="en-US"/>
          </a:p>
          <a:p>
            <a:pPr lvl="1"/>
            <a:r>
              <a:rPr lang="en-US"/>
              <a:t>shall be used to specify interfaces</a:t>
            </a:r>
            <a:endParaRPr lang="en-US"/>
          </a:p>
          <a:p>
            <a:pPr lvl="1"/>
            <a:r>
              <a:rPr lang="en-US"/>
              <a:t>validates contracts at run-time</a:t>
            </a:r>
            <a:endParaRPr lang="en-US"/>
          </a:p>
          <a:p>
            <a:pPr lvl="1"/>
            <a:r>
              <a:rPr lang="en-US"/>
              <a:t>does not obviate the need for tests</a:t>
            </a:r>
            <a:endParaRPr lang="en-US"/>
          </a:p>
          <a:p>
            <a:pPr lvl="1"/>
            <a:r>
              <a:rPr lang="en-US"/>
              <a:t>supports to implement “correct” programs</a:t>
            </a:r>
            <a:endParaRPr lang="en-US"/>
          </a:p>
          <a:p>
            <a:pPr lvl="1"/>
            <a:r>
              <a:rPr lang="en-US"/>
              <a:t>does not support the robustness of programs</a:t>
            </a:r>
            <a:endParaRPr lang="en-US"/>
          </a:p>
          <a:p>
            <a:r>
              <a:rPr lang="en-US"/>
              <a:t>Defensive Programming</a:t>
            </a:r>
            <a:endParaRPr lang="en-US"/>
          </a:p>
          <a:p>
            <a:pPr lvl="1"/>
            <a:r>
              <a:rPr lang="en-US"/>
              <a:t>is needed for product-quality programs</a:t>
            </a:r>
            <a:endParaRPr lang="en-US"/>
          </a:p>
          <a:p>
            <a:pPr lvl="1"/>
            <a:r>
              <a:rPr lang="en-US"/>
              <a:t>supports the robustness of programs</a:t>
            </a:r>
            <a:endParaRPr lang="en-US"/>
          </a:p>
          <a:p>
            <a:pPr lvl="1"/>
            <a:r>
              <a:rPr lang="en-US"/>
              <a:t>makes code larger and sometimes more complex</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AED07EB6-92FB-A244-B50B-574F9C36E22B}" type="datetime1">
              <a:rPr kumimoji="0" lang="en-MY" altLang="en-US" sz="900" b="0" i="0" u="none" strike="noStrike" kern="1200" cap="none" spc="0" normalizeH="0" baseline="0" noProof="0" smtClean="0">
                <a:ln>
                  <a:noFill/>
                </a:ln>
                <a:solidFill>
                  <a:srgbClr val="898989"/>
                </a:solidFill>
                <a:effectLst/>
                <a:uLnTx/>
                <a:uFillTx/>
                <a:latin typeface="Calibri" panose="020F0502020204030204" charset="0"/>
                <a:ea typeface="MS PGothic" panose="020B0600070205080204" pitchFamily="34" charset="-128"/>
                <a:cs typeface="+mn-cs"/>
              </a:rPr>
            </a:fld>
            <a:endParaRPr kumimoji="0" lang="en-US" altLang="en-US" sz="900" b="0" i="0" u="none" strike="noStrike" kern="1200" cap="none" spc="0" normalizeH="0" baseline="0" noProof="0">
              <a:ln>
                <a:noFill/>
              </a:ln>
              <a:solidFill>
                <a:srgbClr val="898989"/>
              </a:solidFill>
              <a:effectLst/>
              <a:uLnTx/>
              <a:uFillTx/>
              <a:latin typeface="Calibri" panose="020F0502020204030204" charset="0"/>
              <a:ea typeface="MS PGothic" panose="020B0600070205080204" pitchFamily="34" charset="-128"/>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pPr lvl="0" eaLnBrk="1" hangingPunct="1"/>
            <a:fld id="{9A0DB2DC-4C9A-4742-B13C-FB6460FD3503}" type="slidenum">
              <a:rPr lang="en-US">
                <a:ea typeface="Times New Roman" panose="02020603050405020304" pitchFamily="18" charset="0"/>
              </a:rPr>
            </a:fld>
            <a:endParaRPr lang="en-US">
              <a:latin typeface="Times New Roman" panose="02020603050405020304" pitchFamily="18" charset="0"/>
              <a:ea typeface="Times New Roman" panose="02020603050405020304" pitchFamily="18" charset="0"/>
            </a:endParaRPr>
          </a:p>
        </p:txBody>
      </p:sp>
      <p:sp>
        <p:nvSpPr>
          <p:cNvPr id="1416194" name="Title 1416193"/>
          <p:cNvSpPr>
            <a:spLocks noGrp="1"/>
          </p:cNvSpPr>
          <p:nvPr>
            <p:ph type="title"/>
          </p:nvPr>
        </p:nvSpPr>
        <p:spPr/>
        <p:txBody>
          <a:bodyPr anchor="b"/>
          <a:p>
            <a:r>
              <a:t>References</a:t>
            </a:r>
          </a:p>
        </p:txBody>
      </p:sp>
      <p:sp>
        <p:nvSpPr>
          <p:cNvPr id="1416195" name="Text Placeholder 1416194"/>
          <p:cNvSpPr>
            <a:spLocks noGrp="1"/>
          </p:cNvSpPr>
          <p:nvPr>
            <p:ph type="body" idx="1"/>
          </p:nvPr>
        </p:nvSpPr>
        <p:spPr/>
        <p:txBody>
          <a:bodyPr/>
          <a:p>
            <a:r>
              <a:t>Java Tutorial: Programming with Assertions.</a:t>
            </a:r>
            <a:br/>
            <a:r>
              <a:rPr sz="2000"/>
              <a:t>http://java.sun.com/j2se/1.4/docs/guide/lang/assert.html</a:t>
            </a:r>
            <a:endParaRPr sz="2000"/>
          </a:p>
          <a:p>
            <a:endParaRPr sz="2000"/>
          </a:p>
          <a:p>
            <a:r>
              <a:t>Java Boutique: Assertions in Java.</a:t>
            </a:r>
            <a:br/>
            <a:r>
              <a:rPr sz="2000" err="1"/>
              <a:t>http://javaboutique.internet.com</a:t>
            </a:r>
            <a:r>
              <a:rPr sz="2000"/>
              <a:t>/tutorials/assertions/</a:t>
            </a:r>
            <a:endParaRPr sz="2000"/>
          </a:p>
          <a:p>
            <a:endParaRPr sz="2000"/>
          </a:p>
          <a:p>
            <a:r>
              <a:t>Sample chapter on assertions in Java.</a:t>
            </a:r>
            <a:br/>
            <a:r>
              <a:rPr sz="1600"/>
              <a:t>http://www.ii.uib.no/~khalid/pgjc/jcbook/JC2_Ch05-assertions-excerpt.pdf</a:t>
            </a:r>
            <a:endParaRPr sz="1600"/>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14683</Words>
  <Application>WPS Presentation</Application>
  <PresentationFormat>On-screen Show (4:3)</PresentationFormat>
  <Paragraphs>467</Paragraphs>
  <Slides>32</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4" baseType="lpstr">
      <vt:lpstr>Arial</vt:lpstr>
      <vt:lpstr>SimSun</vt:lpstr>
      <vt:lpstr>Wingdings</vt:lpstr>
      <vt:lpstr>Calibri</vt:lpstr>
      <vt:lpstr>MS PGothic</vt:lpstr>
      <vt:lpstr>Times New Roman</vt:lpstr>
      <vt:lpstr>Verdana</vt:lpstr>
      <vt:lpstr>Courier New</vt:lpstr>
      <vt:lpstr>Microsoft YaHei</vt:lpstr>
      <vt:lpstr>Arial Unicode MS</vt:lpstr>
      <vt:lpstr>Office Theme</vt:lpstr>
      <vt:lpstr>Paint.Picture</vt:lpstr>
      <vt:lpstr>Design By Contract</vt:lpstr>
      <vt:lpstr>AGENDA</vt:lpstr>
      <vt:lpstr>Design by contract</vt:lpstr>
      <vt:lpstr>Example contract issue</vt:lpstr>
      <vt:lpstr>Hoare Logic</vt:lpstr>
      <vt:lpstr>Design by contract</vt:lpstr>
      <vt:lpstr>Precondition example</vt:lpstr>
      <vt:lpstr>Exceptions in the contract</vt:lpstr>
      <vt:lpstr>Example exception code</vt:lpstr>
      <vt:lpstr>What makes a precondition?</vt:lpstr>
      <vt:lpstr>What about other tests?</vt:lpstr>
      <vt:lpstr>Assertions in Java</vt:lpstr>
      <vt:lpstr>Example assertion code</vt:lpstr>
      <vt:lpstr>Postconditions</vt:lpstr>
      <vt:lpstr>Class invariants</vt:lpstr>
      <vt:lpstr>Running Javadoc with tags</vt:lpstr>
      <vt:lpstr>Inheritance: Preconditions</vt:lpstr>
      <vt:lpstr>Inheritance: Postconditions</vt:lpstr>
      <vt:lpstr>PowerPoint 演示文稿</vt:lpstr>
      <vt:lpstr>Guidelines</vt:lpstr>
      <vt:lpstr>Defensive Programming</vt:lpstr>
      <vt:lpstr>Defensive Programming</vt:lpstr>
      <vt:lpstr>Protecting Your Program from Invalid Inputs</vt:lpstr>
      <vt:lpstr>Correctness vs. Robustness</vt:lpstr>
      <vt:lpstr>example</vt:lpstr>
      <vt:lpstr>Defensive Programming vs. Design by Contract</vt:lpstr>
      <vt:lpstr>DevOps: Agile &amp; Lean to Operations Work</vt:lpstr>
      <vt:lpstr>DevOps and Tools</vt:lpstr>
      <vt:lpstr>Agile DevOps…</vt:lpstr>
      <vt:lpstr>Agile DevOps</vt:lpstr>
      <vt:lpstr>Summary</vt:lpstr>
      <vt:lpstr>References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User</cp:lastModifiedBy>
  <cp:revision>102</cp:revision>
  <dcterms:created xsi:type="dcterms:W3CDTF">2014-12-31T03:26:00Z</dcterms:created>
  <dcterms:modified xsi:type="dcterms:W3CDTF">2020-03-08T02:45:18Z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1033-11.2.0.9085</vt:lpwstr>
  </property>
</Properties>
</file>