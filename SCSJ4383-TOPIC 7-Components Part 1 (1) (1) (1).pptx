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256" r:id="rId3"/>
    <p:sldId id="286" r:id="rId5"/>
    <p:sldId id="384" r:id="rId6"/>
    <p:sldId id="385" r:id="rId7"/>
    <p:sldId id="386" r:id="rId8"/>
    <p:sldId id="387" r:id="rId9"/>
    <p:sldId id="388" r:id="rId10"/>
    <p:sldId id="396" r:id="rId11"/>
    <p:sldId id="397" r:id="rId12"/>
    <p:sldId id="398" r:id="rId13"/>
    <p:sldId id="399" r:id="rId14"/>
    <p:sldId id="400" r:id="rId15"/>
    <p:sldId id="401" r:id="rId16"/>
    <p:sldId id="402" r:id="rId17"/>
    <p:sldId id="403" r:id="rId18"/>
    <p:sldId id="404" r:id="rId19"/>
    <p:sldId id="405" r:id="rId20"/>
    <p:sldId id="406" r:id="rId21"/>
    <p:sldId id="414" r:id="rId22"/>
    <p:sldId id="415" r:id="rId23"/>
    <p:sldId id="389" r:id="rId24"/>
    <p:sldId id="390" r:id="rId25"/>
    <p:sldId id="391" r:id="rId26"/>
    <p:sldId id="392" r:id="rId27"/>
    <p:sldId id="393" r:id="rId28"/>
    <p:sldId id="394" r:id="rId29"/>
    <p:sldId id="367" r:id="rId3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charset="0"/>
        <a:ea typeface="MS PGothic" panose="020B0600070205080204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2519"/>
    <p:restoredTop sz="94777"/>
  </p:normalViewPr>
  <p:slideViewPr>
    <p:cSldViewPr showGuides="1">
      <p:cViewPr varScale="1">
        <p:scale>
          <a:sx n="91" d="100"/>
          <a:sy n="91" d="100"/>
        </p:scale>
        <p:origin x="1856" y="184"/>
      </p:cViewPr>
      <p:guideLst>
        <p:guide orient="horz" pos="220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85D2040-5E3A-7441-8115-D67C19C67EFE}" type="doc">
      <dgm:prSet loTypeId="urn:microsoft.com/office/officeart/2005/8/layout/process1" loCatId="" qsTypeId="urn:microsoft.com/office/officeart/2005/8/quickstyle/simple1" qsCatId="simple" csTypeId="urn:microsoft.com/office/officeart/2005/8/colors/accent3_2" csCatId="accent3" phldr="1"/>
      <dgm:spPr/>
    </dgm:pt>
    <dgm:pt modelId="{80CCA00D-B35D-284B-8D7A-0B2B2991D368}">
      <dgm:prSet phldrT="[Text]"/>
      <dgm:spPr/>
      <dgm:t>
        <a:bodyPr/>
        <a:lstStyle/>
        <a:p>
          <a:r>
            <a:rPr lang="en-GB" dirty="0"/>
            <a:t>Implementation</a:t>
          </a:r>
        </a:p>
      </dgm:t>
    </dgm:pt>
    <dgm:pt modelId="{4E01A525-A727-0544-9F11-51A20F61D86C}" cxnId="{25CB390F-B03A-4E43-A7CC-E3954200D643}" type="parTrans">
      <dgm:prSet/>
      <dgm:spPr/>
      <dgm:t>
        <a:bodyPr/>
        <a:lstStyle/>
        <a:p>
          <a:endParaRPr lang="en-GB"/>
        </a:p>
      </dgm:t>
    </dgm:pt>
    <dgm:pt modelId="{7061C6F9-D630-5E41-905F-0508502EF2B4}" cxnId="{25CB390F-B03A-4E43-A7CC-E3954200D643}" type="sibTrans">
      <dgm:prSet/>
      <dgm:spPr/>
      <dgm:t>
        <a:bodyPr/>
        <a:lstStyle/>
        <a:p>
          <a:endParaRPr lang="en-GB"/>
        </a:p>
      </dgm:t>
    </dgm:pt>
    <dgm:pt modelId="{2F59D7D6-22D1-D640-A0C3-B14387FAB93A}">
      <dgm:prSet phldrT="[Text]"/>
      <dgm:spPr/>
      <dgm:t>
        <a:bodyPr/>
        <a:lstStyle/>
        <a:p>
          <a:r>
            <a:rPr lang="en-GB" dirty="0"/>
            <a:t>Interoperability</a:t>
          </a:r>
        </a:p>
      </dgm:t>
    </dgm:pt>
    <dgm:pt modelId="{5A759EE7-B6E7-B34E-9245-D439EF7645C5}" cxnId="{CFAFC11F-DCC6-5C45-98F4-29AE6B2845E6}" type="parTrans">
      <dgm:prSet/>
      <dgm:spPr/>
      <dgm:t>
        <a:bodyPr/>
        <a:lstStyle/>
        <a:p>
          <a:endParaRPr lang="en-GB"/>
        </a:p>
      </dgm:t>
    </dgm:pt>
    <dgm:pt modelId="{56C48B2B-D859-5C4E-9D4B-276FA1A89C44}" cxnId="{CFAFC11F-DCC6-5C45-98F4-29AE6B2845E6}" type="sibTrans">
      <dgm:prSet/>
      <dgm:spPr/>
      <dgm:t>
        <a:bodyPr/>
        <a:lstStyle/>
        <a:p>
          <a:endParaRPr lang="en-GB"/>
        </a:p>
      </dgm:t>
    </dgm:pt>
    <dgm:pt modelId="{DA8A09D2-9546-FD46-B0DC-5223124AA2C2}">
      <dgm:prSet phldrT="[Text]"/>
      <dgm:spPr/>
      <dgm:t>
        <a:bodyPr/>
        <a:lstStyle/>
        <a:p>
          <a:r>
            <a:rPr lang="en-GB" dirty="0"/>
            <a:t>Customization</a:t>
          </a:r>
        </a:p>
      </dgm:t>
    </dgm:pt>
    <dgm:pt modelId="{4869AE38-AC2E-B040-AFB7-28715F4262E4}" cxnId="{04F6FB36-CE5E-944D-86A0-BCC159EA9887}" type="parTrans">
      <dgm:prSet/>
      <dgm:spPr/>
      <dgm:t>
        <a:bodyPr/>
        <a:lstStyle/>
        <a:p>
          <a:endParaRPr lang="en-GB"/>
        </a:p>
      </dgm:t>
    </dgm:pt>
    <dgm:pt modelId="{C23E2862-1255-E648-BC63-87681D6836FC}" cxnId="{04F6FB36-CE5E-944D-86A0-BCC159EA9887}" type="sibTrans">
      <dgm:prSet/>
      <dgm:spPr/>
      <dgm:t>
        <a:bodyPr/>
        <a:lstStyle/>
        <a:p>
          <a:endParaRPr lang="en-GB"/>
        </a:p>
      </dgm:t>
    </dgm:pt>
    <dgm:pt modelId="{71E06E4C-87C7-E44D-8E4B-09B6E4C086B7}">
      <dgm:prSet/>
      <dgm:spPr/>
      <dgm:t>
        <a:bodyPr/>
        <a:lstStyle/>
        <a:p>
          <a:r>
            <a:rPr lang="en-GB" dirty="0"/>
            <a:t>Composition</a:t>
          </a:r>
        </a:p>
      </dgm:t>
    </dgm:pt>
    <dgm:pt modelId="{D8430116-2F45-9C40-A883-29C95D883847}" cxnId="{BFA4FEBE-223B-5B4C-A025-FC8D2BF49CB1}" type="parTrans">
      <dgm:prSet/>
      <dgm:spPr/>
      <dgm:t>
        <a:bodyPr/>
        <a:lstStyle/>
        <a:p>
          <a:endParaRPr lang="en-GB"/>
        </a:p>
      </dgm:t>
    </dgm:pt>
    <dgm:pt modelId="{24287923-578B-F94A-9051-ECB7E4A10A49}" cxnId="{BFA4FEBE-223B-5B4C-A025-FC8D2BF49CB1}" type="sibTrans">
      <dgm:prSet/>
      <dgm:spPr/>
      <dgm:t>
        <a:bodyPr/>
        <a:lstStyle/>
        <a:p>
          <a:endParaRPr lang="en-GB"/>
        </a:p>
      </dgm:t>
    </dgm:pt>
    <dgm:pt modelId="{70E2C155-D322-1246-BA54-F9E440F31285}">
      <dgm:prSet/>
      <dgm:spPr/>
      <dgm:t>
        <a:bodyPr/>
        <a:lstStyle/>
        <a:p>
          <a:r>
            <a:rPr lang="en-GB" dirty="0"/>
            <a:t>Evaluation</a:t>
          </a:r>
        </a:p>
      </dgm:t>
    </dgm:pt>
    <dgm:pt modelId="{D54CFCA5-CA02-2041-ADF5-18DB2BDC49A3}" cxnId="{CCC06ECA-96F9-2E43-983F-A1630DE69974}" type="parTrans">
      <dgm:prSet/>
      <dgm:spPr/>
      <dgm:t>
        <a:bodyPr/>
        <a:lstStyle/>
        <a:p>
          <a:endParaRPr lang="en-GB"/>
        </a:p>
      </dgm:t>
    </dgm:pt>
    <dgm:pt modelId="{3E6CFD49-1E4A-914A-9086-E4EF9188BD55}" cxnId="{CCC06ECA-96F9-2E43-983F-A1630DE69974}" type="sibTrans">
      <dgm:prSet/>
      <dgm:spPr/>
      <dgm:t>
        <a:bodyPr/>
        <a:lstStyle/>
        <a:p>
          <a:endParaRPr lang="en-GB"/>
        </a:p>
      </dgm:t>
    </dgm:pt>
    <dgm:pt modelId="{FDBAB6AE-4C59-B54A-A408-A4270C2DE13D}">
      <dgm:prSet/>
      <dgm:spPr/>
      <dgm:t>
        <a:bodyPr/>
        <a:lstStyle/>
        <a:p>
          <a:r>
            <a:rPr lang="en-GB" dirty="0"/>
            <a:t>Deployment</a:t>
          </a:r>
        </a:p>
      </dgm:t>
    </dgm:pt>
    <dgm:pt modelId="{668E760C-DD0F-C549-B79B-01EE8E9CE139}" cxnId="{DC220333-590E-1946-80E8-AA45BBA3B5B9}" type="parTrans">
      <dgm:prSet/>
      <dgm:spPr/>
      <dgm:t>
        <a:bodyPr/>
        <a:lstStyle/>
        <a:p>
          <a:endParaRPr lang="en-GB"/>
        </a:p>
      </dgm:t>
    </dgm:pt>
    <dgm:pt modelId="{C6EA372D-F1C7-DA4E-A224-3F02823074FA}" cxnId="{DC220333-590E-1946-80E8-AA45BBA3B5B9}" type="sibTrans">
      <dgm:prSet/>
      <dgm:spPr/>
      <dgm:t>
        <a:bodyPr/>
        <a:lstStyle/>
        <a:p>
          <a:endParaRPr lang="en-GB"/>
        </a:p>
      </dgm:t>
    </dgm:pt>
    <dgm:pt modelId="{21DEC583-374F-7A44-9570-B2DECFC6F858}" type="pres">
      <dgm:prSet presAssocID="{A85D2040-5E3A-7441-8115-D67C19C67EFE}" presName="Name0" presStyleCnt="0">
        <dgm:presLayoutVars>
          <dgm:dir/>
          <dgm:resizeHandles val="exact"/>
        </dgm:presLayoutVars>
      </dgm:prSet>
      <dgm:spPr/>
    </dgm:pt>
    <dgm:pt modelId="{3F644106-249A-404D-9E29-B253D231D5C0}" type="pres">
      <dgm:prSet presAssocID="{80CCA00D-B35D-284B-8D7A-0B2B2991D368}" presName="node" presStyleLbl="node1" presStyleIdx="0" presStyleCnt="6">
        <dgm:presLayoutVars>
          <dgm:bulletEnabled val="1"/>
        </dgm:presLayoutVars>
      </dgm:prSet>
      <dgm:spPr/>
    </dgm:pt>
    <dgm:pt modelId="{CD45E41D-7C8A-474D-ACAE-FE2D67710DD1}" type="pres">
      <dgm:prSet presAssocID="{7061C6F9-D630-5E41-905F-0508502EF2B4}" presName="sibTrans" presStyleLbl="sibTrans2D1" presStyleIdx="0" presStyleCnt="5"/>
      <dgm:spPr/>
    </dgm:pt>
    <dgm:pt modelId="{B92F0BA9-D7D3-C046-88D8-B7EA7B5C4B3A}" type="pres">
      <dgm:prSet presAssocID="{7061C6F9-D630-5E41-905F-0508502EF2B4}" presName="connectorText" presStyleLbl="sibTrans2D1" presStyleIdx="0" presStyleCnt="5"/>
      <dgm:spPr/>
    </dgm:pt>
    <dgm:pt modelId="{2D40784B-B37B-8D4F-97D6-E74213A0BCD0}" type="pres">
      <dgm:prSet presAssocID="{2F59D7D6-22D1-D640-A0C3-B14387FAB93A}" presName="node" presStyleLbl="node1" presStyleIdx="1" presStyleCnt="6">
        <dgm:presLayoutVars>
          <dgm:bulletEnabled val="1"/>
        </dgm:presLayoutVars>
      </dgm:prSet>
      <dgm:spPr/>
    </dgm:pt>
    <dgm:pt modelId="{698CE814-85CF-8848-B94C-1345B3F36D2E}" type="pres">
      <dgm:prSet presAssocID="{56C48B2B-D859-5C4E-9D4B-276FA1A89C44}" presName="sibTrans" presStyleLbl="sibTrans2D1" presStyleIdx="1" presStyleCnt="5"/>
      <dgm:spPr/>
    </dgm:pt>
    <dgm:pt modelId="{BA824B3C-5143-D742-8EC4-2225E064E70B}" type="pres">
      <dgm:prSet presAssocID="{56C48B2B-D859-5C4E-9D4B-276FA1A89C44}" presName="connectorText" presStyleLbl="sibTrans2D1" presStyleIdx="1" presStyleCnt="5"/>
      <dgm:spPr/>
    </dgm:pt>
    <dgm:pt modelId="{5061DAC8-A40B-7942-BEF1-1371998A0594}" type="pres">
      <dgm:prSet presAssocID="{DA8A09D2-9546-FD46-B0DC-5223124AA2C2}" presName="node" presStyleLbl="node1" presStyleIdx="2" presStyleCnt="6">
        <dgm:presLayoutVars>
          <dgm:bulletEnabled val="1"/>
        </dgm:presLayoutVars>
      </dgm:prSet>
      <dgm:spPr/>
    </dgm:pt>
    <dgm:pt modelId="{3D19B625-DB00-9647-95A3-C5C6AB5EA2EC}" type="pres">
      <dgm:prSet presAssocID="{C23E2862-1255-E648-BC63-87681D6836FC}" presName="sibTrans" presStyleLbl="sibTrans2D1" presStyleIdx="2" presStyleCnt="5"/>
      <dgm:spPr/>
    </dgm:pt>
    <dgm:pt modelId="{B2597056-46C7-0441-A084-134A0300422A}" type="pres">
      <dgm:prSet presAssocID="{C23E2862-1255-E648-BC63-87681D6836FC}" presName="connectorText" presStyleLbl="sibTrans2D1" presStyleIdx="2" presStyleCnt="5"/>
      <dgm:spPr/>
    </dgm:pt>
    <dgm:pt modelId="{29718531-71B8-7143-806C-EA2CBEE5BBE1}" type="pres">
      <dgm:prSet presAssocID="{71E06E4C-87C7-E44D-8E4B-09B6E4C086B7}" presName="node" presStyleLbl="node1" presStyleIdx="3" presStyleCnt="6">
        <dgm:presLayoutVars>
          <dgm:bulletEnabled val="1"/>
        </dgm:presLayoutVars>
      </dgm:prSet>
      <dgm:spPr/>
    </dgm:pt>
    <dgm:pt modelId="{07E7CC52-657C-554C-A385-C4CAF12F599F}" type="pres">
      <dgm:prSet presAssocID="{24287923-578B-F94A-9051-ECB7E4A10A49}" presName="sibTrans" presStyleLbl="sibTrans2D1" presStyleIdx="3" presStyleCnt="5"/>
      <dgm:spPr/>
    </dgm:pt>
    <dgm:pt modelId="{B50413FA-BFBE-D84E-BDE9-FDC7D73D78F5}" type="pres">
      <dgm:prSet presAssocID="{24287923-578B-F94A-9051-ECB7E4A10A49}" presName="connectorText" presStyleLbl="sibTrans2D1" presStyleIdx="3" presStyleCnt="5"/>
      <dgm:spPr/>
    </dgm:pt>
    <dgm:pt modelId="{B56F1421-1BEF-D743-BD2E-5B9CB30D4ABD}" type="pres">
      <dgm:prSet presAssocID="{70E2C155-D322-1246-BA54-F9E440F31285}" presName="node" presStyleLbl="node1" presStyleIdx="4" presStyleCnt="6">
        <dgm:presLayoutVars>
          <dgm:bulletEnabled val="1"/>
        </dgm:presLayoutVars>
      </dgm:prSet>
      <dgm:spPr/>
    </dgm:pt>
    <dgm:pt modelId="{95303E99-852F-C04B-9D89-50417371455B}" type="pres">
      <dgm:prSet presAssocID="{3E6CFD49-1E4A-914A-9086-E4EF9188BD55}" presName="sibTrans" presStyleLbl="sibTrans2D1" presStyleIdx="4" presStyleCnt="5"/>
      <dgm:spPr/>
    </dgm:pt>
    <dgm:pt modelId="{FCA2EC58-4116-5B4D-9AF1-1EE554776B85}" type="pres">
      <dgm:prSet presAssocID="{3E6CFD49-1E4A-914A-9086-E4EF9188BD55}" presName="connectorText" presStyleLbl="sibTrans2D1" presStyleIdx="4" presStyleCnt="5"/>
      <dgm:spPr/>
    </dgm:pt>
    <dgm:pt modelId="{931C4805-47DF-DC49-8BAF-81B91874A78E}" type="pres">
      <dgm:prSet presAssocID="{FDBAB6AE-4C59-B54A-A408-A4270C2DE13D}" presName="node" presStyleLbl="node1" presStyleIdx="5" presStyleCnt="6">
        <dgm:presLayoutVars>
          <dgm:bulletEnabled val="1"/>
        </dgm:presLayoutVars>
      </dgm:prSet>
      <dgm:spPr/>
    </dgm:pt>
  </dgm:ptLst>
  <dgm:cxnLst>
    <dgm:cxn modelId="{3579410D-8630-2343-9CED-D8F9E1FF580F}" type="presOf" srcId="{2F59D7D6-22D1-D640-A0C3-B14387FAB93A}" destId="{2D40784B-B37B-8D4F-97D6-E74213A0BCD0}" srcOrd="0" destOrd="0" presId="urn:microsoft.com/office/officeart/2005/8/layout/process1"/>
    <dgm:cxn modelId="{25CB390F-B03A-4E43-A7CC-E3954200D643}" srcId="{A85D2040-5E3A-7441-8115-D67C19C67EFE}" destId="{80CCA00D-B35D-284B-8D7A-0B2B2991D368}" srcOrd="0" destOrd="0" parTransId="{4E01A525-A727-0544-9F11-51A20F61D86C}" sibTransId="{7061C6F9-D630-5E41-905F-0508502EF2B4}"/>
    <dgm:cxn modelId="{88029219-99D1-7145-BC1A-E72C4BAB99C6}" type="presOf" srcId="{56C48B2B-D859-5C4E-9D4B-276FA1A89C44}" destId="{BA824B3C-5143-D742-8EC4-2225E064E70B}" srcOrd="1" destOrd="0" presId="urn:microsoft.com/office/officeart/2005/8/layout/process1"/>
    <dgm:cxn modelId="{CFAFC11F-DCC6-5C45-98F4-29AE6B2845E6}" srcId="{A85D2040-5E3A-7441-8115-D67C19C67EFE}" destId="{2F59D7D6-22D1-D640-A0C3-B14387FAB93A}" srcOrd="1" destOrd="0" parTransId="{5A759EE7-B6E7-B34E-9245-D439EF7645C5}" sibTransId="{56C48B2B-D859-5C4E-9D4B-276FA1A89C44}"/>
    <dgm:cxn modelId="{DC220333-590E-1946-80E8-AA45BBA3B5B9}" srcId="{A85D2040-5E3A-7441-8115-D67C19C67EFE}" destId="{FDBAB6AE-4C59-B54A-A408-A4270C2DE13D}" srcOrd="5" destOrd="0" parTransId="{668E760C-DD0F-C549-B79B-01EE8E9CE139}" sibTransId="{C6EA372D-F1C7-DA4E-A224-3F02823074FA}"/>
    <dgm:cxn modelId="{04F6FB36-CE5E-944D-86A0-BCC159EA9887}" srcId="{A85D2040-5E3A-7441-8115-D67C19C67EFE}" destId="{DA8A09D2-9546-FD46-B0DC-5223124AA2C2}" srcOrd="2" destOrd="0" parTransId="{4869AE38-AC2E-B040-AFB7-28715F4262E4}" sibTransId="{C23E2862-1255-E648-BC63-87681D6836FC}"/>
    <dgm:cxn modelId="{88CA7F37-3EB9-E342-AFBE-60D4A1136872}" type="presOf" srcId="{80CCA00D-B35D-284B-8D7A-0B2B2991D368}" destId="{3F644106-249A-404D-9E29-B253D231D5C0}" srcOrd="0" destOrd="0" presId="urn:microsoft.com/office/officeart/2005/8/layout/process1"/>
    <dgm:cxn modelId="{9B51264C-369C-6649-A988-4F9D19A947C8}" type="presOf" srcId="{C23E2862-1255-E648-BC63-87681D6836FC}" destId="{3D19B625-DB00-9647-95A3-C5C6AB5EA2EC}" srcOrd="0" destOrd="0" presId="urn:microsoft.com/office/officeart/2005/8/layout/process1"/>
    <dgm:cxn modelId="{0F7F2D51-C3C5-3F43-872E-1924217D9713}" type="presOf" srcId="{DA8A09D2-9546-FD46-B0DC-5223124AA2C2}" destId="{5061DAC8-A40B-7942-BEF1-1371998A0594}" srcOrd="0" destOrd="0" presId="urn:microsoft.com/office/officeart/2005/8/layout/process1"/>
    <dgm:cxn modelId="{52C8FD58-84AC-2843-9F5E-F79783DC1488}" type="presOf" srcId="{7061C6F9-D630-5E41-905F-0508502EF2B4}" destId="{CD45E41D-7C8A-474D-ACAE-FE2D67710DD1}" srcOrd="0" destOrd="0" presId="urn:microsoft.com/office/officeart/2005/8/layout/process1"/>
    <dgm:cxn modelId="{853B4D68-06B0-5043-AF20-9E94A3310AAB}" type="presOf" srcId="{A85D2040-5E3A-7441-8115-D67C19C67EFE}" destId="{21DEC583-374F-7A44-9570-B2DECFC6F858}" srcOrd="0" destOrd="0" presId="urn:microsoft.com/office/officeart/2005/8/layout/process1"/>
    <dgm:cxn modelId="{E85E746A-07E9-734E-A07C-09F0C31846CB}" type="presOf" srcId="{56C48B2B-D859-5C4E-9D4B-276FA1A89C44}" destId="{698CE814-85CF-8848-B94C-1345B3F36D2E}" srcOrd="0" destOrd="0" presId="urn:microsoft.com/office/officeart/2005/8/layout/process1"/>
    <dgm:cxn modelId="{2DDBCB70-2AB2-FB49-AC86-EE85C002B409}" type="presOf" srcId="{24287923-578B-F94A-9051-ECB7E4A10A49}" destId="{07E7CC52-657C-554C-A385-C4CAF12F599F}" srcOrd="0" destOrd="0" presId="urn:microsoft.com/office/officeart/2005/8/layout/process1"/>
    <dgm:cxn modelId="{2CD9A97A-8893-F547-ADE3-CE7920B12F4D}" type="presOf" srcId="{3E6CFD49-1E4A-914A-9086-E4EF9188BD55}" destId="{FCA2EC58-4116-5B4D-9AF1-1EE554776B85}" srcOrd="1" destOrd="0" presId="urn:microsoft.com/office/officeart/2005/8/layout/process1"/>
    <dgm:cxn modelId="{7134658D-3B51-D94E-B5BE-0D13E88C21E3}" type="presOf" srcId="{70E2C155-D322-1246-BA54-F9E440F31285}" destId="{B56F1421-1BEF-D743-BD2E-5B9CB30D4ABD}" srcOrd="0" destOrd="0" presId="urn:microsoft.com/office/officeart/2005/8/layout/process1"/>
    <dgm:cxn modelId="{5BEEC790-C640-874E-AD80-F7411E183CF6}" type="presOf" srcId="{7061C6F9-D630-5E41-905F-0508502EF2B4}" destId="{B92F0BA9-D7D3-C046-88D8-B7EA7B5C4B3A}" srcOrd="1" destOrd="0" presId="urn:microsoft.com/office/officeart/2005/8/layout/process1"/>
    <dgm:cxn modelId="{BFA4FEBE-223B-5B4C-A025-FC8D2BF49CB1}" srcId="{A85D2040-5E3A-7441-8115-D67C19C67EFE}" destId="{71E06E4C-87C7-E44D-8E4B-09B6E4C086B7}" srcOrd="3" destOrd="0" parTransId="{D8430116-2F45-9C40-A883-29C95D883847}" sibTransId="{24287923-578B-F94A-9051-ECB7E4A10A49}"/>
    <dgm:cxn modelId="{379FF4BF-92C3-434F-B72B-A9E7F808C55D}" type="presOf" srcId="{71E06E4C-87C7-E44D-8E4B-09B6E4C086B7}" destId="{29718531-71B8-7143-806C-EA2CBEE5BBE1}" srcOrd="0" destOrd="0" presId="urn:microsoft.com/office/officeart/2005/8/layout/process1"/>
    <dgm:cxn modelId="{CCC06ECA-96F9-2E43-983F-A1630DE69974}" srcId="{A85D2040-5E3A-7441-8115-D67C19C67EFE}" destId="{70E2C155-D322-1246-BA54-F9E440F31285}" srcOrd="4" destOrd="0" parTransId="{D54CFCA5-CA02-2041-ADF5-18DB2BDC49A3}" sibTransId="{3E6CFD49-1E4A-914A-9086-E4EF9188BD55}"/>
    <dgm:cxn modelId="{9EE9C4D3-C11F-B445-A54B-9969ED22D153}" type="presOf" srcId="{FDBAB6AE-4C59-B54A-A408-A4270C2DE13D}" destId="{931C4805-47DF-DC49-8BAF-81B91874A78E}" srcOrd="0" destOrd="0" presId="urn:microsoft.com/office/officeart/2005/8/layout/process1"/>
    <dgm:cxn modelId="{DEFCD5D9-13A6-8E44-8C0C-DD23BE5D4C5B}" type="presOf" srcId="{24287923-578B-F94A-9051-ECB7E4A10A49}" destId="{B50413FA-BFBE-D84E-BDE9-FDC7D73D78F5}" srcOrd="1" destOrd="0" presId="urn:microsoft.com/office/officeart/2005/8/layout/process1"/>
    <dgm:cxn modelId="{C04410E8-1D4E-2344-A710-E3C16453395D}" type="presOf" srcId="{C23E2862-1255-E648-BC63-87681D6836FC}" destId="{B2597056-46C7-0441-A084-134A0300422A}" srcOrd="1" destOrd="0" presId="urn:microsoft.com/office/officeart/2005/8/layout/process1"/>
    <dgm:cxn modelId="{568C27FF-5610-5846-A366-39513FF8AEE3}" type="presOf" srcId="{3E6CFD49-1E4A-914A-9086-E4EF9188BD55}" destId="{95303E99-852F-C04B-9D89-50417371455B}" srcOrd="0" destOrd="0" presId="urn:microsoft.com/office/officeart/2005/8/layout/process1"/>
    <dgm:cxn modelId="{95F0B2C5-06CE-474F-A183-F4BACE43E0E7}" type="presParOf" srcId="{21DEC583-374F-7A44-9570-B2DECFC6F858}" destId="{3F644106-249A-404D-9E29-B253D231D5C0}" srcOrd="0" destOrd="0" presId="urn:microsoft.com/office/officeart/2005/8/layout/process1"/>
    <dgm:cxn modelId="{761714D4-A35F-C943-B29D-29E1E3D4FA0F}" type="presParOf" srcId="{21DEC583-374F-7A44-9570-B2DECFC6F858}" destId="{CD45E41D-7C8A-474D-ACAE-FE2D67710DD1}" srcOrd="1" destOrd="0" presId="urn:microsoft.com/office/officeart/2005/8/layout/process1"/>
    <dgm:cxn modelId="{3E88693A-5C4F-A84F-8B59-0265BC3A2854}" type="presParOf" srcId="{CD45E41D-7C8A-474D-ACAE-FE2D67710DD1}" destId="{B92F0BA9-D7D3-C046-88D8-B7EA7B5C4B3A}" srcOrd="0" destOrd="0" presId="urn:microsoft.com/office/officeart/2005/8/layout/process1"/>
    <dgm:cxn modelId="{534A41BB-EF0D-464E-9249-99BF929EE92A}" type="presParOf" srcId="{21DEC583-374F-7A44-9570-B2DECFC6F858}" destId="{2D40784B-B37B-8D4F-97D6-E74213A0BCD0}" srcOrd="2" destOrd="0" presId="urn:microsoft.com/office/officeart/2005/8/layout/process1"/>
    <dgm:cxn modelId="{F865C974-A7A9-0149-A4B2-7FEC3BDAFFF0}" type="presParOf" srcId="{21DEC583-374F-7A44-9570-B2DECFC6F858}" destId="{698CE814-85CF-8848-B94C-1345B3F36D2E}" srcOrd="3" destOrd="0" presId="urn:microsoft.com/office/officeart/2005/8/layout/process1"/>
    <dgm:cxn modelId="{9DA12293-5788-CF44-A3A6-801272257385}" type="presParOf" srcId="{698CE814-85CF-8848-B94C-1345B3F36D2E}" destId="{BA824B3C-5143-D742-8EC4-2225E064E70B}" srcOrd="0" destOrd="0" presId="urn:microsoft.com/office/officeart/2005/8/layout/process1"/>
    <dgm:cxn modelId="{C1F796FE-E5E1-354B-8CE3-98CBE0603ABC}" type="presParOf" srcId="{21DEC583-374F-7A44-9570-B2DECFC6F858}" destId="{5061DAC8-A40B-7942-BEF1-1371998A0594}" srcOrd="4" destOrd="0" presId="urn:microsoft.com/office/officeart/2005/8/layout/process1"/>
    <dgm:cxn modelId="{44F75831-F51B-6345-99AE-EE39A1C7CDA7}" type="presParOf" srcId="{21DEC583-374F-7A44-9570-B2DECFC6F858}" destId="{3D19B625-DB00-9647-95A3-C5C6AB5EA2EC}" srcOrd="5" destOrd="0" presId="urn:microsoft.com/office/officeart/2005/8/layout/process1"/>
    <dgm:cxn modelId="{BCA78ADB-D805-8541-8DC7-F620DB3FE85D}" type="presParOf" srcId="{3D19B625-DB00-9647-95A3-C5C6AB5EA2EC}" destId="{B2597056-46C7-0441-A084-134A0300422A}" srcOrd="0" destOrd="0" presId="urn:microsoft.com/office/officeart/2005/8/layout/process1"/>
    <dgm:cxn modelId="{B6454B55-06B1-4D44-809F-A75DA184E7A6}" type="presParOf" srcId="{21DEC583-374F-7A44-9570-B2DECFC6F858}" destId="{29718531-71B8-7143-806C-EA2CBEE5BBE1}" srcOrd="6" destOrd="0" presId="urn:microsoft.com/office/officeart/2005/8/layout/process1"/>
    <dgm:cxn modelId="{1F228DE9-5341-8342-88D7-F34873806264}" type="presParOf" srcId="{21DEC583-374F-7A44-9570-B2DECFC6F858}" destId="{07E7CC52-657C-554C-A385-C4CAF12F599F}" srcOrd="7" destOrd="0" presId="urn:microsoft.com/office/officeart/2005/8/layout/process1"/>
    <dgm:cxn modelId="{413CA31F-9CCD-3447-A0FC-28ECB0A22EA0}" type="presParOf" srcId="{07E7CC52-657C-554C-A385-C4CAF12F599F}" destId="{B50413FA-BFBE-D84E-BDE9-FDC7D73D78F5}" srcOrd="0" destOrd="0" presId="urn:microsoft.com/office/officeart/2005/8/layout/process1"/>
    <dgm:cxn modelId="{D2AE4694-58E0-C54F-BA32-920A08A08848}" type="presParOf" srcId="{21DEC583-374F-7A44-9570-B2DECFC6F858}" destId="{B56F1421-1BEF-D743-BD2E-5B9CB30D4ABD}" srcOrd="8" destOrd="0" presId="urn:microsoft.com/office/officeart/2005/8/layout/process1"/>
    <dgm:cxn modelId="{E774C103-ED68-EB40-ABE2-46B0930A91D8}" type="presParOf" srcId="{21DEC583-374F-7A44-9570-B2DECFC6F858}" destId="{95303E99-852F-C04B-9D89-50417371455B}" srcOrd="9" destOrd="0" presId="urn:microsoft.com/office/officeart/2005/8/layout/process1"/>
    <dgm:cxn modelId="{1BA53C35-4EE1-2343-A703-8394E9CF778D}" type="presParOf" srcId="{95303E99-852F-C04B-9D89-50417371455B}" destId="{FCA2EC58-4116-5B4D-9AF1-1EE554776B85}" srcOrd="0" destOrd="0" presId="urn:microsoft.com/office/officeart/2005/8/layout/process1"/>
    <dgm:cxn modelId="{961BE741-4D82-FB48-9D58-AC0D4DC8E897}" type="presParOf" srcId="{21DEC583-374F-7A44-9570-B2DECFC6F858}" destId="{931C4805-47DF-DC49-8BAF-81B91874A78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644106-249A-404D-9E29-B253D231D5C0}">
      <dsp:nvSpPr>
        <dsp:cNvPr id="0" name=""/>
        <dsp:cNvSpPr/>
      </dsp:nvSpPr>
      <dsp:spPr>
        <a:xfrm>
          <a:off x="0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Implementation</a:t>
          </a:r>
        </a:p>
      </dsp:txBody>
      <dsp:txXfrm>
        <a:off x="19140" y="1492603"/>
        <a:ext cx="1050840" cy="615192"/>
      </dsp:txXfrm>
    </dsp:sp>
    <dsp:sp modelId="{CD45E41D-7C8A-474D-ACAE-FE2D67710DD1}">
      <dsp:nvSpPr>
        <dsp:cNvPr id="0" name=""/>
        <dsp:cNvSpPr/>
      </dsp:nvSpPr>
      <dsp:spPr>
        <a:xfrm>
          <a:off x="1198033" y="1665148"/>
          <a:ext cx="230893" cy="2701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1198033" y="1719168"/>
        <a:ext cx="161625" cy="162062"/>
      </dsp:txXfrm>
    </dsp:sp>
    <dsp:sp modelId="{2D40784B-B37B-8D4F-97D6-E74213A0BCD0}">
      <dsp:nvSpPr>
        <dsp:cNvPr id="0" name=""/>
        <dsp:cNvSpPr/>
      </dsp:nvSpPr>
      <dsp:spPr>
        <a:xfrm>
          <a:off x="1524769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Interoperability</a:t>
          </a:r>
        </a:p>
      </dsp:txBody>
      <dsp:txXfrm>
        <a:off x="1543909" y="1492603"/>
        <a:ext cx="1050840" cy="615192"/>
      </dsp:txXfrm>
    </dsp:sp>
    <dsp:sp modelId="{698CE814-85CF-8848-B94C-1345B3F36D2E}">
      <dsp:nvSpPr>
        <dsp:cNvPr id="0" name=""/>
        <dsp:cNvSpPr/>
      </dsp:nvSpPr>
      <dsp:spPr>
        <a:xfrm>
          <a:off x="2722802" y="1665148"/>
          <a:ext cx="230893" cy="2701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2722802" y="1719168"/>
        <a:ext cx="161625" cy="162062"/>
      </dsp:txXfrm>
    </dsp:sp>
    <dsp:sp modelId="{5061DAC8-A40B-7942-BEF1-1371998A0594}">
      <dsp:nvSpPr>
        <dsp:cNvPr id="0" name=""/>
        <dsp:cNvSpPr/>
      </dsp:nvSpPr>
      <dsp:spPr>
        <a:xfrm>
          <a:off x="3049538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Customization</a:t>
          </a:r>
        </a:p>
      </dsp:txBody>
      <dsp:txXfrm>
        <a:off x="3068678" y="1492603"/>
        <a:ext cx="1050840" cy="615192"/>
      </dsp:txXfrm>
    </dsp:sp>
    <dsp:sp modelId="{3D19B625-DB00-9647-95A3-C5C6AB5EA2EC}">
      <dsp:nvSpPr>
        <dsp:cNvPr id="0" name=""/>
        <dsp:cNvSpPr/>
      </dsp:nvSpPr>
      <dsp:spPr>
        <a:xfrm>
          <a:off x="4247571" y="1665148"/>
          <a:ext cx="230893" cy="2701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4247571" y="1719168"/>
        <a:ext cx="161625" cy="162062"/>
      </dsp:txXfrm>
    </dsp:sp>
    <dsp:sp modelId="{29718531-71B8-7143-806C-EA2CBEE5BBE1}">
      <dsp:nvSpPr>
        <dsp:cNvPr id="0" name=""/>
        <dsp:cNvSpPr/>
      </dsp:nvSpPr>
      <dsp:spPr>
        <a:xfrm>
          <a:off x="4574308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Composition</a:t>
          </a:r>
        </a:p>
      </dsp:txBody>
      <dsp:txXfrm>
        <a:off x="4593448" y="1492603"/>
        <a:ext cx="1050840" cy="615192"/>
      </dsp:txXfrm>
    </dsp:sp>
    <dsp:sp modelId="{07E7CC52-657C-554C-A385-C4CAF12F599F}">
      <dsp:nvSpPr>
        <dsp:cNvPr id="0" name=""/>
        <dsp:cNvSpPr/>
      </dsp:nvSpPr>
      <dsp:spPr>
        <a:xfrm>
          <a:off x="5772341" y="1665148"/>
          <a:ext cx="230893" cy="2701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5772341" y="1719168"/>
        <a:ext cx="161625" cy="162062"/>
      </dsp:txXfrm>
    </dsp:sp>
    <dsp:sp modelId="{B56F1421-1BEF-D743-BD2E-5B9CB30D4ABD}">
      <dsp:nvSpPr>
        <dsp:cNvPr id="0" name=""/>
        <dsp:cNvSpPr/>
      </dsp:nvSpPr>
      <dsp:spPr>
        <a:xfrm>
          <a:off x="6099077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Evaluation</a:t>
          </a:r>
        </a:p>
      </dsp:txBody>
      <dsp:txXfrm>
        <a:off x="6118217" y="1492603"/>
        <a:ext cx="1050840" cy="615192"/>
      </dsp:txXfrm>
    </dsp:sp>
    <dsp:sp modelId="{95303E99-852F-C04B-9D89-50417371455B}">
      <dsp:nvSpPr>
        <dsp:cNvPr id="0" name=""/>
        <dsp:cNvSpPr/>
      </dsp:nvSpPr>
      <dsp:spPr>
        <a:xfrm>
          <a:off x="7297110" y="1665148"/>
          <a:ext cx="230893" cy="2701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7297110" y="1719168"/>
        <a:ext cx="161625" cy="162062"/>
      </dsp:txXfrm>
    </dsp:sp>
    <dsp:sp modelId="{931C4805-47DF-DC49-8BAF-81B91874A78E}">
      <dsp:nvSpPr>
        <dsp:cNvPr id="0" name=""/>
        <dsp:cNvSpPr/>
      </dsp:nvSpPr>
      <dsp:spPr>
        <a:xfrm>
          <a:off x="7623847" y="1473463"/>
          <a:ext cx="1089120" cy="65347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Deployment</a:t>
          </a:r>
        </a:p>
      </dsp:txBody>
      <dsp:txXfrm>
        <a:off x="7642987" y="1492603"/>
        <a:ext cx="1050840" cy="615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097FA1-994E-4545-8CB0-F30CCFE7F4AC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en-US" sz="1200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4B31F9-919E-074B-9F48-A61BFC28A5E8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>
              <a:buNone/>
            </a:pPr>
            <a:fld id="{9A0DB2DC-4C9A-4742-B13C-FB6460FD3503}" type="slidenum">
              <a:rPr lang="en-US" altLang="en-US" sz="1200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z="12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/>
          </a:ln>
        </p:spPr>
      </p:sp>
      <p:sp>
        <p:nvSpPr>
          <p:cNvPr id="6146" name="Notes Placeholder 2"/>
          <p:cNvSpPr>
            <a:spLocks noGrp="1"/>
          </p:cNvSpPr>
          <p:nvPr>
            <p:ph type="body"/>
          </p:nvPr>
        </p:nvSpPr>
        <p:spPr>
          <a:noFill/>
          <a:ln>
            <a:noFill/>
          </a:ln>
        </p:spPr>
        <p:txBody>
          <a:bodyPr wrap="square" lIns="91440" tIns="45720" rIns="91440" bIns="45720" anchor="t" anchorCtr="0"/>
          <a:p>
            <a:pPr lvl="0"/>
            <a:endParaRPr lang="en-US" altLang="en-US"/>
          </a:p>
        </p:txBody>
      </p:sp>
      <p:sp>
        <p:nvSpPr>
          <p:cNvPr id="6147" name="Slide Number Placeholder 3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b" anchorCtr="0"/>
          <a:p>
            <a:pPr lvl="0" algn="r" eaLnBrk="1" hangingPunct="1"/>
            <a:fld id="{9A0DB2DC-4C9A-4742-B13C-FB6460FD3503}" type="slidenum">
              <a:rPr lang="en-US" altLang="en-US" sz="1200">
                <a:latin typeface="Calibri" panose="020F0502020204030204" charset="0"/>
              </a:rPr>
            </a:fld>
            <a:endParaRPr lang="en-US" altLang="en-US" sz="1200">
              <a:latin typeface="Calibri" panose="020F050202020403020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371600" y="290513"/>
            <a:ext cx="665638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UTM Software Engineering Research Group </a:t>
            </a:r>
            <a:endParaRPr kumimoji="0" lang="en-US" sz="2400" b="1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>
            <a:lvl1pPr algn="ctr">
              <a:defRPr sz="4000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en-US" strike="noStrike" noProof="1"/>
              <a:t>Click to edit Master subtitle style</a:t>
            </a:r>
            <a:endParaRPr lang="en-MY" strike="noStrike" noProof="1"/>
          </a:p>
        </p:txBody>
      </p:sp>
      <p:sp>
        <p:nvSpPr>
          <p:cNvPr id="1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5A55DCF-AD35-9B4C-B189-8353B5D74755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p>
            <a:pPr algn="r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z="1350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z="1350" strike="noStrike" noProof="1"/>
              <a:t>Fifth level</a:t>
            </a:r>
            <a:endParaRPr lang="en-MY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z="1350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z="1350" strike="noStrike" noProof="1"/>
              <a:t>Fifth level</a:t>
            </a:r>
            <a:endParaRPr lang="en-MY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z="1350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z="1350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fontAlgn="base"/>
            <a:r>
              <a:rPr lang="en-US" sz="1050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fontAlgn="base"/>
            <a:r>
              <a:rPr lang="en-US" sz="1050" strike="noStrike" noProof="1"/>
              <a:t>Click to edit Master text styles</a:t>
            </a:r>
            <a:endParaRPr 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pPr fontAlgn="base"/>
            <a:r>
              <a:rPr lang="en-US" strike="noStrike" noProof="1"/>
              <a:t>Click to edit Master title style</a:t>
            </a:r>
            <a:endParaRPr lang="en-MY" strike="noStrike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 fontAlgn="base"/>
            <a:r>
              <a:rPr lang="en-US" strike="noStrike" noProof="1"/>
              <a:t>Click to edit Master text styles</a:t>
            </a:r>
            <a:endParaRPr lang="en-US" strike="noStrike" noProof="1"/>
          </a:p>
          <a:p>
            <a:pPr lvl="1" fontAlgn="base"/>
            <a:r>
              <a:rPr lang="en-US" strike="noStrike" noProof="1"/>
              <a:t>Second level</a:t>
            </a:r>
            <a:endParaRPr lang="en-US" strike="noStrike" noProof="1"/>
          </a:p>
          <a:p>
            <a:pPr lvl="2" fontAlgn="base"/>
            <a:r>
              <a:rPr lang="en-US" strike="noStrike" noProof="1"/>
              <a:t>Third level</a:t>
            </a:r>
            <a:endParaRPr lang="en-US" strike="noStrike" noProof="1"/>
          </a:p>
          <a:p>
            <a:pPr lvl="3" fontAlgn="base"/>
            <a:r>
              <a:rPr lang="en-US" strike="noStrike" noProof="1"/>
              <a:t>Fourth level</a:t>
            </a:r>
            <a:endParaRPr lang="en-US" strike="noStrike" noProof="1"/>
          </a:p>
          <a:p>
            <a:pPr lvl="4" fontAlgn="base"/>
            <a:r>
              <a:rPr lang="en-US" strike="noStrike" noProof="1"/>
              <a:t>Fifth level</a:t>
            </a:r>
            <a:endParaRPr lang="en-MY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emf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619250" y="60325"/>
            <a:ext cx="5700713" cy="7048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 fontAlgn="base"/>
            <a:r>
              <a:rPr lang="en-US" altLang="en-US" strike="noStrike" noProof="1"/>
              <a:t>Click to edit Master title style</a:t>
            </a:r>
            <a:endParaRPr lang="en-US" altLang="en-US" strike="noStrike" noProof="1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457200" y="1196975"/>
            <a:ext cx="8229600" cy="4929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 indent="-214630"/>
            <a:r>
              <a:rPr lang="en-US" altLang="en-US"/>
              <a:t>Second level</a:t>
            </a:r>
            <a:endParaRPr lang="en-US" altLang="en-US"/>
          </a:p>
          <a:p>
            <a:pPr lvl="2" indent="-171450"/>
            <a:r>
              <a:rPr lang="en-US" altLang="en-US"/>
              <a:t>Third level</a:t>
            </a:r>
            <a:endParaRPr lang="en-US" altLang="en-US"/>
          </a:p>
          <a:p>
            <a:pPr lvl="3" indent="-171450"/>
            <a:r>
              <a:rPr lang="en-US" altLang="en-US"/>
              <a:t>Fourth level</a:t>
            </a:r>
            <a:endParaRPr lang="en-US" altLang="en-US"/>
          </a:p>
          <a:p>
            <a:pPr lvl="4" indent="-171450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defRPr sz="900">
                <a:solidFill>
                  <a:srgbClr val="898989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58077B-0A02-BB4D-8E5C-3D5E982F700B}" type="datetime1">
              <a:rPr kumimoji="0" lang="en-MY" altLang="en-US" sz="9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kumimoji="0" lang="en-US" altLang="en-US" sz="9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MY" sz="9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>
                <a:solidFill>
                  <a:srgbClr val="898989"/>
                </a:solidFill>
              </a:defRPr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en-US" altLang="en-US" strike="noStrike" noProof="1">
                <a:latin typeface="Calibri" panose="020F0502020204030204" charset="0"/>
                <a:ea typeface="MS PGothic" panose="020B0600070205080204" pitchFamily="34" charset="-128"/>
                <a:cs typeface="+mn-cs"/>
              </a:rPr>
            </a:fld>
            <a:endParaRPr lang="en-US" altLang="en-US" strike="noStrike" noProof="1">
              <a:latin typeface="Calibri" panose="020F0502020204030204" charset="0"/>
            </a:endParaRPr>
          </a:p>
        </p:txBody>
      </p:sp>
      <p:pic>
        <p:nvPicPr>
          <p:cNvPr id="1031" name="Picture 6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319963" y="184150"/>
            <a:ext cx="1716087" cy="5810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32" name="Picture 1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824163" y="6400800"/>
            <a:ext cx="3495675" cy="1968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Straight Connector 6"/>
          <p:cNvCxnSpPr/>
          <p:nvPr/>
        </p:nvCxnSpPr>
        <p:spPr>
          <a:xfrm>
            <a:off x="179388" y="908050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179388" y="6237288"/>
            <a:ext cx="8785225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035" name="Picture 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79388" y="93663"/>
            <a:ext cx="762000" cy="7620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 cap="small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Calibri" panose="020F0502020204030204" charset="0"/>
          <a:ea typeface="MS PGothic" panose="020B0600070205080204" pitchFamily="34" charset="-128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charset="0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557530" indent="-21463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tiff"/><Relationship Id="rId1" Type="http://schemas.openxmlformats.org/officeDocument/2006/relationships/image" Target="../media/image1.tif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tif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tiff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tif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tif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Title 1"/>
          <p:cNvSpPr>
            <a:spLocks noGrp="1"/>
          </p:cNvSpPr>
          <p:nvPr>
            <p:ph type="ctrTitle"/>
          </p:nvPr>
        </p:nvSpPr>
        <p:spPr>
          <a:xfrm>
            <a:off x="0" y="2276475"/>
            <a:ext cx="9109075" cy="14700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components</a:t>
            </a:r>
            <a:endParaRPr kumimoji="0" lang="en-US" altLang="en-US" sz="44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365625"/>
            <a:ext cx="6400800" cy="17526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UTM-SERG Research &amp; Consultancy Team</a:t>
            </a:r>
            <a:endParaRPr kumimoji="0" lang="en-MY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School of Computing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Faculty of Engineering</a:t>
            </a: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Universiti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MY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Teknologi</a:t>
            </a:r>
            <a: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Malaysia</a:t>
            </a:r>
            <a:br>
              <a:rPr kumimoji="0" lang="en-MY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UTM,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Skudai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S PGothic" panose="020B0600070205080204" pitchFamily="34" charset="-128"/>
                <a:cs typeface="+mn-cs"/>
              </a:rPr>
              <a:t>, Johor.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MY" sz="1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Slide Number Placeholder 1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  <a:latin typeface="Calibri" panose="020F0502020204030204" charset="0"/>
              </a:rPr>
            </a:fld>
            <a:endParaRPr lang="en-US" altLang="en-US" sz="900">
              <a:solidFill>
                <a:srgbClr val="898989"/>
              </a:solidFill>
              <a:latin typeface="Calibri" panose="020F0502020204030204" charset="0"/>
            </a:endParaRPr>
          </a:p>
        </p:txBody>
      </p:sp>
      <p:sp>
        <p:nvSpPr>
          <p:cNvPr id="5124" name="TextBox 5"/>
          <p:cNvSpPr txBox="1"/>
          <p:nvPr/>
        </p:nvSpPr>
        <p:spPr>
          <a:xfrm>
            <a:off x="3708400" y="1443038"/>
            <a:ext cx="1727200" cy="5238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MY" altLang="en-US" sz="2800" b="1">
                <a:latin typeface="Calibri" panose="020F0502020204030204" charset="0"/>
              </a:rPr>
              <a:t>TOPIC 7</a:t>
            </a:r>
            <a:endParaRPr lang="en-MY" altLang="en-US" sz="2800" b="1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AGENDA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7170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rPr lang="en-MY" altLang="en-US"/>
              <a:t>Agenda 1: Component-based software development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Agenda 2: Properties of components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Agenda 3: Component models</a:t>
            </a:r>
            <a:endParaRPr lang="en-MY" altLang="en-US">
              <a:solidFill>
                <a:srgbClr val="0070C0"/>
              </a:solidFill>
            </a:endParaRPr>
          </a:p>
          <a:p>
            <a:r>
              <a:rPr lang="en-MY" altLang="en-US"/>
              <a:t> Agenda 4: Separation of interface and implementation</a:t>
            </a:r>
            <a:endParaRPr lang="en-MY" altLang="en-US" sz="1800">
              <a:solidFill>
                <a:srgbClr val="0070C0"/>
              </a:solidFill>
            </a:endParaRPr>
          </a:p>
          <a:p>
            <a:r>
              <a:rPr lang="en-MY" altLang="en-US"/>
              <a:t>Agenda 5: Summary</a:t>
            </a:r>
            <a:endParaRPr lang="en-MY" altLang="en-US"/>
          </a:p>
          <a:p>
            <a:endParaRPr lang="en-MY" altLang="en-US"/>
          </a:p>
          <a:p>
            <a:endParaRPr lang="en-MY" altLang="en-US" sz="1800">
              <a:solidFill>
                <a:srgbClr val="0070C0"/>
              </a:solidFill>
            </a:endParaRPr>
          </a:p>
          <a:p>
            <a:endParaRPr lang="en-MY" altLang="en-US"/>
          </a:p>
        </p:txBody>
      </p:sp>
      <p:sp>
        <p:nvSpPr>
          <p:cNvPr id="717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altLang="en-US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Component-based software development</a:t>
            </a:r>
            <a:endParaRPr kumimoji="0" lang="en-MY" altLang="en-US" sz="2800" b="1" i="0" u="none" strike="noStrike" kern="1200" cap="small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grpSp>
        <p:nvGrpSpPr>
          <p:cNvPr id="8195" name="Group 7"/>
          <p:cNvGrpSpPr/>
          <p:nvPr/>
        </p:nvGrpSpPr>
        <p:grpSpPr>
          <a:xfrm>
            <a:off x="395288" y="1412875"/>
            <a:ext cx="936625" cy="1223963"/>
            <a:chOff x="395536" y="1412776"/>
            <a:chExt cx="936104" cy="1224136"/>
          </a:xfrm>
        </p:grpSpPr>
        <p:sp>
          <p:nvSpPr>
            <p:cNvPr id="2" name="Rectangle 1"/>
            <p:cNvSpPr/>
            <p:nvPr/>
          </p:nvSpPr>
          <p:spPr>
            <a:xfrm>
              <a:off x="395536" y="1412776"/>
              <a:ext cx="936104" cy="12241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395536" y="1700808"/>
              <a:ext cx="93610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395536" y="2276872"/>
              <a:ext cx="93610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99" name="TextBox 6"/>
          <p:cNvSpPr txBox="1"/>
          <p:nvPr/>
        </p:nvSpPr>
        <p:spPr>
          <a:xfrm>
            <a:off x="498475" y="2325688"/>
            <a:ext cx="730250" cy="2619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100" b="1">
                <a:latin typeface="Calibri" panose="020F0502020204030204" charset="0"/>
              </a:rPr>
              <a:t>Database</a:t>
            </a:r>
            <a:endParaRPr lang="en-US" sz="1100" b="1">
              <a:latin typeface="Calibri" panose="020F0502020204030204" charset="0"/>
            </a:endParaRPr>
          </a:p>
        </p:txBody>
      </p:sp>
      <p:sp>
        <p:nvSpPr>
          <p:cNvPr id="8200" name="TextBox 21"/>
          <p:cNvSpPr txBox="1"/>
          <p:nvPr/>
        </p:nvSpPr>
        <p:spPr>
          <a:xfrm>
            <a:off x="706438" y="1439863"/>
            <a:ext cx="314325" cy="2603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100" b="1">
                <a:latin typeface="Calibri" panose="020F0502020204030204" charset="0"/>
              </a:rPr>
              <a:t>UI</a:t>
            </a:r>
            <a:endParaRPr lang="en-US" sz="1100" b="1">
              <a:latin typeface="Calibri" panose="020F0502020204030204" charset="0"/>
            </a:endParaRPr>
          </a:p>
        </p:txBody>
      </p:sp>
      <p:sp>
        <p:nvSpPr>
          <p:cNvPr id="8201" name="TextBox 22"/>
          <p:cNvSpPr txBox="1"/>
          <p:nvPr/>
        </p:nvSpPr>
        <p:spPr>
          <a:xfrm>
            <a:off x="498475" y="1778000"/>
            <a:ext cx="687388" cy="4318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sz="1100" b="1">
                <a:latin typeface="Calibri" panose="020F0502020204030204" charset="0"/>
              </a:rPr>
              <a:t>Business</a:t>
            </a:r>
            <a:endParaRPr lang="en-US" sz="1100" b="1">
              <a:latin typeface="Calibri" panose="020F0502020204030204" charset="0"/>
            </a:endParaRPr>
          </a:p>
          <a:p>
            <a:pPr algn="ctr" eaLnBrk="0" hangingPunct="0"/>
            <a:r>
              <a:rPr lang="en-US" sz="1100" b="1">
                <a:latin typeface="Calibri" panose="020F0502020204030204" charset="0"/>
              </a:rPr>
              <a:t>Layer</a:t>
            </a:r>
            <a:endParaRPr lang="en-US" sz="1100" b="1">
              <a:latin typeface="Calibri" panose="020F0502020204030204" charset="0"/>
            </a:endParaRPr>
          </a:p>
        </p:txBody>
      </p:sp>
      <p:sp>
        <p:nvSpPr>
          <p:cNvPr id="8202" name="TextBox 24"/>
          <p:cNvSpPr txBox="1"/>
          <p:nvPr/>
        </p:nvSpPr>
        <p:spPr>
          <a:xfrm>
            <a:off x="2490788" y="1106488"/>
            <a:ext cx="1036637" cy="26193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100" b="1">
                <a:latin typeface="Calibri" panose="020F0502020204030204" charset="0"/>
              </a:rPr>
              <a:t>Business Layer</a:t>
            </a:r>
            <a:endParaRPr lang="en-US" sz="1100" b="1">
              <a:latin typeface="Calibri" panose="020F0502020204030204" charset="0"/>
            </a:endParaRPr>
          </a:p>
        </p:txBody>
      </p:sp>
      <p:grpSp>
        <p:nvGrpSpPr>
          <p:cNvPr id="8203" name="Group 26"/>
          <p:cNvGrpSpPr/>
          <p:nvPr/>
        </p:nvGrpSpPr>
        <p:grpSpPr>
          <a:xfrm>
            <a:off x="2195513" y="1412875"/>
            <a:ext cx="1625600" cy="1223963"/>
            <a:chOff x="2195736" y="1412776"/>
            <a:chExt cx="1626170" cy="1224136"/>
          </a:xfrm>
        </p:grpSpPr>
        <p:sp>
          <p:nvSpPr>
            <p:cNvPr id="9" name="Rectangle 8"/>
            <p:cNvSpPr/>
            <p:nvPr/>
          </p:nvSpPr>
          <p:spPr>
            <a:xfrm>
              <a:off x="2195736" y="1412776"/>
              <a:ext cx="1626170" cy="1224136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2699792" y="1412776"/>
              <a:ext cx="0" cy="12241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2699792" y="1700808"/>
              <a:ext cx="1122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2699792" y="2209434"/>
              <a:ext cx="112211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>
              <a:off x="3260849" y="2209434"/>
              <a:ext cx="0" cy="4274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stCxn id="9" idx="1"/>
            </p:cNvCxnSpPr>
            <p:nvPr/>
          </p:nvCxnSpPr>
          <p:spPr>
            <a:xfrm>
              <a:off x="2195736" y="2024844"/>
              <a:ext cx="50405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10" name="TextBox 27"/>
          <p:cNvSpPr txBox="1"/>
          <p:nvPr/>
        </p:nvSpPr>
        <p:spPr>
          <a:xfrm>
            <a:off x="2297113" y="1590675"/>
            <a:ext cx="3444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C1</a:t>
            </a:r>
            <a:endParaRPr lang="en-US" sz="1200" b="1">
              <a:latin typeface="Calibri" panose="020F0502020204030204" charset="0"/>
            </a:endParaRPr>
          </a:p>
        </p:txBody>
      </p:sp>
      <p:sp>
        <p:nvSpPr>
          <p:cNvPr id="8211" name="TextBox 37"/>
          <p:cNvSpPr txBox="1"/>
          <p:nvPr/>
        </p:nvSpPr>
        <p:spPr>
          <a:xfrm>
            <a:off x="2297113" y="2138363"/>
            <a:ext cx="3444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C2</a:t>
            </a:r>
            <a:endParaRPr lang="en-US" sz="1200" b="1">
              <a:latin typeface="Calibri" panose="020F0502020204030204" charset="0"/>
            </a:endParaRPr>
          </a:p>
        </p:txBody>
      </p:sp>
      <p:sp>
        <p:nvSpPr>
          <p:cNvPr id="8212" name="TextBox 39"/>
          <p:cNvSpPr txBox="1"/>
          <p:nvPr/>
        </p:nvSpPr>
        <p:spPr>
          <a:xfrm>
            <a:off x="3044825" y="1816100"/>
            <a:ext cx="344488" cy="2778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C4</a:t>
            </a:r>
            <a:endParaRPr lang="en-US" sz="1200" b="1">
              <a:latin typeface="Calibri" panose="020F0502020204030204" charset="0"/>
            </a:endParaRPr>
          </a:p>
        </p:txBody>
      </p:sp>
      <p:sp>
        <p:nvSpPr>
          <p:cNvPr id="8213" name="TextBox 40"/>
          <p:cNvSpPr txBox="1"/>
          <p:nvPr/>
        </p:nvSpPr>
        <p:spPr>
          <a:xfrm>
            <a:off x="2828925" y="2317750"/>
            <a:ext cx="346075" cy="2778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C5</a:t>
            </a:r>
            <a:endParaRPr lang="en-US" sz="1200" b="1">
              <a:latin typeface="Calibri" panose="020F0502020204030204" charset="0"/>
            </a:endParaRPr>
          </a:p>
        </p:txBody>
      </p:sp>
      <p:sp>
        <p:nvSpPr>
          <p:cNvPr id="8214" name="TextBox 41"/>
          <p:cNvSpPr txBox="1"/>
          <p:nvPr/>
        </p:nvSpPr>
        <p:spPr>
          <a:xfrm>
            <a:off x="3303588" y="2325688"/>
            <a:ext cx="344487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C6</a:t>
            </a:r>
            <a:endParaRPr lang="en-US" sz="1200" b="1">
              <a:latin typeface="Calibri" panose="020F0502020204030204" charset="0"/>
            </a:endParaRPr>
          </a:p>
        </p:txBody>
      </p:sp>
      <p:sp>
        <p:nvSpPr>
          <p:cNvPr id="8215" name="TextBox 42"/>
          <p:cNvSpPr txBox="1"/>
          <p:nvPr/>
        </p:nvSpPr>
        <p:spPr>
          <a:xfrm>
            <a:off x="3044825" y="1408113"/>
            <a:ext cx="344488" cy="2778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200" b="1">
                <a:latin typeface="Calibri" panose="020F0502020204030204" charset="0"/>
              </a:rPr>
              <a:t>C3</a:t>
            </a:r>
            <a:endParaRPr lang="en-US" sz="1200" b="1">
              <a:latin typeface="Calibri" panose="020F0502020204030204" charset="0"/>
            </a:endParaRPr>
          </a:p>
        </p:txBody>
      </p:sp>
      <p:grpSp>
        <p:nvGrpSpPr>
          <p:cNvPr id="8216" name="Group 18433"/>
          <p:cNvGrpSpPr/>
          <p:nvPr/>
        </p:nvGrpSpPr>
        <p:grpSpPr>
          <a:xfrm>
            <a:off x="4643438" y="1103313"/>
            <a:ext cx="2382837" cy="1490662"/>
            <a:chOff x="5066973" y="1103970"/>
            <a:chExt cx="2382887" cy="1490134"/>
          </a:xfrm>
        </p:grpSpPr>
        <p:sp>
          <p:nvSpPr>
            <p:cNvPr id="29" name="Rectangle 28"/>
            <p:cNvSpPr/>
            <p:nvPr/>
          </p:nvSpPr>
          <p:spPr>
            <a:xfrm>
              <a:off x="5066973" y="1280581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C1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5224489" y="2276871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C2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6188186" y="1103970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C4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6954272" y="1499389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C5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856388" y="1770809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C3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104894" y="2235587"/>
              <a:ext cx="344966" cy="317233"/>
            </a:xfrm>
            <a:prstGeom prst="rect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dk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C6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cxnSp>
          <p:nvCxnSpPr>
            <p:cNvPr id="31" name="Straight Connector 30"/>
            <p:cNvCxnSpPr>
              <a:stCxn id="29" idx="3"/>
              <a:endCxn id="45" idx="1"/>
            </p:cNvCxnSpPr>
            <p:nvPr/>
          </p:nvCxnSpPr>
          <p:spPr>
            <a:xfrm flipV="1">
              <a:off x="5411939" y="1262587"/>
              <a:ext cx="776247" cy="17661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45" idx="2"/>
              <a:endCxn id="47" idx="0"/>
            </p:cNvCxnSpPr>
            <p:nvPr/>
          </p:nvCxnSpPr>
          <p:spPr>
            <a:xfrm flipH="1">
              <a:off x="6028871" y="1421203"/>
              <a:ext cx="331798" cy="34960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44" idx="3"/>
              <a:endCxn id="48" idx="1"/>
            </p:cNvCxnSpPr>
            <p:nvPr/>
          </p:nvCxnSpPr>
          <p:spPr>
            <a:xfrm flipV="1">
              <a:off x="5569455" y="2394204"/>
              <a:ext cx="1535439" cy="41284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>
              <a:stCxn id="46" idx="2"/>
              <a:endCxn id="48" idx="0"/>
            </p:cNvCxnSpPr>
            <p:nvPr/>
          </p:nvCxnSpPr>
          <p:spPr>
            <a:xfrm>
              <a:off x="7126755" y="1816622"/>
              <a:ext cx="150622" cy="41896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>
              <a:stCxn id="46" idx="1"/>
              <a:endCxn id="47" idx="3"/>
            </p:cNvCxnSpPr>
            <p:nvPr/>
          </p:nvCxnSpPr>
          <p:spPr>
            <a:xfrm flipH="1">
              <a:off x="6201354" y="1658006"/>
              <a:ext cx="752918" cy="271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>
              <a:stCxn id="29" idx="2"/>
              <a:endCxn id="44" idx="0"/>
            </p:cNvCxnSpPr>
            <p:nvPr/>
          </p:nvCxnSpPr>
          <p:spPr>
            <a:xfrm>
              <a:off x="5239456" y="1597814"/>
              <a:ext cx="157516" cy="67905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Arrow Connector 57"/>
          <p:cNvCxnSpPr>
            <a:stCxn id="2" idx="3"/>
            <a:endCxn id="9" idx="1"/>
          </p:cNvCxnSpPr>
          <p:nvPr/>
        </p:nvCxnSpPr>
        <p:spPr>
          <a:xfrm>
            <a:off x="1331913" y="2024063"/>
            <a:ext cx="8636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stCxn id="9" idx="3"/>
            <a:endCxn id="9" idx="1"/>
          </p:cNvCxnSpPr>
          <p:nvPr/>
        </p:nvCxnSpPr>
        <p:spPr>
          <a:xfrm>
            <a:off x="3821113" y="2024063"/>
            <a:ext cx="96678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31" name="TextBox 60"/>
          <p:cNvSpPr txBox="1"/>
          <p:nvPr/>
        </p:nvSpPr>
        <p:spPr>
          <a:xfrm>
            <a:off x="384175" y="2601913"/>
            <a:ext cx="931863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b="1">
                <a:latin typeface="Calibri" panose="020F0502020204030204" charset="0"/>
              </a:rPr>
              <a:t>Layered</a:t>
            </a:r>
            <a:endParaRPr lang="en-US" b="1">
              <a:latin typeface="Calibri" panose="020F0502020204030204" charset="0"/>
            </a:endParaRPr>
          </a:p>
        </p:txBody>
      </p:sp>
      <p:sp>
        <p:nvSpPr>
          <p:cNvPr id="8232" name="TextBox 61"/>
          <p:cNvSpPr txBox="1"/>
          <p:nvPr/>
        </p:nvSpPr>
        <p:spPr>
          <a:xfrm>
            <a:off x="2166938" y="2619375"/>
            <a:ext cx="1570037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b="1">
                <a:latin typeface="Calibri" panose="020F0502020204030204" charset="0"/>
              </a:rPr>
              <a:t>Modular for</a:t>
            </a:r>
            <a:endParaRPr lang="en-US" b="1">
              <a:latin typeface="Calibri" panose="020F0502020204030204" charset="0"/>
            </a:endParaRPr>
          </a:p>
          <a:p>
            <a:pPr algn="ctr" eaLnBrk="0" hangingPunct="0"/>
            <a:r>
              <a:rPr lang="en-US" b="1">
                <a:latin typeface="Calibri" panose="020F0502020204030204" charset="0"/>
              </a:rPr>
              <a:t>Business Layer</a:t>
            </a:r>
            <a:endParaRPr lang="en-US" b="1">
              <a:latin typeface="Calibri" panose="020F0502020204030204" charset="0"/>
            </a:endParaRPr>
          </a:p>
        </p:txBody>
      </p:sp>
      <p:sp>
        <p:nvSpPr>
          <p:cNvPr id="8233" name="TextBox 67"/>
          <p:cNvSpPr txBox="1"/>
          <p:nvPr/>
        </p:nvSpPr>
        <p:spPr>
          <a:xfrm>
            <a:off x="4776788" y="2632075"/>
            <a:ext cx="2784475" cy="6477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b="1">
                <a:latin typeface="Calibri" panose="020F0502020204030204" charset="0"/>
              </a:rPr>
              <a:t>Communicating distributed</a:t>
            </a:r>
            <a:endParaRPr lang="en-US" b="1">
              <a:latin typeface="Calibri" panose="020F0502020204030204" charset="0"/>
            </a:endParaRPr>
          </a:p>
          <a:p>
            <a:pPr algn="ctr" eaLnBrk="0" hangingPunct="0"/>
            <a:r>
              <a:rPr lang="en-US" b="1">
                <a:latin typeface="Calibri" panose="020F0502020204030204" charset="0"/>
              </a:rPr>
              <a:t>components</a:t>
            </a:r>
            <a:endParaRPr lang="en-US" b="1">
              <a:latin typeface="Calibri" panose="020F0502020204030204" charset="0"/>
            </a:endParaRPr>
          </a:p>
        </p:txBody>
      </p:sp>
      <p:sp>
        <p:nvSpPr>
          <p:cNvPr id="8234" name="TextBox 42"/>
          <p:cNvSpPr txBox="1"/>
          <p:nvPr/>
        </p:nvSpPr>
        <p:spPr>
          <a:xfrm>
            <a:off x="341313" y="3894138"/>
            <a:ext cx="6961187" cy="9239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Each layer may be decomposed into </a:t>
            </a:r>
            <a:r>
              <a:rPr lang="en-US" altLang="en-US">
                <a:solidFill>
                  <a:srgbClr val="00B050"/>
                </a:solidFill>
                <a:latin typeface="Calibri" panose="020F0502020204030204" charset="0"/>
              </a:rPr>
              <a:t>modular</a:t>
            </a:r>
            <a:r>
              <a:rPr lang="en-US" altLang="en-US">
                <a:latin typeface="Calibri" panose="020F0502020204030204" charset="0"/>
              </a:rPr>
              <a:t> distributed architecture</a:t>
            </a:r>
            <a:endParaRPr lang="en-US" alt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Modular – consists of a few </a:t>
            </a:r>
            <a:r>
              <a:rPr lang="en-US" altLang="en-US">
                <a:solidFill>
                  <a:srgbClr val="00B050"/>
                </a:solidFill>
                <a:latin typeface="Calibri" panose="020F0502020204030204" charset="0"/>
              </a:rPr>
              <a:t>components</a:t>
            </a:r>
            <a:endParaRPr lang="en-US" altLang="en-US">
              <a:solidFill>
                <a:srgbClr val="00B050"/>
              </a:solidFill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Each components will be connected to realize the software</a:t>
            </a:r>
            <a:endParaRPr lang="en-US" altLang="en-US">
              <a:latin typeface="Calibri" panose="020F0502020204030204" charset="0"/>
            </a:endParaRPr>
          </a:p>
        </p:txBody>
      </p:sp>
      <p:sp>
        <p:nvSpPr>
          <p:cNvPr id="8235" name="TextBox 62"/>
          <p:cNvSpPr txBox="1"/>
          <p:nvPr/>
        </p:nvSpPr>
        <p:spPr>
          <a:xfrm>
            <a:off x="3675063" y="5157788"/>
            <a:ext cx="72072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b="1">
                <a:solidFill>
                  <a:srgbClr val="00B050"/>
                </a:solidFill>
                <a:latin typeface="Calibri" panose="020F0502020204030204" charset="0"/>
              </a:rPr>
              <a:t>GOAL</a:t>
            </a:r>
            <a:endParaRPr lang="en-US" b="1">
              <a:solidFill>
                <a:srgbClr val="00B050"/>
              </a:solidFill>
              <a:latin typeface="Calibri" panose="020F0502020204030204" charset="0"/>
            </a:endParaRPr>
          </a:p>
        </p:txBody>
      </p:sp>
      <p:sp>
        <p:nvSpPr>
          <p:cNvPr id="8236" name="TextBox 18431"/>
          <p:cNvSpPr txBox="1"/>
          <p:nvPr/>
        </p:nvSpPr>
        <p:spPr>
          <a:xfrm>
            <a:off x="1527175" y="5410200"/>
            <a:ext cx="57816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>
                <a:latin typeface="Calibri" panose="020F0502020204030204" charset="0"/>
              </a:rPr>
              <a:t>A new software is developed based on existing components</a:t>
            </a:r>
            <a:endParaRPr lang="en-US">
              <a:latin typeface="Calibri" panose="020F0502020204030204" charset="0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7451725" y="1125538"/>
            <a:ext cx="346075" cy="31591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C1</a:t>
            </a:r>
            <a:endParaRPr kumimoji="0" lang="en-US" sz="11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238" name="TextBox 18434"/>
          <p:cNvSpPr txBox="1"/>
          <p:nvPr/>
        </p:nvSpPr>
        <p:spPr>
          <a:xfrm>
            <a:off x="7734300" y="1069975"/>
            <a:ext cx="143192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>
                <a:latin typeface="Calibri" panose="020F0502020204030204" charset="0"/>
              </a:rPr>
              <a:t>= component</a:t>
            </a:r>
            <a:endParaRPr 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altLang="en-US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Component-based software development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19475" y="2673350"/>
            <a:ext cx="1727200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Challenges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TextBox 1"/>
          <p:cNvSpPr txBox="1"/>
          <p:nvPr/>
        </p:nvSpPr>
        <p:spPr>
          <a:xfrm>
            <a:off x="1493838" y="1774825"/>
            <a:ext cx="108902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>
                <a:latin typeface="Calibri" panose="020F0502020204030204" charset="0"/>
              </a:rPr>
              <a:t>Identified</a:t>
            </a:r>
            <a:endParaRPr lang="en-US">
              <a:latin typeface="Calibri" panose="020F0502020204030204" charset="0"/>
            </a:endParaRPr>
          </a:p>
        </p:txBody>
      </p:sp>
      <p:sp>
        <p:nvSpPr>
          <p:cNvPr id="9221" name="TextBox 20"/>
          <p:cNvSpPr txBox="1"/>
          <p:nvPr/>
        </p:nvSpPr>
        <p:spPr>
          <a:xfrm>
            <a:off x="5292725" y="1916113"/>
            <a:ext cx="1955800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>
                <a:latin typeface="Calibri" panose="020F0502020204030204" charset="0"/>
              </a:rPr>
              <a:t>Developed/Bought</a:t>
            </a:r>
            <a:endParaRPr lang="en-US">
              <a:latin typeface="Calibri" panose="020F0502020204030204" charset="0"/>
            </a:endParaRPr>
          </a:p>
        </p:txBody>
      </p:sp>
      <p:sp>
        <p:nvSpPr>
          <p:cNvPr id="9222" name="TextBox 21"/>
          <p:cNvSpPr txBox="1"/>
          <p:nvPr/>
        </p:nvSpPr>
        <p:spPr>
          <a:xfrm>
            <a:off x="1258888" y="3840163"/>
            <a:ext cx="132397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>
                <a:latin typeface="Calibri" panose="020F0502020204030204" charset="0"/>
              </a:rPr>
              <a:t>Software </a:t>
            </a:r>
            <a:endParaRPr lang="en-US">
              <a:latin typeface="Calibri" panose="020F0502020204030204" charset="0"/>
            </a:endParaRPr>
          </a:p>
          <a:p>
            <a:pPr algn="ctr" eaLnBrk="0" hangingPunct="0"/>
            <a:r>
              <a:rPr lang="en-US">
                <a:latin typeface="Calibri" panose="020F0502020204030204" charset="0"/>
              </a:rPr>
              <a:t>architecture</a:t>
            </a:r>
            <a:endParaRPr lang="en-US">
              <a:latin typeface="Calibri" panose="020F0502020204030204" charset="0"/>
            </a:endParaRPr>
          </a:p>
        </p:txBody>
      </p:sp>
      <p:sp>
        <p:nvSpPr>
          <p:cNvPr id="9223" name="TextBox 3"/>
          <p:cNvSpPr txBox="1"/>
          <p:nvPr/>
        </p:nvSpPr>
        <p:spPr>
          <a:xfrm>
            <a:off x="3684588" y="4941888"/>
            <a:ext cx="1774825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>
                <a:latin typeface="Calibri" panose="020F0502020204030204" charset="0"/>
              </a:rPr>
              <a:t>Integrated with</a:t>
            </a:r>
            <a:endParaRPr lang="en-US">
              <a:latin typeface="Calibri" panose="020F0502020204030204" charset="0"/>
            </a:endParaRPr>
          </a:p>
          <a:p>
            <a:pPr algn="ctr" eaLnBrk="0" hangingPunct="0"/>
            <a:r>
              <a:rPr lang="en-US">
                <a:latin typeface="Calibri" panose="020F0502020204030204" charset="0"/>
              </a:rPr>
              <a:t>Existing software</a:t>
            </a:r>
            <a:endParaRPr lang="en-US">
              <a:latin typeface="Calibri" panose="020F0502020204030204" charset="0"/>
            </a:endParaRPr>
          </a:p>
        </p:txBody>
      </p:sp>
      <p:sp>
        <p:nvSpPr>
          <p:cNvPr id="9224" name="TextBox 4"/>
          <p:cNvSpPr txBox="1"/>
          <p:nvPr/>
        </p:nvSpPr>
        <p:spPr>
          <a:xfrm>
            <a:off x="5800725" y="3538538"/>
            <a:ext cx="939800" cy="646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>
                <a:latin typeface="Calibri" panose="020F0502020204030204" charset="0"/>
              </a:rPr>
              <a:t>Suitable</a:t>
            </a:r>
            <a:endParaRPr lang="en-US">
              <a:latin typeface="Calibri" panose="020F0502020204030204" charset="0"/>
            </a:endParaRPr>
          </a:p>
          <a:p>
            <a:pPr algn="ctr" eaLnBrk="0" hangingPunct="0"/>
            <a:r>
              <a:rPr lang="en-US">
                <a:latin typeface="Calibri" panose="020F0502020204030204" charset="0"/>
              </a:rPr>
              <a:t>SDLC</a:t>
            </a:r>
            <a:endParaRPr 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altLang="en-US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Component-based software development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0243" name="TextBox 42"/>
          <p:cNvSpPr txBox="1"/>
          <p:nvPr/>
        </p:nvSpPr>
        <p:spPr>
          <a:xfrm>
            <a:off x="1258888" y="1209675"/>
            <a:ext cx="6745287" cy="9239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>
                <a:solidFill>
                  <a:srgbClr val="00B050"/>
                </a:solidFill>
                <a:latin typeface="Calibri" panose="020F0502020204030204" charset="0"/>
              </a:rPr>
              <a:t>Software components </a:t>
            </a:r>
            <a:r>
              <a:rPr lang="en-US" altLang="en-US">
                <a:latin typeface="Calibri" panose="020F0502020204030204" charset="0"/>
              </a:rPr>
              <a:t>– An architectural entity that (1) </a:t>
            </a:r>
            <a:r>
              <a:rPr lang="en-US" altLang="en-US">
                <a:solidFill>
                  <a:srgbClr val="FF0000"/>
                </a:solidFill>
                <a:latin typeface="Calibri" panose="020F0502020204030204" charset="0"/>
              </a:rPr>
              <a:t>encapsulates</a:t>
            </a:r>
            <a:endParaRPr lang="en-US" altLang="en-US">
              <a:solidFill>
                <a:srgbClr val="FF0000"/>
              </a:solidFill>
              <a:latin typeface="Calibri" panose="020F0502020204030204" charset="0"/>
            </a:endParaRPr>
          </a:p>
          <a:p>
            <a:pPr eaLnBrk="0" hangingPunct="0"/>
            <a:r>
              <a:rPr lang="en-US" altLang="en-US">
                <a:latin typeface="Calibri" panose="020F0502020204030204" charset="0"/>
              </a:rPr>
              <a:t>a software functionalities/data (2) access </a:t>
            </a:r>
            <a:r>
              <a:rPr lang="en-US" altLang="en-US">
                <a:solidFill>
                  <a:srgbClr val="FF0000"/>
                </a:solidFill>
                <a:latin typeface="Calibri" panose="020F0502020204030204" charset="0"/>
              </a:rPr>
              <a:t>restriction</a:t>
            </a:r>
            <a:r>
              <a:rPr lang="en-US" altLang="en-US">
                <a:latin typeface="Calibri" panose="020F0502020204030204" charset="0"/>
              </a:rPr>
              <a:t>, (3) communicate</a:t>
            </a:r>
            <a:endParaRPr lang="en-US" altLang="en-US">
              <a:latin typeface="Calibri" panose="020F0502020204030204" charset="0"/>
            </a:endParaRPr>
          </a:p>
          <a:p>
            <a:pPr eaLnBrk="0" hangingPunct="0"/>
            <a:r>
              <a:rPr lang="en-US" altLang="en-US">
                <a:latin typeface="Calibri" panose="020F0502020204030204" charset="0"/>
              </a:rPr>
              <a:t>via </a:t>
            </a:r>
            <a:r>
              <a:rPr lang="en-US" altLang="en-US">
                <a:solidFill>
                  <a:srgbClr val="FF0000"/>
                </a:solidFill>
                <a:latin typeface="Calibri" panose="020F0502020204030204" charset="0"/>
              </a:rPr>
              <a:t>interface</a:t>
            </a:r>
            <a:r>
              <a:rPr lang="en-US" altLang="en-US">
                <a:latin typeface="Calibri" panose="020F0502020204030204" charset="0"/>
              </a:rPr>
              <a:t> (4) defined </a:t>
            </a:r>
            <a:r>
              <a:rPr lang="en-US" altLang="en-US">
                <a:solidFill>
                  <a:srgbClr val="FF0000"/>
                </a:solidFill>
                <a:latin typeface="Calibri" panose="020F0502020204030204" charset="0"/>
              </a:rPr>
              <a:t>dependencies</a:t>
            </a:r>
            <a:r>
              <a:rPr lang="en-US" altLang="en-US">
                <a:latin typeface="Calibri" panose="020F0502020204030204" charset="0"/>
              </a:rPr>
              <a:t> between component</a:t>
            </a:r>
            <a:endParaRPr lang="en-US" altLang="en-US">
              <a:latin typeface="Calibri" panose="020F0502020204030204" charset="0"/>
            </a:endParaRPr>
          </a:p>
        </p:txBody>
      </p:sp>
      <p:sp>
        <p:nvSpPr>
          <p:cNvPr id="10244" name="TextBox 1"/>
          <p:cNvSpPr txBox="1"/>
          <p:nvPr/>
        </p:nvSpPr>
        <p:spPr>
          <a:xfrm>
            <a:off x="3009900" y="2982913"/>
            <a:ext cx="266700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b="1">
                <a:solidFill>
                  <a:srgbClr val="00B050"/>
                </a:solidFill>
                <a:latin typeface="Calibri" panose="020F0502020204030204" charset="0"/>
              </a:rPr>
              <a:t>CONTEXT INDEPENDENT!!</a:t>
            </a:r>
            <a:endParaRPr lang="en-US" b="1">
              <a:solidFill>
                <a:srgbClr val="00B050"/>
              </a:solidFill>
              <a:latin typeface="Calibri" panose="020F0502020204030204" charset="0"/>
            </a:endParaRPr>
          </a:p>
        </p:txBody>
      </p:sp>
      <p:pic>
        <p:nvPicPr>
          <p:cNvPr id="10245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3844925"/>
            <a:ext cx="3132138" cy="17605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6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7538" y="3878263"/>
            <a:ext cx="3132137" cy="16938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6" name="Straight Arrow Connector 5"/>
          <p:cNvCxnSpPr>
            <a:stCxn id="10245" idx="3"/>
            <a:endCxn id="10246" idx="1"/>
          </p:cNvCxnSpPr>
          <p:nvPr/>
        </p:nvCxnSpPr>
        <p:spPr>
          <a:xfrm>
            <a:off x="3446463" y="4724400"/>
            <a:ext cx="2251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Properties of components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9388" y="2133600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Independent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0975" y="2708275"/>
            <a:ext cx="1584325" cy="43338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Location transparent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388" y="3303588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Integrated &amp; composable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79388" y="3879850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Configurable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79388" y="4475163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Separation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79388" y="5070475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Versioning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77800" y="5665788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Reusable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4" name="TextBox 3"/>
          <p:cNvSpPr txBox="1"/>
          <p:nvPr/>
        </p:nvSpPr>
        <p:spPr>
          <a:xfrm>
            <a:off x="1762125" y="2225675"/>
            <a:ext cx="4016375" cy="246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 sz="1000">
                <a:latin typeface="Calibri" panose="020F0502020204030204" charset="0"/>
              </a:rPr>
              <a:t>Loosely coupled; move forward, move backward for robotics components</a:t>
            </a:r>
            <a:endParaRPr lang="en-US" altLang="en-US" sz="1000">
              <a:latin typeface="Calibri" panose="020F0502020204030204" charset="0"/>
            </a:endParaRPr>
          </a:p>
        </p:txBody>
      </p:sp>
      <p:sp>
        <p:nvSpPr>
          <p:cNvPr id="11275" name="TextBox 13"/>
          <p:cNvSpPr txBox="1"/>
          <p:nvPr/>
        </p:nvSpPr>
        <p:spPr>
          <a:xfrm>
            <a:off x="1762125" y="2824163"/>
            <a:ext cx="5513388" cy="2460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000">
                <a:latin typeface="Calibri" panose="020F0502020204030204" charset="0"/>
              </a:rPr>
              <a:t>The location of the components should be visible to any components; at business, UI or database layer</a:t>
            </a:r>
            <a:endParaRPr lang="en-US" sz="1000">
              <a:latin typeface="Calibri" panose="020F0502020204030204" charset="0"/>
            </a:endParaRPr>
          </a:p>
        </p:txBody>
      </p:sp>
      <p:sp>
        <p:nvSpPr>
          <p:cNvPr id="11276" name="TextBox 14"/>
          <p:cNvSpPr txBox="1"/>
          <p:nvPr/>
        </p:nvSpPr>
        <p:spPr>
          <a:xfrm>
            <a:off x="1762125" y="3433763"/>
            <a:ext cx="2460625" cy="2460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000">
                <a:latin typeface="Calibri" panose="020F0502020204030204" charset="0"/>
              </a:rPr>
              <a:t>Easy to integrate/compose into a software; </a:t>
            </a:r>
            <a:endParaRPr lang="en-US" sz="1000">
              <a:latin typeface="Calibri" panose="020F0502020204030204" charset="0"/>
            </a:endParaRPr>
          </a:p>
        </p:txBody>
      </p:sp>
      <p:sp>
        <p:nvSpPr>
          <p:cNvPr id="11277" name="TextBox 15"/>
          <p:cNvSpPr txBox="1"/>
          <p:nvPr/>
        </p:nvSpPr>
        <p:spPr>
          <a:xfrm>
            <a:off x="1762125" y="3992563"/>
            <a:ext cx="1524000" cy="2460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000">
                <a:latin typeface="Calibri" panose="020F0502020204030204" charset="0"/>
              </a:rPr>
              <a:t>Easy and fast to configure</a:t>
            </a:r>
            <a:endParaRPr lang="en-US" sz="1000">
              <a:latin typeface="Calibri" panose="020F0502020204030204" charset="0"/>
            </a:endParaRPr>
          </a:p>
        </p:txBody>
      </p:sp>
      <p:sp>
        <p:nvSpPr>
          <p:cNvPr id="11278" name="TextBox 16"/>
          <p:cNvSpPr txBox="1"/>
          <p:nvPr/>
        </p:nvSpPr>
        <p:spPr>
          <a:xfrm>
            <a:off x="1762125" y="4586288"/>
            <a:ext cx="7234238" cy="24606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000">
                <a:latin typeface="Calibri" panose="020F0502020204030204" charset="0"/>
              </a:rPr>
              <a:t>Interface and implementation is completely separated; client does not know the component’s implementation; comm. Only via interface</a:t>
            </a:r>
            <a:endParaRPr lang="en-US" sz="1000">
              <a:latin typeface="Calibri" panose="020F0502020204030204" charset="0"/>
            </a:endParaRPr>
          </a:p>
        </p:txBody>
      </p:sp>
      <p:sp>
        <p:nvSpPr>
          <p:cNvPr id="11279" name="TextBox 17"/>
          <p:cNvSpPr txBox="1"/>
          <p:nvPr/>
        </p:nvSpPr>
        <p:spPr>
          <a:xfrm>
            <a:off x="1778000" y="5192713"/>
            <a:ext cx="2674938" cy="2476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sz="1000">
                <a:latin typeface="Calibri" panose="020F0502020204030204" charset="0"/>
              </a:rPr>
              <a:t>Multiple version based on change requirements</a:t>
            </a:r>
            <a:endParaRPr lang="en-US" sz="1000">
              <a:latin typeface="Calibri" panose="020F050202020403020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784350" y="5775325"/>
            <a:ext cx="2562225" cy="2460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sz="1000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Can be used immediately with other software</a:t>
            </a:r>
            <a:endParaRPr kumimoji="0" lang="en-US" sz="1000" kern="1200" cap="none" spc="0" normalizeH="0" baseline="0" noProof="0" dirty="0">
              <a:solidFill>
                <a:schemeClr val="accent5"/>
              </a:solidFill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7800" y="1497013"/>
            <a:ext cx="1584325" cy="431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Defined purpose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82" name="TextBox 3"/>
          <p:cNvSpPr txBox="1"/>
          <p:nvPr/>
        </p:nvSpPr>
        <p:spPr>
          <a:xfrm>
            <a:off x="1762125" y="1635125"/>
            <a:ext cx="3335338" cy="2460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 sz="1000">
                <a:latin typeface="Calibri" panose="020F0502020204030204" charset="0"/>
              </a:rPr>
              <a:t>Specific functionality ; spellchecker, search engine, reporting</a:t>
            </a:r>
            <a:endParaRPr lang="en-US" altLang="en-US" sz="100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Technical view-example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2291" name="TextBox 42"/>
          <p:cNvSpPr txBox="1"/>
          <p:nvPr/>
        </p:nvSpPr>
        <p:spPr>
          <a:xfrm>
            <a:off x="3732213" y="985838"/>
            <a:ext cx="839787" cy="3698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>
                <a:solidFill>
                  <a:srgbClr val="00B0F0"/>
                </a:solidFill>
                <a:latin typeface="Calibri" panose="020F0502020204030204" charset="0"/>
              </a:rPr>
              <a:t>CORBA</a:t>
            </a:r>
            <a:endParaRPr lang="en-US" altLang="en-US"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rcRect l="18503" t="24760" r="22878" b="9904"/>
          <a:stretch>
            <a:fillRect/>
          </a:stretch>
        </p:blipFill>
        <p:spPr>
          <a:xfrm>
            <a:off x="1115695" y="1628775"/>
            <a:ext cx="6690360" cy="41948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itle 409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Overview of CORBA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3314" name="Text Placeholder 4098"/>
          <p:cNvSpPr>
            <a:spLocks noGrp="1"/>
          </p:cNvSpPr>
          <p:nvPr>
            <p:ph idx="1"/>
          </p:nvPr>
        </p:nvSpPr>
        <p:spPr>
          <a:xfrm>
            <a:off x="0" y="4762500"/>
            <a:ext cx="9144000" cy="838200"/>
          </a:xfrm>
          <a:ln/>
        </p:spPr>
        <p:txBody>
          <a:bodyPr anchor="t" anchorCtr="0"/>
          <a:p>
            <a:r>
              <a:rPr lang="en-US"/>
              <a:t>The global architecture of CORBA.</a:t>
            </a:r>
            <a:endParaRPr lang="en-US"/>
          </a:p>
        </p:txBody>
      </p:sp>
      <p:pic>
        <p:nvPicPr>
          <p:cNvPr id="13315" name="Picture 4100"/>
          <p:cNvPicPr>
            <a:picLocks noChangeAspect="1"/>
          </p:cNvPicPr>
          <p:nvPr/>
        </p:nvPicPr>
        <p:blipFill>
          <a:blip r:embed="rId1"/>
          <a:srcRect l="24345" t="47734" r="21352" b="41994"/>
          <a:stretch>
            <a:fillRect/>
          </a:stretch>
        </p:blipFill>
        <p:spPr>
          <a:xfrm>
            <a:off x="266700" y="1676400"/>
            <a:ext cx="8610600" cy="2305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512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Object Model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4338" name="Text Placeholder 5122"/>
          <p:cNvSpPr>
            <a:spLocks noGrp="1"/>
          </p:cNvSpPr>
          <p:nvPr>
            <p:ph idx="1"/>
          </p:nvPr>
        </p:nvSpPr>
        <p:spPr>
          <a:ln/>
        </p:spPr>
        <p:txBody>
          <a:bodyPr anchor="t" anchorCtr="0"/>
          <a:p>
            <a:r>
              <a:rPr lang="en-US" sz="2800"/>
              <a:t>The general organization of a CORBA system.</a:t>
            </a:r>
            <a:endParaRPr lang="en-US" sz="2800"/>
          </a:p>
        </p:txBody>
      </p:sp>
      <p:pic>
        <p:nvPicPr>
          <p:cNvPr id="14339" name="Picture 5124"/>
          <p:cNvPicPr>
            <a:picLocks noChangeAspect="1"/>
          </p:cNvPicPr>
          <p:nvPr/>
        </p:nvPicPr>
        <p:blipFill>
          <a:blip r:embed="rId1"/>
          <a:srcRect l="21379" t="43353" r="19028" b="38670"/>
          <a:stretch>
            <a:fillRect/>
          </a:stretch>
        </p:blipFill>
        <p:spPr>
          <a:xfrm>
            <a:off x="302895" y="2132965"/>
            <a:ext cx="8334375" cy="3557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614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Corba Services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5362" name="Text Placeholder 6146"/>
          <p:cNvSpPr>
            <a:spLocks noGrp="1"/>
          </p:cNvSpPr>
          <p:nvPr>
            <p:ph idx="1"/>
          </p:nvPr>
        </p:nvSpPr>
        <p:spPr>
          <a:xfrm>
            <a:off x="0" y="6391275"/>
            <a:ext cx="9144000" cy="466725"/>
          </a:xfrm>
          <a:ln/>
        </p:spPr>
        <p:txBody>
          <a:bodyPr anchor="t" anchorCtr="0"/>
          <a:p>
            <a:r>
              <a:rPr lang="en-US"/>
              <a:t>Overview of CORBA services.</a:t>
            </a:r>
            <a:endParaRPr lang="en-US"/>
          </a:p>
        </p:txBody>
      </p:sp>
      <p:graphicFrame>
        <p:nvGraphicFramePr>
          <p:cNvPr id="6235" name="Table 6234"/>
          <p:cNvGraphicFramePr/>
          <p:nvPr/>
        </p:nvGraphicFramePr>
        <p:xfrm>
          <a:off x="698500" y="1198563"/>
          <a:ext cx="7937500" cy="4922838"/>
        </p:xfrm>
        <a:graphic>
          <a:graphicData uri="http://schemas.openxmlformats.org/drawingml/2006/table">
            <a:tbl>
              <a:tblPr/>
              <a:tblGrid>
                <a:gridCol w="1504950"/>
                <a:gridCol w="6432550"/>
              </a:tblGrid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300" b="1">
                          <a:latin typeface="Arial" panose="020B0604020202020204" pitchFamily="34" charset="0"/>
                        </a:rPr>
                        <a:t>Service</a:t>
                      </a:r>
                      <a:endParaRPr lang="en-US" sz="13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300" b="1">
                          <a:latin typeface="Arial" panose="020B0604020202020204" pitchFamily="34" charset="0"/>
                        </a:rPr>
                        <a:t>Description</a:t>
                      </a:r>
                      <a:endParaRPr lang="en-US" sz="13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Collection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grouping objects into lists, queue, sets, etc.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Query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querying collections of objects in a declarative manner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Concurrency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to allow concurrent access to shared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Transaction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Flat and nested transactions on method calls over multiple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Event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asynchronous communication through events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Notification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Advanced facilities for event-based asynchronous communication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Externalization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marshaling and unmarshaling of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Life cycle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creation, deletion, copying, and moving of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Licensing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attaching a license to an object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Naming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systemwide name of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Property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associating (attribute, value) pairs with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Trading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to publish and find the services on object has to offer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Persistence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persistently storing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Relationship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Facilities for expressing relationships between objects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Security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Mechanisms for secure channels, authorization, and auditing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925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Time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300">
                          <a:latin typeface="Arial" panose="020B0604020202020204" pitchFamily="34" charset="0"/>
                        </a:rPr>
                        <a:t>Provides the current time within specified error margins</a:t>
                      </a:r>
                      <a:endParaRPr lang="en-US" sz="13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716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Object Invocation Models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6386" name="Text Placeholder 7170"/>
          <p:cNvSpPr>
            <a:spLocks noGrp="1"/>
          </p:cNvSpPr>
          <p:nvPr>
            <p:ph idx="1"/>
          </p:nvPr>
        </p:nvSpPr>
        <p:spPr>
          <a:xfrm>
            <a:off x="0" y="5386388"/>
            <a:ext cx="9144000" cy="838200"/>
          </a:xfrm>
          <a:ln/>
        </p:spPr>
        <p:txBody>
          <a:bodyPr anchor="t" anchorCtr="0"/>
          <a:p>
            <a:r>
              <a:rPr lang="en-US" sz="2800"/>
              <a:t>Invocation models supported in CORBA.</a:t>
            </a:r>
            <a:endParaRPr lang="en-US" sz="2800"/>
          </a:p>
        </p:txBody>
      </p:sp>
      <p:graphicFrame>
        <p:nvGraphicFramePr>
          <p:cNvPr id="7205" name="Table 7204"/>
          <p:cNvGraphicFramePr/>
          <p:nvPr/>
        </p:nvGraphicFramePr>
        <p:xfrm>
          <a:off x="436563" y="1397000"/>
          <a:ext cx="7889875" cy="3227388"/>
        </p:xfrm>
        <a:graphic>
          <a:graphicData uri="http://schemas.openxmlformats.org/drawingml/2006/table">
            <a:tbl>
              <a:tblPr/>
              <a:tblGrid>
                <a:gridCol w="1806575"/>
                <a:gridCol w="2622550"/>
                <a:gridCol w="3460750"/>
              </a:tblGrid>
              <a:tr h="484188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800" b="1">
                          <a:latin typeface="Arial" panose="020B0604020202020204" pitchFamily="34" charset="0"/>
                        </a:rPr>
                        <a:t>Request type</a:t>
                      </a:r>
                      <a:endParaRPr lang="en-US" sz="18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800" b="1">
                          <a:latin typeface="Arial" panose="020B0604020202020204" pitchFamily="34" charset="0"/>
                        </a:rPr>
                        <a:t>Failure semantics</a:t>
                      </a:r>
                      <a:endParaRPr lang="en-US" sz="18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800" b="1">
                          <a:latin typeface="Arial" panose="020B0604020202020204" pitchFamily="34" charset="0"/>
                        </a:rPr>
                        <a:t>Description</a:t>
                      </a:r>
                      <a:endParaRPr lang="en-US" sz="18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Synchronous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At-most-once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Caller blocks until a response is returned or an exception is raised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One-way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Best effort delivery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Caller continues immediately without waiting for any response from the server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440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Deferred synchronous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At-most-once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800">
                          <a:latin typeface="Arial" panose="020B0604020202020204" pitchFamily="34" charset="0"/>
                        </a:rPr>
                        <a:t>Caller continues immediately and can later block until response is delivered</a:t>
                      </a:r>
                      <a:endParaRPr lang="en-US" sz="1800"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6" name="Title 102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Event and Notification Services (1)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7410" name="Text Placeholder 1026"/>
          <p:cNvSpPr>
            <a:spLocks noGrp="1"/>
          </p:cNvSpPr>
          <p:nvPr>
            <p:ph idx="1"/>
          </p:nvPr>
        </p:nvSpPr>
        <p:spPr>
          <a:xfrm>
            <a:off x="800100" y="4914900"/>
            <a:ext cx="7696200" cy="838200"/>
          </a:xfrm>
          <a:ln/>
        </p:spPr>
        <p:txBody>
          <a:bodyPr anchor="t" anchorCtr="0"/>
          <a:p>
            <a:pPr>
              <a:lnSpc>
                <a:spcPct val="90000"/>
              </a:lnSpc>
            </a:pPr>
            <a:r>
              <a:rPr lang="en-US" sz="2800"/>
              <a:t>The logical organization of suppliers and consumers of events, following the push-style model.</a:t>
            </a:r>
            <a:endParaRPr lang="en-US" sz="2800"/>
          </a:p>
        </p:txBody>
      </p:sp>
      <p:pic>
        <p:nvPicPr>
          <p:cNvPr id="17411" name="Picture 1028"/>
          <p:cNvPicPr>
            <a:picLocks noChangeAspect="1"/>
          </p:cNvPicPr>
          <p:nvPr/>
        </p:nvPicPr>
        <p:blipFill>
          <a:blip r:embed="rId1"/>
          <a:srcRect l="28862" t="48187" r="24345" b="42296"/>
          <a:stretch>
            <a:fillRect/>
          </a:stretch>
        </p:blipFill>
        <p:spPr>
          <a:xfrm>
            <a:off x="461963" y="1943100"/>
            <a:ext cx="8339137" cy="240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819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Event and Notification Services (2)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8434" name="Text Placeholder 8194"/>
          <p:cNvSpPr>
            <a:spLocks noGrp="1"/>
          </p:cNvSpPr>
          <p:nvPr>
            <p:ph idx="1"/>
          </p:nvPr>
        </p:nvSpPr>
        <p:spPr>
          <a:xfrm>
            <a:off x="0" y="4914900"/>
            <a:ext cx="9144000" cy="838200"/>
          </a:xfrm>
          <a:ln/>
        </p:spPr>
        <p:txBody>
          <a:bodyPr anchor="t" anchorCtr="0"/>
          <a:p>
            <a:r>
              <a:rPr lang="en-US"/>
              <a:t>The pull-style model for event delivery in CORBA.</a:t>
            </a:r>
            <a:endParaRPr lang="en-US"/>
          </a:p>
        </p:txBody>
      </p:sp>
      <p:pic>
        <p:nvPicPr>
          <p:cNvPr id="18435" name="Picture 8196"/>
          <p:cNvPicPr>
            <a:picLocks noChangeAspect="1"/>
          </p:cNvPicPr>
          <p:nvPr/>
        </p:nvPicPr>
        <p:blipFill>
          <a:blip r:embed="rId1"/>
          <a:srcRect l="29289" t="48187" r="24345" b="42447"/>
          <a:stretch>
            <a:fillRect/>
          </a:stretch>
        </p:blipFill>
        <p:spPr>
          <a:xfrm>
            <a:off x="419100" y="1828800"/>
            <a:ext cx="8262938" cy="2362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9217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Messaging (1)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19458" name="Text Placeholder 9218"/>
          <p:cNvSpPr>
            <a:spLocks noGrp="1"/>
          </p:cNvSpPr>
          <p:nvPr>
            <p:ph idx="1"/>
          </p:nvPr>
        </p:nvSpPr>
        <p:spPr>
          <a:ln/>
        </p:spPr>
        <p:txBody>
          <a:bodyPr anchor="t" anchorCtr="0"/>
          <a:p>
            <a:r>
              <a:rPr lang="en-US"/>
              <a:t>CORBA's callback model for asynchronous method invocation.</a:t>
            </a:r>
            <a:endParaRPr lang="en-US"/>
          </a:p>
        </p:txBody>
      </p:sp>
      <p:pic>
        <p:nvPicPr>
          <p:cNvPr id="19459" name="Picture 9220"/>
          <p:cNvPicPr>
            <a:picLocks noChangeAspect="1"/>
          </p:cNvPicPr>
          <p:nvPr/>
        </p:nvPicPr>
        <p:blipFill>
          <a:blip r:embed="rId1"/>
          <a:srcRect l="28435" t="45015" r="24345" b="39577"/>
          <a:stretch>
            <a:fillRect/>
          </a:stretch>
        </p:blipFill>
        <p:spPr>
          <a:xfrm>
            <a:off x="347663" y="1600200"/>
            <a:ext cx="8415337" cy="38862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0241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Messaging (2)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20482" name="Text Placeholder 10242"/>
          <p:cNvSpPr>
            <a:spLocks noGrp="1"/>
          </p:cNvSpPr>
          <p:nvPr>
            <p:ph idx="1"/>
          </p:nvPr>
        </p:nvSpPr>
        <p:spPr>
          <a:xfrm>
            <a:off x="1104900" y="5372100"/>
            <a:ext cx="6019800" cy="838200"/>
          </a:xfrm>
          <a:ln/>
        </p:spPr>
        <p:txBody>
          <a:bodyPr anchor="t" anchorCtr="0"/>
          <a:p>
            <a:pPr>
              <a:lnSpc>
                <a:spcPct val="90000"/>
              </a:lnSpc>
            </a:pPr>
            <a:r>
              <a:rPr lang="en-US" sz="2800"/>
              <a:t>CORBA'S polling model for asynchronous method invocation.</a:t>
            </a:r>
            <a:endParaRPr lang="en-US" sz="2800"/>
          </a:p>
        </p:txBody>
      </p:sp>
      <p:pic>
        <p:nvPicPr>
          <p:cNvPr id="20483" name="Picture 10244"/>
          <p:cNvPicPr>
            <a:picLocks noChangeAspect="1"/>
          </p:cNvPicPr>
          <p:nvPr/>
        </p:nvPicPr>
        <p:blipFill>
          <a:blip r:embed="rId1"/>
          <a:srcRect l="28862" t="45317" r="24345" b="39728"/>
          <a:stretch>
            <a:fillRect/>
          </a:stretch>
        </p:blipFill>
        <p:spPr>
          <a:xfrm>
            <a:off x="381000" y="1390650"/>
            <a:ext cx="8339138" cy="37719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126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Interoperability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21506" name="Text Placeholder 11266"/>
          <p:cNvSpPr>
            <a:spLocks noGrp="1"/>
          </p:cNvSpPr>
          <p:nvPr>
            <p:ph idx="1"/>
          </p:nvPr>
        </p:nvSpPr>
        <p:spPr>
          <a:xfrm>
            <a:off x="0" y="5334000"/>
            <a:ext cx="9144000" cy="838200"/>
          </a:xfrm>
          <a:ln/>
        </p:spPr>
        <p:txBody>
          <a:bodyPr anchor="t" anchorCtr="0"/>
          <a:p>
            <a:r>
              <a:rPr lang="en-US"/>
              <a:t>GIOP message types.</a:t>
            </a:r>
            <a:endParaRPr lang="en-US"/>
          </a:p>
        </p:txBody>
      </p:sp>
      <p:graphicFrame>
        <p:nvGraphicFramePr>
          <p:cNvPr id="11326" name="Table 11325"/>
          <p:cNvGraphicFramePr/>
          <p:nvPr/>
        </p:nvGraphicFramePr>
        <p:xfrm>
          <a:off x="419100" y="1397000"/>
          <a:ext cx="8407400" cy="3144838"/>
        </p:xfrm>
        <a:graphic>
          <a:graphicData uri="http://schemas.openxmlformats.org/drawingml/2006/table">
            <a:tbl>
              <a:tblPr/>
              <a:tblGrid>
                <a:gridCol w="2041525"/>
                <a:gridCol w="1370013"/>
                <a:gridCol w="4995862"/>
              </a:tblGrid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600" b="1">
                          <a:latin typeface="Arial" panose="020B0604020202020204" pitchFamily="34" charset="0"/>
                        </a:rPr>
                        <a:t>Message type</a:t>
                      </a:r>
                      <a:endParaRPr lang="en-US" sz="16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600" b="1">
                          <a:latin typeface="Arial" panose="020B0604020202020204" pitchFamily="34" charset="0"/>
                        </a:rPr>
                        <a:t>Originator</a:t>
                      </a:r>
                      <a:endParaRPr lang="en-US" sz="16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>
                        <a:buClr>
                          <a:schemeClr val="accent2"/>
                        </a:buClr>
                        <a:buNone/>
                      </a:pPr>
                      <a:r>
                        <a:rPr sz="1600" b="1">
                          <a:latin typeface="Arial" panose="020B0604020202020204" pitchFamily="34" charset="0"/>
                        </a:rPr>
                        <a:t>Description</a:t>
                      </a:r>
                      <a:endParaRPr lang="en-US" sz="1600" b="1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Request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Client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Contains an invocation request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0838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Reply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Server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Contains the response to an invocation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LocateRequest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Client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Contains a request on the exact location of an object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LocateReply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Server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Contains location information on an object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CancelRequest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Client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Indicates client no longer expects a reply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CloseConnection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Both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Indication that connection will be closed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MessageError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Both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Contains information on an error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9250"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Fragment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Both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None/>
                        <a:defRPr sz="280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1pPr>
                      <a:lvl2pPr marL="0" lvl="1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2pPr>
                      <a:lvl3pPr marL="0" lvl="2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•"/>
                        <a:defRPr sz="20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3pPr>
                      <a:lvl4pPr marL="0" lvl="3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–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4pPr>
                      <a:lvl5pPr marL="0" lvl="4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Tx/>
                        <a:buChar char="»"/>
                        <a:defRPr sz="1800" b="0" i="0" u="none" kern="1200" baseline="0">
                          <a:solidFill>
                            <a:schemeClr val="tx1"/>
                          </a:solidFill>
                          <a:latin typeface="Times New Roman" panose="02020603050405020304" charset="0"/>
                        </a:defRPr>
                      </a:lvl5pPr>
                    </a:lstStyle>
                    <a:p>
                      <a:pPr marL="0" lvl="0" indent="0" algn="l">
                        <a:buClr>
                          <a:schemeClr val="accent2"/>
                        </a:buClr>
                        <a:buNone/>
                      </a:pPr>
                      <a:r>
                        <a:rPr sz="1600">
                          <a:latin typeface="Arial" panose="020B0604020202020204" pitchFamily="34" charset="0"/>
                        </a:rPr>
                        <a:t>Part (fragment) of a larger message</a:t>
                      </a:r>
                      <a:endParaRPr lang="en-US" sz="1600"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228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Clients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22530" name="Text Placeholder 12290"/>
          <p:cNvSpPr>
            <a:spLocks noGrp="1"/>
          </p:cNvSpPr>
          <p:nvPr>
            <p:ph idx="1"/>
          </p:nvPr>
        </p:nvSpPr>
        <p:spPr>
          <a:xfrm>
            <a:off x="0" y="6019800"/>
            <a:ext cx="9144000" cy="838200"/>
          </a:xfrm>
          <a:ln/>
        </p:spPr>
        <p:txBody>
          <a:bodyPr anchor="t" anchorCtr="0"/>
          <a:p>
            <a:r>
              <a:rPr lang="en-US"/>
              <a:t>Logical placement of interceptors in CORBA.</a:t>
            </a:r>
            <a:endParaRPr lang="en-US"/>
          </a:p>
        </p:txBody>
      </p:sp>
      <p:pic>
        <p:nvPicPr>
          <p:cNvPr id="22531" name="Picture 12292"/>
          <p:cNvPicPr>
            <a:picLocks noChangeAspect="1"/>
          </p:cNvPicPr>
          <p:nvPr/>
        </p:nvPicPr>
        <p:blipFill>
          <a:blip r:embed="rId1"/>
          <a:srcRect l="28220" t="43051" r="26938" b="37160"/>
          <a:stretch>
            <a:fillRect/>
          </a:stretch>
        </p:blipFill>
        <p:spPr>
          <a:xfrm>
            <a:off x="504825" y="952500"/>
            <a:ext cx="7991475" cy="4991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3313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Portable Object Adaptor (1)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23554" name="Text Placeholder 13314"/>
          <p:cNvSpPr>
            <a:spLocks noGrp="1"/>
          </p:cNvSpPr>
          <p:nvPr>
            <p:ph idx="1"/>
          </p:nvPr>
        </p:nvSpPr>
        <p:spPr>
          <a:xfrm>
            <a:off x="1066800" y="5334000"/>
            <a:ext cx="8077200" cy="838200"/>
          </a:xfrm>
          <a:ln/>
        </p:spPr>
        <p:txBody>
          <a:bodyPr anchor="t" anchorCtr="0"/>
          <a:p>
            <a:pPr marL="609600" indent="-609600">
              <a:lnSpc>
                <a:spcPct val="90000"/>
              </a:lnSpc>
              <a:buClr>
                <a:schemeClr val="accent2"/>
              </a:buClr>
              <a:buNone/>
            </a:pPr>
            <a:r>
              <a:rPr lang="en-US"/>
              <a:t>Mapping of CORBA object identifiers to servants.</a:t>
            </a:r>
            <a:endParaRPr lang="en-US"/>
          </a:p>
          <a:p>
            <a:pPr marL="609600" indent="-609600">
              <a:lnSpc>
                <a:spcPct val="90000"/>
              </a:lnSpc>
              <a:buClr>
                <a:schemeClr val="accent2"/>
              </a:buClr>
              <a:buFontTx/>
              <a:buAutoNum type="alphaLcParenR"/>
            </a:pPr>
            <a:r>
              <a:rPr lang="en-US"/>
              <a:t>The POA supports multiple servants.</a:t>
            </a:r>
            <a:endParaRPr lang="en-US"/>
          </a:p>
          <a:p>
            <a:pPr marL="609600" indent="-609600">
              <a:lnSpc>
                <a:spcPct val="90000"/>
              </a:lnSpc>
              <a:buClr>
                <a:schemeClr val="accent2"/>
              </a:buClr>
              <a:buFontTx/>
              <a:buAutoNum type="alphaLcParenR"/>
            </a:pPr>
            <a:r>
              <a:rPr lang="en-US"/>
              <a:t>The POA supports a single servant.</a:t>
            </a:r>
            <a:endParaRPr lang="en-US"/>
          </a:p>
        </p:txBody>
      </p:sp>
      <p:pic>
        <p:nvPicPr>
          <p:cNvPr id="23555" name="Picture 13316"/>
          <p:cNvPicPr>
            <a:picLocks noChangeAspect="1"/>
          </p:cNvPicPr>
          <p:nvPr/>
        </p:nvPicPr>
        <p:blipFill>
          <a:blip r:embed="rId1"/>
          <a:srcRect l="19882" t="43051" r="17317" b="37160"/>
          <a:stretch>
            <a:fillRect/>
          </a:stretch>
        </p:blipFill>
        <p:spPr>
          <a:xfrm>
            <a:off x="347663" y="1371600"/>
            <a:ext cx="8453437" cy="37703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5" name="Picture 21508"/>
          <p:cNvPicPr>
            <a:picLocks noChangeAspect="1"/>
          </p:cNvPicPr>
          <p:nvPr/>
        </p:nvPicPr>
        <p:blipFill>
          <a:blip r:embed="rId1"/>
          <a:srcRect l="24345" t="41994" r="20309" b="36253"/>
          <a:stretch>
            <a:fillRect/>
          </a:stretch>
        </p:blipFill>
        <p:spPr>
          <a:xfrm>
            <a:off x="228600" y="1028700"/>
            <a:ext cx="8605838" cy="47863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506" name="Title 21505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Security (1)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1747" name="Text Placeholder 21506"/>
          <p:cNvSpPr>
            <a:spLocks noGrp="1"/>
          </p:cNvSpPr>
          <p:nvPr>
            <p:ph idx="1"/>
          </p:nvPr>
        </p:nvSpPr>
        <p:spPr>
          <a:xfrm>
            <a:off x="0" y="6019800"/>
            <a:ext cx="9144000" cy="533400"/>
          </a:xfrm>
          <a:ln/>
        </p:spPr>
        <p:txBody>
          <a:bodyPr anchor="t" anchorCtr="0"/>
          <a:p>
            <a:r>
              <a:rPr lang="en-US"/>
              <a:t>The general organization for secure object invocation in CORBA.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2769" name="Picture 22532"/>
          <p:cNvPicPr>
            <a:picLocks noChangeAspect="1"/>
          </p:cNvPicPr>
          <p:nvPr/>
        </p:nvPicPr>
        <p:blipFill>
          <a:blip r:embed="rId1"/>
          <a:srcRect l="24345" t="41389" r="21165" b="35649"/>
          <a:stretch>
            <a:fillRect/>
          </a:stretch>
        </p:blipFill>
        <p:spPr>
          <a:xfrm>
            <a:off x="538163" y="952500"/>
            <a:ext cx="8224837" cy="4905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530" name="Title 22529"/>
          <p:cNvSpPr>
            <a:spLocks noGrp="1"/>
          </p:cNvSpPr>
          <p:nvPr>
            <p:ph type="title"/>
          </p:nvPr>
        </p:nvSpPr>
        <p:spPr/>
        <p:txBody>
          <a:bodyPr anchor="ctr"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sz="2800" b="1" i="0" u="none" strike="noStrike" kern="1200" cap="small" spc="0" normalizeH="0" baseline="0" noProof="1">
                <a:solidFill>
                  <a:schemeClr val="tx1"/>
                </a:solidFill>
                <a:latin typeface="+mj-lt"/>
                <a:ea typeface="MS PGothic" panose="020B0600070205080204" pitchFamily="34" charset="-128"/>
                <a:cs typeface="+mj-cs"/>
              </a:rPr>
              <a:t>Security (2)</a:t>
            </a:r>
            <a:endParaRPr kumimoji="0" sz="2800" b="1" i="0" u="none" strike="noStrike" kern="1200" cap="small" spc="0" normalizeH="0" baseline="0" noProof="1">
              <a:solidFill>
                <a:schemeClr val="tx1"/>
              </a:solidFill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32771" name="Text Placeholder 22530"/>
          <p:cNvSpPr>
            <a:spLocks noGrp="1"/>
          </p:cNvSpPr>
          <p:nvPr>
            <p:ph idx="1"/>
          </p:nvPr>
        </p:nvSpPr>
        <p:spPr>
          <a:xfrm>
            <a:off x="0" y="6019800"/>
            <a:ext cx="9144000" cy="533400"/>
          </a:xfrm>
          <a:ln/>
        </p:spPr>
        <p:txBody>
          <a:bodyPr anchor="t" anchorCtr="0"/>
          <a:p>
            <a:pPr>
              <a:lnSpc>
                <a:spcPct val="90000"/>
              </a:lnSpc>
            </a:pPr>
            <a:r>
              <a:rPr lang="en-US"/>
              <a:t>The role of security interceptors in CORBA.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 models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66563" name="TextBox 42"/>
          <p:cNvSpPr txBox="1"/>
          <p:nvPr/>
        </p:nvSpPr>
        <p:spPr>
          <a:xfrm>
            <a:off x="741363" y="1095375"/>
            <a:ext cx="766127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>
                <a:solidFill>
                  <a:srgbClr val="00B050"/>
                </a:solidFill>
                <a:latin typeface="Calibri" panose="020F0502020204030204" charset="0"/>
              </a:rPr>
              <a:t>Software Component </a:t>
            </a:r>
            <a:r>
              <a:rPr lang="en-US" altLang="en-US">
                <a:latin typeface="Calibri" panose="020F0502020204030204" charset="0"/>
              </a:rPr>
              <a:t>– A software element that realize the component models</a:t>
            </a:r>
            <a:endParaRPr lang="en-US" altLang="en-US">
              <a:latin typeface="Calibri" panose="020F050202020403020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04025" y="2074863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Framework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3708400" y="2074863"/>
            <a:ext cx="1727200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Component models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755650" y="2074863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Software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component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8" name="Straight Arrow Connector 7"/>
          <p:cNvCxnSpPr>
            <a:stCxn id="7" idx="6"/>
            <a:endCxn id="6" idx="2"/>
          </p:cNvCxnSpPr>
          <p:nvPr/>
        </p:nvCxnSpPr>
        <p:spPr>
          <a:xfrm>
            <a:off x="2484438" y="2830513"/>
            <a:ext cx="1223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6"/>
            <a:endCxn id="5" idx="2"/>
          </p:cNvCxnSpPr>
          <p:nvPr/>
        </p:nvCxnSpPr>
        <p:spPr>
          <a:xfrm>
            <a:off x="5435600" y="2830513"/>
            <a:ext cx="1368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569" name="TextBox 39"/>
          <p:cNvSpPr txBox="1"/>
          <p:nvPr/>
        </p:nvSpPr>
        <p:spPr>
          <a:xfrm>
            <a:off x="2628900" y="2811463"/>
            <a:ext cx="957263" cy="2778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 eaLnBrk="0" hangingPunct="0"/>
            <a:r>
              <a:rPr lang="en-US" altLang="en-US" sz="1200">
                <a:latin typeface="Calibri" panose="020F0502020204030204" charset="0"/>
              </a:rPr>
              <a:t>Conforms to</a:t>
            </a:r>
            <a:endParaRPr lang="en-US" altLang="en-US" sz="1200">
              <a:latin typeface="Calibri" panose="020F0502020204030204" charset="0"/>
            </a:endParaRPr>
          </a:p>
        </p:txBody>
      </p:sp>
      <p:sp>
        <p:nvSpPr>
          <p:cNvPr id="66570" name="TextBox 41"/>
          <p:cNvSpPr txBox="1"/>
          <p:nvPr/>
        </p:nvSpPr>
        <p:spPr>
          <a:xfrm>
            <a:off x="5651500" y="2849563"/>
            <a:ext cx="957263" cy="27622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 sz="1200">
                <a:latin typeface="Calibri" panose="020F0502020204030204" charset="0"/>
              </a:rPr>
              <a:t>Conforms to</a:t>
            </a:r>
            <a:endParaRPr lang="en-US" altLang="en-US" sz="1200">
              <a:latin typeface="Calibri" panose="020F0502020204030204" charset="0"/>
            </a:endParaRPr>
          </a:p>
        </p:txBody>
      </p:sp>
      <p:sp>
        <p:nvSpPr>
          <p:cNvPr id="66571" name="TextBox 1"/>
          <p:cNvSpPr txBox="1"/>
          <p:nvPr/>
        </p:nvSpPr>
        <p:spPr>
          <a:xfrm>
            <a:off x="3556000" y="4067175"/>
            <a:ext cx="2032000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>
                <a:solidFill>
                  <a:srgbClr val="00B050"/>
                </a:solidFill>
                <a:latin typeface="Calibri" panose="020F0502020204030204" charset="0"/>
              </a:rPr>
              <a:t>Component models</a:t>
            </a:r>
            <a:endParaRPr lang="en-US">
              <a:solidFill>
                <a:srgbClr val="00B050"/>
              </a:solidFill>
              <a:latin typeface="Calibri" panose="020F0502020204030204" charset="0"/>
            </a:endParaRPr>
          </a:p>
        </p:txBody>
      </p:sp>
      <p:graphicFrame>
        <p:nvGraphicFramePr>
          <p:cNvPr id="3" name="Diagram 2"/>
          <p:cNvGraphicFramePr/>
          <p:nvPr/>
        </p:nvGraphicFramePr>
        <p:xfrm>
          <a:off x="215516" y="3174367"/>
          <a:ext cx="8712968" cy="3600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 models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67587" name="TextBox 42"/>
          <p:cNvSpPr txBox="1"/>
          <p:nvPr/>
        </p:nvSpPr>
        <p:spPr>
          <a:xfrm>
            <a:off x="3514725" y="1011238"/>
            <a:ext cx="1952625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>
                <a:solidFill>
                  <a:srgbClr val="00B050"/>
                </a:solidFill>
                <a:latin typeface="Calibri" panose="020F0502020204030204" charset="0"/>
              </a:rPr>
              <a:t>Component Model</a:t>
            </a:r>
            <a:endParaRPr lang="en-US" altLang="en-US">
              <a:solidFill>
                <a:srgbClr val="00B050"/>
              </a:solidFill>
              <a:latin typeface="Calibri" panose="020F0502020204030204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6804025" y="1412875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HOW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3708400" y="1412875"/>
            <a:ext cx="1727200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755650" y="1412875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WHAT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3" name="Straight Connector 2"/>
          <p:cNvCxnSpPr>
            <a:stCxn id="7" idx="6"/>
            <a:endCxn id="6" idx="2"/>
          </p:cNvCxnSpPr>
          <p:nvPr/>
        </p:nvCxnSpPr>
        <p:spPr>
          <a:xfrm>
            <a:off x="2484438" y="2168525"/>
            <a:ext cx="12239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stCxn id="6" idx="6"/>
            <a:endCxn id="5" idx="2"/>
          </p:cNvCxnSpPr>
          <p:nvPr/>
        </p:nvCxnSpPr>
        <p:spPr>
          <a:xfrm>
            <a:off x="5435600" y="2168525"/>
            <a:ext cx="13684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93" name="TextBox 14"/>
          <p:cNvSpPr txBox="1"/>
          <p:nvPr/>
        </p:nvSpPr>
        <p:spPr>
          <a:xfrm>
            <a:off x="0" y="3092450"/>
            <a:ext cx="3627438" cy="17541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Independently deployed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Realized by software components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Target for specific domain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Develop by specific platform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(JAVA, C++, etc)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>
              <a:latin typeface="Calibri" panose="020F0502020204030204" charset="0"/>
            </a:endParaRPr>
          </a:p>
        </p:txBody>
      </p:sp>
      <p:sp>
        <p:nvSpPr>
          <p:cNvPr id="67594" name="TextBox 15"/>
          <p:cNvSpPr txBox="1"/>
          <p:nvPr/>
        </p:nvSpPr>
        <p:spPr>
          <a:xfrm>
            <a:off x="3733800" y="3092450"/>
            <a:ext cx="1903413" cy="1476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Reusability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Cost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Time to market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Quality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endParaRPr lang="en-US">
              <a:latin typeface="Calibri" panose="020F0502020204030204" charset="0"/>
            </a:endParaRPr>
          </a:p>
        </p:txBody>
      </p:sp>
      <p:sp>
        <p:nvSpPr>
          <p:cNvPr id="67595" name="TextBox 16"/>
          <p:cNvSpPr txBox="1"/>
          <p:nvPr/>
        </p:nvSpPr>
        <p:spPr>
          <a:xfrm>
            <a:off x="6553200" y="3092450"/>
            <a:ext cx="2322513" cy="646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Develop for reuse</a:t>
            </a:r>
            <a:endParaRPr 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>
                <a:latin typeface="Calibri" panose="020F0502020204030204" charset="0"/>
              </a:rPr>
              <a:t>Develop from reuse</a:t>
            </a:r>
            <a:endParaRPr 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0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Component models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68611" name="TextBox 42"/>
          <p:cNvSpPr txBox="1"/>
          <p:nvPr/>
        </p:nvSpPr>
        <p:spPr>
          <a:xfrm>
            <a:off x="3811588" y="1844675"/>
            <a:ext cx="650875" cy="369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altLang="en-US">
                <a:solidFill>
                  <a:srgbClr val="00B0F0"/>
                </a:solidFill>
                <a:latin typeface="Calibri" panose="020F0502020204030204" charset="0"/>
              </a:rPr>
              <a:t>SDLC</a:t>
            </a:r>
            <a:endParaRPr lang="en-US" altLang="en-US">
              <a:latin typeface="Calibri" panose="020F0502020204030204" charset="0"/>
            </a:endParaRPr>
          </a:p>
        </p:txBody>
      </p:sp>
      <p:pic>
        <p:nvPicPr>
          <p:cNvPr id="6861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575" y="2420938"/>
            <a:ext cx="8832850" cy="24114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3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Modelling components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pic>
        <p:nvPicPr>
          <p:cNvPr id="6963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1025" y="1233488"/>
            <a:ext cx="5184775" cy="28305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9636" name="TextBox 5"/>
          <p:cNvSpPr txBox="1"/>
          <p:nvPr/>
        </p:nvSpPr>
        <p:spPr>
          <a:xfrm>
            <a:off x="3808413" y="1049338"/>
            <a:ext cx="635000" cy="3683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eaLnBrk="0" hangingPunct="0"/>
            <a:r>
              <a:rPr lang="en-US" b="1">
                <a:solidFill>
                  <a:srgbClr val="00B050"/>
                </a:solidFill>
                <a:latin typeface="Calibri" panose="020F0502020204030204" charset="0"/>
              </a:rPr>
              <a:t>UML</a:t>
            </a:r>
            <a:endParaRPr lang="en-US" b="1">
              <a:solidFill>
                <a:srgbClr val="00B050"/>
              </a:solidFill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Modelling components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pic>
        <p:nvPicPr>
          <p:cNvPr id="70659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7525" y="1446213"/>
            <a:ext cx="8108950" cy="14271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altLang="en-US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Separation of interface and implementation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6804025" y="1412875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Interface as contracts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Oval 6"/>
          <p:cNvSpPr/>
          <p:nvPr/>
        </p:nvSpPr>
        <p:spPr>
          <a:xfrm>
            <a:off x="3708400" y="1412875"/>
            <a:ext cx="1727200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Versioning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755650" y="1412875"/>
            <a:ext cx="1728788" cy="1511300"/>
          </a:xfrm>
          <a:prstGeom prst="ellipse">
            <a:avLst/>
          </a:prstGeom>
          <a:ln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Interface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9" name="Straight Connector 8"/>
          <p:cNvCxnSpPr>
            <a:stCxn id="8" idx="6"/>
            <a:endCxn id="7" idx="2"/>
          </p:cNvCxnSpPr>
          <p:nvPr/>
        </p:nvCxnSpPr>
        <p:spPr>
          <a:xfrm>
            <a:off x="2484438" y="2168525"/>
            <a:ext cx="12239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7" idx="6"/>
            <a:endCxn id="6" idx="2"/>
          </p:cNvCxnSpPr>
          <p:nvPr/>
        </p:nvCxnSpPr>
        <p:spPr>
          <a:xfrm>
            <a:off x="5435600" y="2168525"/>
            <a:ext cx="13684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71438" y="3068638"/>
            <a:ext cx="28321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indent="-28575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Provided by components</a:t>
            </a:r>
            <a:endParaRPr kumimoji="0" lang="en-US" kern="1200" cap="none" spc="0" normalizeH="0" baseline="0" noProof="0" dirty="0"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  <a:p>
            <a:pPr marL="285750" marR="0" indent="-28575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Required interface</a:t>
            </a:r>
            <a:endParaRPr kumimoji="0" lang="en-US" kern="1200" cap="none" spc="0" normalizeH="0" baseline="0" noProof="0" dirty="0"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  <a:p>
            <a:pPr marL="285750" marR="0" indent="-28575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Provided interface – </a:t>
            </a:r>
            <a:endParaRPr kumimoji="0" lang="en-US" kern="1200" cap="none" spc="0" normalizeH="0" baseline="0" noProof="0" dirty="0"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  <a:p>
            <a:pPr marR="0" defTabSz="914400" eaLnBrk="0" hangingPunct="0">
              <a:buClrTx/>
              <a:buSzTx/>
              <a:buFontTx/>
              <a:buNone/>
              <a:defRPr/>
            </a:pPr>
            <a:r>
              <a:rPr kumimoji="0" lang="en-US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      implementation class</a:t>
            </a:r>
            <a:endParaRPr kumimoji="0" lang="en-US" kern="1200" cap="none" spc="0" normalizeH="0" baseline="0" noProof="0" dirty="0"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  <a:p>
            <a:pPr marL="285750" marR="0" indent="-285750" defTabSz="914400" eaLnBrk="0" hangingPunct="0"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kern="1200" cap="none" spc="0" normalizeH="0" baseline="0" noProof="0" dirty="0">
                <a:latin typeface="Calibri" panose="020F0502020204030204" charset="0"/>
                <a:ea typeface="MS PGothic" panose="020B0600070205080204" pitchFamily="34" charset="-128"/>
                <a:cs typeface="+mn-cs"/>
              </a:rPr>
              <a:t>Class is realized by object</a:t>
            </a:r>
            <a:endParaRPr kumimoji="0" lang="en-US" kern="1200" cap="none" spc="0" normalizeH="0" baseline="0" noProof="0" dirty="0">
              <a:latin typeface="Calibri" panose="020F050202020403020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71689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38" y="4691063"/>
            <a:ext cx="3914775" cy="1155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1690" name="TextBox 1"/>
          <p:cNvSpPr txBox="1"/>
          <p:nvPr/>
        </p:nvSpPr>
        <p:spPr>
          <a:xfrm>
            <a:off x="5030788" y="3214688"/>
            <a:ext cx="3656012" cy="230663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285750" indent="-285750" eaLnBrk="0" hangingPunct="0">
              <a:buClrTx/>
              <a:buSzTx/>
              <a:buFont typeface="Arial" panose="020B0604020202020204" pitchFamily="34" charset="0"/>
              <a:buChar char="•"/>
            </a:pPr>
            <a:r>
              <a:rPr lang="en-MY" altLang="en-US" dirty="0">
                <a:latin typeface="Calibri" panose="020F0502020204030204" charset="0"/>
              </a:rPr>
              <a:t>Refer to these links for full explaination:</a:t>
            </a:r>
            <a:endParaRPr lang="en-MY" altLang="en-US" dirty="0">
              <a:latin typeface="Calibri" panose="020F0502020204030204" charset="0"/>
            </a:endParaRPr>
          </a:p>
          <a:p>
            <a:pPr marL="742950" lvl="1" indent="-285750" eaLnBrk="0" hangingPunct="0">
              <a:buClrTx/>
              <a:buSzTx/>
              <a:buFont typeface="Arial" panose="020B0604020202020204" pitchFamily="34" charset="0"/>
              <a:buChar char="•"/>
            </a:pPr>
            <a:r>
              <a:rPr lang="en-MY" altLang="en-US" baseline="0" dirty="0">
                <a:latin typeface="Calibri" panose="020F0502020204030204" charset="0"/>
              </a:rPr>
              <a:t>https://www.youtube.com/watch?v=ipKJwnPsst8</a:t>
            </a:r>
            <a:endParaRPr lang="en-MY" altLang="en-US" baseline="0" dirty="0">
              <a:latin typeface="Calibri" panose="020F0502020204030204" charset="0"/>
            </a:endParaRPr>
          </a:p>
          <a:p>
            <a:pPr marL="742950" lvl="1" indent="-285750" eaLnBrk="0" hangingPunct="0">
              <a:buClrTx/>
              <a:buSzTx/>
              <a:buFont typeface="Arial" panose="020B0604020202020204" pitchFamily="34" charset="0"/>
              <a:buChar char="•"/>
            </a:pPr>
            <a:r>
              <a:rPr lang="en-MY" altLang="en-US" baseline="0" dirty="0">
                <a:latin typeface="Calibri" panose="020F0502020204030204" charset="0"/>
              </a:rPr>
              <a:t>http://www.newthinktank.com/2012/11/uml-2-0-component-diagrams/</a:t>
            </a:r>
            <a:endParaRPr lang="en-MY" altLang="en-US" baseline="0" dirty="0">
              <a:latin typeface="Calibri" panose="020F0502020204030204" charset="0"/>
            </a:endParaRPr>
          </a:p>
          <a:p>
            <a:pPr marL="742950" lvl="1" indent="-285750" eaLnBrk="0" hangingPunct="0">
              <a:buClrTx/>
              <a:buSzTx/>
              <a:buFont typeface="Arial" panose="020B0604020202020204" pitchFamily="34" charset="0"/>
              <a:buChar char="•"/>
            </a:pPr>
            <a:endParaRPr lang="en-MY" altLang="en-US" baseline="0" dirty="0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alibri" panose="020F0502020204030204" charset="0"/>
                <a:ea typeface="MS PGothic" panose="020B0600070205080204" pitchFamily="34" charset="-128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en-US" sz="900">
                <a:solidFill>
                  <a:srgbClr val="898989"/>
                </a:solidFill>
              </a:rPr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971550" y="112713"/>
            <a:ext cx="5700713" cy="70485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MY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Summary</a:t>
            </a:r>
            <a:endParaRPr kumimoji="0" lang="en-MY" sz="2800" b="1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72707" name="TextBox 3"/>
          <p:cNvSpPr txBox="1"/>
          <p:nvPr/>
        </p:nvSpPr>
        <p:spPr>
          <a:xfrm>
            <a:off x="684213" y="1557338"/>
            <a:ext cx="6065837" cy="12001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Components – building blocks based on component models</a:t>
            </a:r>
            <a:endParaRPr lang="en-US" alt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Create, compose and deploy</a:t>
            </a:r>
            <a:endParaRPr lang="en-US" alt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Specific architecture based on used and domain</a:t>
            </a:r>
            <a:endParaRPr lang="en-US" altLang="en-US">
              <a:latin typeface="Calibri" panose="020F0502020204030204" charset="0"/>
            </a:endParaRPr>
          </a:p>
          <a:p>
            <a:pPr marL="285750" indent="-285750" eaLnBrk="0" hangingPunct="0">
              <a:buFont typeface="Arial" panose="020B0604020202020204" pitchFamily="34" charset="0"/>
              <a:buChar char="•"/>
            </a:pPr>
            <a:r>
              <a:rPr lang="en-US" altLang="en-US">
                <a:latin typeface="Calibri" panose="020F0502020204030204" charset="0"/>
              </a:rPr>
              <a:t>Interfaces are the most important concept in components.</a:t>
            </a:r>
            <a:endParaRPr lang="en-US" altLang="en-US">
              <a:latin typeface="Calibri" panose="020F050202020403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5623</Words>
  <Application>WPS Presentation</Application>
  <PresentationFormat>On-screen Show (4:3)</PresentationFormat>
  <Paragraphs>446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SimSun</vt:lpstr>
      <vt:lpstr>Wingdings</vt:lpstr>
      <vt:lpstr>Calibri</vt:lpstr>
      <vt:lpstr>MS PGothic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User</cp:lastModifiedBy>
  <cp:revision>145</cp:revision>
  <dcterms:created xsi:type="dcterms:W3CDTF">2014-12-31T03:26:48Z</dcterms:created>
  <dcterms:modified xsi:type="dcterms:W3CDTF">2020-12-13T02:30:15Z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1033-11.2.0.9890</vt:lpwstr>
  </property>
</Properties>
</file>