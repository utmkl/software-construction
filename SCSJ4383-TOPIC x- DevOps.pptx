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381" r:id="rId5"/>
    <p:sldId id="386" r:id="rId6"/>
    <p:sldId id="324" r:id="rId7"/>
    <p:sldId id="323" r:id="rId8"/>
    <p:sldId id="363" r:id="rId9"/>
    <p:sldId id="382" r:id="rId10"/>
    <p:sldId id="383" r:id="rId11"/>
    <p:sldId id="384" r:id="rId12"/>
    <p:sldId id="373" r:id="rId13"/>
    <p:sldId id="380" r:id="rId14"/>
    <p:sldId id="278" r:id="rId15"/>
    <p:sldId id="365" r:id="rId16"/>
    <p:sldId id="355" r:id="rId17"/>
    <p:sldId id="268" r:id="rId18"/>
    <p:sldId id="344" r:id="rId19"/>
    <p:sldId id="269" r:id="rId20"/>
    <p:sldId id="370" r:id="rId21"/>
    <p:sldId id="361" r:id="rId22"/>
    <p:sldId id="385" r:id="rId2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7"/>
    <p:restoredTop sz="95139"/>
  </p:normalViewPr>
  <p:slideViewPr>
    <p:cSldViewPr showGuides="1">
      <p:cViewPr varScale="1">
        <p:scale>
          <a:sx n="106" d="100"/>
          <a:sy n="106" d="100"/>
        </p:scale>
        <p:origin x="1968" y="184"/>
      </p:cViewPr>
      <p:guideLst>
        <p:guide orient="horz" pos="2204"/>
        <p:guide pos="2885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561038-A1F6-9345-8546-D2A3AA77D269}" type="datetime1"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Mohd Adham Isa, SERG-Universiti Teknologi Malaysia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5BF356-B146-6342-BC41-087E063C926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7A747E-1F41-704D-AE94-D6B205E18586}" type="datetime1"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Mohd Adham Isa, SERG-Universiti Teknologi Malaysia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172B3D-A061-7847-BA13-61291DD7DF2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en-US" altLang="en-US"/>
          </a:p>
        </p:txBody>
      </p:sp>
      <p:sp>
        <p:nvSpPr>
          <p:cNvPr id="1638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en-US" sz="1200"/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81200" y="661988"/>
            <a:ext cx="2895600" cy="2171700"/>
          </a:xfrm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24" tIns="45712" rIns="91424" bIns="45712"/>
          <a:lstStyle/>
          <a:p>
            <a:pPr defTabSz="863600" eaLnBrk="1" hangingPunct="1"/>
            <a:endParaRPr lang="en-US" dirty="0">
              <a:latin typeface="Times New Roman" panose="02020603050405020304" pitchFamily="18" charset="0"/>
              <a:ea typeface="ヒラギノ角ゴ Pro W3" charset="-128"/>
              <a:cs typeface="MS PGothic" panose="020B0600070205080204" pitchFamily="34" charset="-128"/>
            </a:endParaRPr>
          </a:p>
        </p:txBody>
      </p:sp>
      <p:sp>
        <p:nvSpPr>
          <p:cNvPr id="52227" name="Date Placeholder 1"/>
          <p:cNvSpPr txBox="1">
            <a:spLocks noGrp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4" tIns="45712" rIns="91424" bIns="45712"/>
          <a:lstStyle/>
          <a:p>
            <a:pPr algn="r" defTabSz="967105">
              <a:lnSpc>
                <a:spcPct val="90000"/>
              </a:lnSpc>
            </a:pPr>
            <a:fld id="{BEBAAAE8-85ED-46C3-87FC-F85D2827E4EF}" type="datetime8">
              <a:rPr lang="en-US" sz="1200">
                <a:solidFill>
                  <a:srgbClr val="000000"/>
                </a:solidFill>
                <a:latin typeface="Calibri" panose="020F0502020204030204" charset="0"/>
                <a:ea typeface="ヒラギノ角ゴ Pro W3" charset="-128"/>
              </a:rPr>
            </a:fld>
            <a:endParaRPr lang="en-US" sz="1200">
              <a:solidFill>
                <a:srgbClr val="000000"/>
              </a:solidFill>
              <a:latin typeface="Calibri" panose="020F0502020204030204" charset="0"/>
              <a:ea typeface="ヒラギノ角ゴ Pro W3" charset="-128"/>
            </a:endParaRPr>
          </a:p>
        </p:txBody>
      </p:sp>
      <p:sp>
        <p:nvSpPr>
          <p:cNvPr id="52228" name="Footer Placeholder 2"/>
          <p:cNvSpPr txBox="1">
            <a:spLocks noGrp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4" tIns="45712" rIns="91424" bIns="45712" anchor="b"/>
          <a:lstStyle/>
          <a:p>
            <a:pPr defTabSz="967105"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latin typeface="Calibri" panose="020F0502020204030204" charset="0"/>
                <a:ea typeface="ヒラギノ角ゴ Pro W3" charset="-128"/>
              </a:rPr>
              <a:t>Drury Design Dynamics</a:t>
            </a:r>
            <a:endParaRPr lang="en-US" sz="1200">
              <a:solidFill>
                <a:srgbClr val="000000"/>
              </a:solidFill>
              <a:latin typeface="Calibri" panose="020F0502020204030204" charset="0"/>
              <a:ea typeface="ヒラギノ角ゴ Pro W3" charset="-128"/>
            </a:endParaRPr>
          </a:p>
        </p:txBody>
      </p:sp>
      <p:sp>
        <p:nvSpPr>
          <p:cNvPr id="52229" name="Header Placeholder 3"/>
          <p:cNvSpPr txBox="1">
            <a:spLocks noGrp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4" tIns="45712" rIns="91424" bIns="45712"/>
          <a:lstStyle/>
          <a:p>
            <a:pPr defTabSz="967105"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latin typeface="Calibri" panose="020F0502020204030204" charset="0"/>
                <a:ea typeface="ヒラギノ角ゴ Pro W3" charset="-128"/>
              </a:rPr>
              <a:t>IBM Innovate 2013</a:t>
            </a:r>
            <a:endParaRPr lang="en-US" sz="1200">
              <a:solidFill>
                <a:srgbClr val="000000"/>
              </a:solidFill>
              <a:latin typeface="Calibri" panose="020F05020202040302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6" rIns="91432" bIns="45716" anchor="b"/>
          <a:lstStyle/>
          <a:p>
            <a:pPr algn="r" defTabSz="967105">
              <a:lnSpc>
                <a:spcPct val="90000"/>
              </a:lnSpc>
            </a:pPr>
            <a:fld id="{92C7809D-6868-4A63-B454-5900A0779C1F}" type="slidenum">
              <a:rPr lang="en-US" sz="1200">
                <a:solidFill>
                  <a:srgbClr val="000000"/>
                </a:solidFill>
                <a:ea typeface="ヒラギノ角ゴ Pro W3" charset="-128"/>
              </a:rPr>
            </a:fld>
            <a:endParaRPr lang="en-US" sz="1200">
              <a:solidFill>
                <a:srgbClr val="000000"/>
              </a:solidFill>
              <a:ea typeface="ヒラギノ角ゴ Pro W3" charset="-128"/>
            </a:endParaRPr>
          </a:p>
        </p:txBody>
      </p:sp>
      <p:sp>
        <p:nvSpPr>
          <p:cNvPr id="5632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81200" y="661988"/>
            <a:ext cx="2895600" cy="2171700"/>
          </a:xfrm>
        </p:spPr>
      </p:sp>
      <p:sp>
        <p:nvSpPr>
          <p:cNvPr id="56324" name="Notes Placeholder 2"/>
          <p:cNvSpPr>
            <a:spLocks noGrp="1"/>
          </p:cNvSpPr>
          <p:nvPr>
            <p:ph type="body" idx="1"/>
          </p:nvPr>
        </p:nvSpPr>
        <p:spPr>
          <a:xfrm>
            <a:off x="260350" y="2917825"/>
            <a:ext cx="6340475" cy="5802313"/>
          </a:xfrm>
        </p:spPr>
        <p:txBody>
          <a:bodyPr lIns="0" tIns="45716" rIns="0" bIns="45716"/>
          <a:lstStyle/>
          <a:p>
            <a:pPr defTabSz="863600" eaLnBrk="1" hangingPunct="1">
              <a:spcBef>
                <a:spcPct val="0"/>
              </a:spcBef>
            </a:pPr>
            <a:endParaRPr lang="en-US" dirty="0">
              <a:latin typeface="Calibri" panose="020F0502020204030204" charset="0"/>
              <a:ea typeface="ヒラギノ角ゴ Pro W3" charset="-128"/>
              <a:cs typeface="MS PGothic" panose="020B0600070205080204" pitchFamily="34" charset="-128"/>
            </a:endParaRPr>
          </a:p>
        </p:txBody>
      </p:sp>
      <p:sp>
        <p:nvSpPr>
          <p:cNvPr id="54276" name="Slide Number Placeholder 3"/>
          <p:cNvSpPr txBox="1">
            <a:spLocks noGrp="1"/>
          </p:cNvSpPr>
          <p:nvPr/>
        </p:nvSpPr>
        <p:spPr bwMode="auto">
          <a:xfrm>
            <a:off x="-90488" y="-504825"/>
            <a:ext cx="180976" cy="552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45716" rIns="0" bIns="45716" anchor="b"/>
          <a:lstStyle/>
          <a:p>
            <a:pPr algn="r" defTabSz="473075">
              <a:lnSpc>
                <a:spcPct val="90000"/>
              </a:lnSpc>
              <a:tabLst>
                <a:tab pos="0" algn="l"/>
                <a:tab pos="965200" algn="l"/>
                <a:tab pos="1934845" algn="l"/>
                <a:tab pos="2903220" algn="l"/>
                <a:tab pos="3871595" algn="l"/>
                <a:tab pos="4839970" algn="l"/>
                <a:tab pos="5810250" algn="l"/>
                <a:tab pos="6778625" algn="l"/>
                <a:tab pos="7747000" algn="l"/>
                <a:tab pos="8715375" algn="l"/>
                <a:tab pos="9681845" algn="l"/>
                <a:tab pos="10650220" algn="l"/>
              </a:tabLst>
            </a:pPr>
            <a:fld id="{2D55B59E-1EBA-4A42-8D2A-EB4E070A9CB4}" type="slidenum">
              <a:rPr lang="en-GB" sz="900">
                <a:solidFill>
                  <a:srgbClr val="000000"/>
                </a:solidFill>
                <a:ea typeface="ヒラギノ角ゴ Pro W3" charset="-128"/>
              </a:rPr>
            </a:fld>
            <a:endParaRPr lang="en-GB" sz="900">
              <a:solidFill>
                <a:srgbClr val="000000"/>
              </a:solidFill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/>
          <p:cNvSpPr txBox="1">
            <a:spLocks noGrp="1" noChangeArrowheads="1"/>
          </p:cNvSpPr>
          <p:nvPr/>
        </p:nvSpPr>
        <p:spPr bwMode="auto">
          <a:xfrm>
            <a:off x="654050" y="153988"/>
            <a:ext cx="2217738" cy="304800"/>
          </a:xfrm>
          <a:prstGeom prst="rect">
            <a:avLst/>
          </a:prstGeom>
          <a:noFill/>
          <a:ln w="21600">
            <a:noFill/>
            <a:round/>
          </a:ln>
        </p:spPr>
        <p:txBody>
          <a:bodyPr lIns="0" tIns="0" rIns="0" bIns="0"/>
          <a:lstStyle/>
          <a:p>
            <a:pPr defTabSz="408305" hangingPunct="0">
              <a:buSzPct val="100000"/>
              <a:tabLst>
                <a:tab pos="0" algn="l"/>
                <a:tab pos="407670" algn="l"/>
                <a:tab pos="815975" algn="l"/>
                <a:tab pos="1223645" algn="l"/>
                <a:tab pos="1631950" algn="l"/>
                <a:tab pos="2038350" algn="l"/>
                <a:tab pos="2446020" algn="l"/>
                <a:tab pos="2854325" algn="l"/>
                <a:tab pos="3261995" algn="l"/>
                <a:tab pos="3670300" algn="l"/>
                <a:tab pos="4077970" algn="l"/>
                <a:tab pos="4486275" algn="l"/>
                <a:tab pos="4893945" algn="l"/>
                <a:tab pos="5302250" algn="l"/>
                <a:tab pos="5709920" algn="l"/>
                <a:tab pos="6116320" algn="l"/>
                <a:tab pos="6524625" algn="l"/>
                <a:tab pos="6932295" algn="l"/>
                <a:tab pos="7340600" algn="l"/>
                <a:tab pos="7748270" algn="l"/>
                <a:tab pos="8156575" algn="l"/>
              </a:tabLst>
            </a:pPr>
            <a:r>
              <a:rPr lang="en-US" sz="1100">
                <a:solidFill>
                  <a:srgbClr val="000000"/>
                </a:solidFill>
                <a:latin typeface="Calibri" panose="020F0502020204030204" charset="0"/>
                <a:ea typeface="SimSun" panose="02010600030101010101" pitchFamily="2" charset="-122"/>
              </a:rPr>
              <a:t> </a:t>
            </a:r>
            <a:endParaRPr lang="en-US" sz="1100">
              <a:solidFill>
                <a:srgbClr val="000000"/>
              </a:solidFill>
              <a:latin typeface="Calibri" panose="020F0502020204030204" charset="0"/>
              <a:ea typeface="SimSun" panose="02010600030101010101" pitchFamily="2" charset="-122"/>
            </a:endParaRPr>
          </a:p>
        </p:txBody>
      </p:sp>
      <p:sp>
        <p:nvSpPr>
          <p:cNvPr id="57347" name="Rectangle 2"/>
          <p:cNvSpPr txBox="1">
            <a:spLocks noGrp="1" noChangeArrowheads="1"/>
          </p:cNvSpPr>
          <p:nvPr/>
        </p:nvSpPr>
        <p:spPr bwMode="auto">
          <a:xfrm>
            <a:off x="3984625" y="153988"/>
            <a:ext cx="2217738" cy="304800"/>
          </a:xfrm>
          <a:prstGeom prst="rect">
            <a:avLst/>
          </a:prstGeom>
          <a:noFill/>
          <a:ln w="21600">
            <a:noFill/>
            <a:round/>
          </a:ln>
        </p:spPr>
        <p:txBody>
          <a:bodyPr lIns="0" tIns="0" rIns="0" bIns="0"/>
          <a:lstStyle/>
          <a:p>
            <a:pPr defTabSz="408305" hangingPunct="0">
              <a:buSzPct val="100000"/>
              <a:tabLst>
                <a:tab pos="0" algn="l"/>
                <a:tab pos="407670" algn="l"/>
                <a:tab pos="815975" algn="l"/>
                <a:tab pos="1223645" algn="l"/>
                <a:tab pos="1631950" algn="l"/>
                <a:tab pos="2038350" algn="l"/>
                <a:tab pos="2446020" algn="l"/>
                <a:tab pos="2854325" algn="l"/>
                <a:tab pos="3261995" algn="l"/>
                <a:tab pos="3670300" algn="l"/>
                <a:tab pos="4077970" algn="l"/>
                <a:tab pos="4486275" algn="l"/>
                <a:tab pos="4893945" algn="l"/>
                <a:tab pos="5302250" algn="l"/>
                <a:tab pos="5709920" algn="l"/>
                <a:tab pos="6116320" algn="l"/>
                <a:tab pos="6524625" algn="l"/>
                <a:tab pos="6932295" algn="l"/>
                <a:tab pos="7340600" algn="l"/>
                <a:tab pos="7748270" algn="l"/>
                <a:tab pos="8156575" algn="l"/>
              </a:tabLst>
            </a:pPr>
            <a:r>
              <a:rPr lang="en-US" sz="1100">
                <a:solidFill>
                  <a:srgbClr val="000000"/>
                </a:solidFill>
                <a:latin typeface="Calibri" panose="020F0502020204030204" charset="0"/>
                <a:ea typeface="SimSun" panose="02010600030101010101" pitchFamily="2" charset="-122"/>
              </a:rPr>
              <a:t> </a:t>
            </a:r>
            <a:endParaRPr lang="en-US" sz="1100">
              <a:solidFill>
                <a:srgbClr val="000000"/>
              </a:solidFill>
              <a:latin typeface="Calibri" panose="020F0502020204030204" charset="0"/>
              <a:ea typeface="SimSun" panose="02010600030101010101" pitchFamily="2" charset="-122"/>
            </a:endParaRPr>
          </a:p>
        </p:txBody>
      </p:sp>
      <p:sp>
        <p:nvSpPr>
          <p:cNvPr id="57348" name="Rectangle 3"/>
          <p:cNvSpPr txBox="1">
            <a:spLocks noGrp="1" noChangeArrowheads="1"/>
          </p:cNvSpPr>
          <p:nvPr/>
        </p:nvSpPr>
        <p:spPr bwMode="auto">
          <a:xfrm>
            <a:off x="654050" y="8682038"/>
            <a:ext cx="2217738" cy="306387"/>
          </a:xfrm>
          <a:prstGeom prst="rect">
            <a:avLst/>
          </a:prstGeom>
          <a:noFill/>
          <a:ln w="21600">
            <a:noFill/>
            <a:round/>
          </a:ln>
        </p:spPr>
        <p:txBody>
          <a:bodyPr lIns="0" tIns="0" rIns="0" bIns="0"/>
          <a:lstStyle/>
          <a:p>
            <a:pPr defTabSz="408305" hangingPunct="0">
              <a:buSzPct val="100000"/>
              <a:tabLst>
                <a:tab pos="0" algn="l"/>
                <a:tab pos="407670" algn="l"/>
                <a:tab pos="815975" algn="l"/>
                <a:tab pos="1223645" algn="l"/>
                <a:tab pos="1631950" algn="l"/>
                <a:tab pos="2038350" algn="l"/>
                <a:tab pos="2446020" algn="l"/>
                <a:tab pos="2854325" algn="l"/>
                <a:tab pos="3261995" algn="l"/>
                <a:tab pos="3670300" algn="l"/>
                <a:tab pos="4077970" algn="l"/>
                <a:tab pos="4486275" algn="l"/>
                <a:tab pos="4893945" algn="l"/>
                <a:tab pos="5302250" algn="l"/>
                <a:tab pos="5709920" algn="l"/>
                <a:tab pos="6116320" algn="l"/>
                <a:tab pos="6524625" algn="l"/>
                <a:tab pos="6932295" algn="l"/>
                <a:tab pos="7340600" algn="l"/>
                <a:tab pos="7748270" algn="l"/>
                <a:tab pos="8156575" algn="l"/>
              </a:tabLst>
            </a:pPr>
            <a:r>
              <a:rPr lang="en-US" sz="1100">
                <a:solidFill>
                  <a:srgbClr val="000000"/>
                </a:solidFill>
                <a:latin typeface="Calibri" panose="020F0502020204030204" charset="0"/>
                <a:ea typeface="SimSun" panose="02010600030101010101" pitchFamily="2" charset="-122"/>
              </a:rPr>
              <a:t> </a:t>
            </a:r>
            <a:endParaRPr lang="en-US" sz="1100">
              <a:solidFill>
                <a:srgbClr val="000000"/>
              </a:solidFill>
              <a:latin typeface="Calibri" panose="020F0502020204030204" charset="0"/>
              <a:ea typeface="SimSun" panose="02010600030101010101" pitchFamily="2" charset="-122"/>
            </a:endParaRPr>
          </a:p>
        </p:txBody>
      </p:sp>
      <p:sp>
        <p:nvSpPr>
          <p:cNvPr id="57349" name="Rectangle 4"/>
          <p:cNvSpPr txBox="1">
            <a:spLocks noGrp="1" noChangeArrowheads="1"/>
          </p:cNvSpPr>
          <p:nvPr/>
        </p:nvSpPr>
        <p:spPr bwMode="auto">
          <a:xfrm>
            <a:off x="3984625" y="8682038"/>
            <a:ext cx="2217738" cy="306387"/>
          </a:xfrm>
          <a:prstGeom prst="rect">
            <a:avLst/>
          </a:prstGeom>
          <a:noFill/>
          <a:ln w="21600">
            <a:noFill/>
            <a:round/>
          </a:ln>
        </p:spPr>
        <p:txBody>
          <a:bodyPr lIns="0" tIns="0" rIns="0" bIns="0"/>
          <a:lstStyle/>
          <a:p>
            <a:pPr defTabSz="408305" hangingPunct="0">
              <a:buSzPct val="100000"/>
              <a:tabLst>
                <a:tab pos="0" algn="l"/>
                <a:tab pos="407670" algn="l"/>
                <a:tab pos="815975" algn="l"/>
                <a:tab pos="1223645" algn="l"/>
                <a:tab pos="1631950" algn="l"/>
                <a:tab pos="2038350" algn="l"/>
                <a:tab pos="2446020" algn="l"/>
                <a:tab pos="2854325" algn="l"/>
                <a:tab pos="3261995" algn="l"/>
                <a:tab pos="3670300" algn="l"/>
                <a:tab pos="4077970" algn="l"/>
                <a:tab pos="4486275" algn="l"/>
                <a:tab pos="4893945" algn="l"/>
                <a:tab pos="5302250" algn="l"/>
                <a:tab pos="5709920" algn="l"/>
                <a:tab pos="6116320" algn="l"/>
                <a:tab pos="6524625" algn="l"/>
                <a:tab pos="6932295" algn="l"/>
                <a:tab pos="7340600" algn="l"/>
                <a:tab pos="7748270" algn="l"/>
                <a:tab pos="8156575" algn="l"/>
              </a:tabLst>
            </a:pPr>
            <a:fld id="{6481DB6C-C798-417C-976C-7F34A8C73A2C}" type="slidenum">
              <a:rPr lang="en-US" sz="1100">
                <a:solidFill>
                  <a:srgbClr val="000000"/>
                </a:solidFill>
                <a:latin typeface="Calibri" panose="020F0502020204030204" charset="0"/>
              </a:rPr>
            </a:fld>
            <a:r>
              <a:rPr lang="en-US" sz="1100">
                <a:solidFill>
                  <a:srgbClr val="000000"/>
                </a:solidFill>
                <a:latin typeface="Calibri" panose="020F0502020204030204" charset="0"/>
              </a:rPr>
              <a:t> </a:t>
            </a:r>
            <a:endParaRPr lang="en-US" sz="1100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553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4213"/>
            <a:ext cx="4575175" cy="3430587"/>
          </a:xfrm>
          <a:solidFill>
            <a:srgbClr val="FFFFFF"/>
          </a:solidFill>
        </p:spPr>
      </p:sp>
      <p:sp>
        <p:nvSpPr>
          <p:cNvPr id="55303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1060450" y="4349750"/>
            <a:ext cx="4741863" cy="3509963"/>
          </a:xfrm>
        </p:spPr>
        <p:txBody>
          <a:bodyPr lIns="0" tIns="0" rIns="0" bIns="0"/>
          <a:lstStyle/>
          <a:p>
            <a:pPr defTabSz="449580">
              <a:spcBef>
                <a:spcPct val="0"/>
              </a:spcBef>
              <a:tabLst>
                <a:tab pos="0" algn="l"/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/>
            </a:pPr>
            <a:endParaRPr lang="en-US">
              <a:latin typeface="Calibri" panose="020F0502020204030204" charset="0"/>
            </a:endParaRPr>
          </a:p>
        </p:txBody>
      </p:sp>
      <p:sp>
        <p:nvSpPr>
          <p:cNvPr id="57352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523" tIns="45761" rIns="91523" bIns="45761" anchor="b"/>
          <a:lstStyle/>
          <a:p>
            <a:pPr algn="r" defTabSz="408305">
              <a:buSzPct val="100000"/>
              <a:tabLst>
                <a:tab pos="0" algn="l"/>
                <a:tab pos="407670" algn="l"/>
                <a:tab pos="815975" algn="l"/>
                <a:tab pos="1223645" algn="l"/>
                <a:tab pos="1631950" algn="l"/>
                <a:tab pos="2038350" algn="l"/>
                <a:tab pos="2446020" algn="l"/>
                <a:tab pos="2854325" algn="l"/>
                <a:tab pos="3261995" algn="l"/>
                <a:tab pos="3670300" algn="l"/>
                <a:tab pos="4077970" algn="l"/>
                <a:tab pos="4486275" algn="l"/>
                <a:tab pos="4893945" algn="l"/>
                <a:tab pos="5302250" algn="l"/>
                <a:tab pos="5709920" algn="l"/>
                <a:tab pos="6116320" algn="l"/>
                <a:tab pos="6524625" algn="l"/>
                <a:tab pos="6932295" algn="l"/>
                <a:tab pos="7340600" algn="l"/>
                <a:tab pos="7748270" algn="l"/>
                <a:tab pos="8156575" algn="l"/>
              </a:tabLst>
            </a:pPr>
            <a:fld id="{A6BAD1D2-B808-446E-A1F9-9E1BA82710BA}" type="slidenum">
              <a:rPr lang="en-US">
                <a:solidFill>
                  <a:srgbClr val="000000"/>
                </a:solidFill>
                <a:latin typeface="Calibri" panose="020F0502020204030204" charset="0"/>
              </a:rPr>
            </a:fld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 txBox="1">
            <a:spLocks noGrp="1" noChangeArrowheads="1"/>
          </p:cNvSpPr>
          <p:nvPr/>
        </p:nvSpPr>
        <p:spPr bwMode="auto">
          <a:xfrm>
            <a:off x="0" y="0"/>
            <a:ext cx="2971593" cy="456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/>
          <a:lstStyle/>
          <a:p>
            <a:pPr>
              <a:tabLst>
                <a:tab pos="0" algn="l"/>
                <a:tab pos="398780" algn="l"/>
                <a:tab pos="800100" algn="l"/>
                <a:tab pos="1200785" algn="l"/>
                <a:tab pos="1602105" algn="l"/>
                <a:tab pos="2002790" algn="l"/>
                <a:tab pos="2404110" algn="l"/>
                <a:tab pos="2804795" algn="l"/>
                <a:tab pos="3206115" algn="l"/>
                <a:tab pos="3606800" algn="l"/>
                <a:tab pos="4006215" algn="l"/>
                <a:tab pos="4407535" algn="l"/>
                <a:tab pos="4808220" algn="l"/>
                <a:tab pos="5208905" algn="l"/>
                <a:tab pos="5610225" algn="l"/>
                <a:tab pos="6010910" algn="l"/>
                <a:tab pos="6412230" algn="l"/>
                <a:tab pos="6812915" algn="l"/>
                <a:tab pos="7214235" algn="l"/>
                <a:tab pos="7614920" algn="l"/>
                <a:tab pos="8014335" algn="l"/>
              </a:tabLst>
            </a:pPr>
            <a:r>
              <a:rPr lang="en-US" sz="1100" dirty="0">
                <a:solidFill>
                  <a:srgbClr val="000000"/>
                </a:solidFill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endParaRPr lang="en-US" sz="1100" dirty="0">
              <a:solidFill>
                <a:srgbClr val="000000"/>
              </a:solidFill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13315" name="Rectangle 2"/>
          <p:cNvSpPr txBox="1">
            <a:spLocks noGrp="1" noChangeArrowheads="1"/>
          </p:cNvSpPr>
          <p:nvPr/>
        </p:nvSpPr>
        <p:spPr bwMode="auto">
          <a:xfrm>
            <a:off x="3884852" y="0"/>
            <a:ext cx="2971593" cy="456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/>
          <a:lstStyle/>
          <a:p>
            <a:pPr algn="r">
              <a:tabLst>
                <a:tab pos="0" algn="l"/>
                <a:tab pos="398780" algn="l"/>
                <a:tab pos="800100" algn="l"/>
                <a:tab pos="1200785" algn="l"/>
                <a:tab pos="1602105" algn="l"/>
                <a:tab pos="2002790" algn="l"/>
                <a:tab pos="2404110" algn="l"/>
                <a:tab pos="2804795" algn="l"/>
                <a:tab pos="3206115" algn="l"/>
                <a:tab pos="3606800" algn="l"/>
                <a:tab pos="4006215" algn="l"/>
                <a:tab pos="4407535" algn="l"/>
                <a:tab pos="4808220" algn="l"/>
                <a:tab pos="5208905" algn="l"/>
                <a:tab pos="5610225" algn="l"/>
                <a:tab pos="6010910" algn="l"/>
                <a:tab pos="6412230" algn="l"/>
                <a:tab pos="6812915" algn="l"/>
                <a:tab pos="7214235" algn="l"/>
                <a:tab pos="7614920" algn="l"/>
                <a:tab pos="8014335" algn="l"/>
              </a:tabLst>
            </a:pPr>
            <a:r>
              <a:rPr lang="en-US" sz="1100" dirty="0">
                <a:solidFill>
                  <a:srgbClr val="000000"/>
                </a:solidFill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endParaRPr lang="en-US" sz="1100" dirty="0">
              <a:solidFill>
                <a:srgbClr val="000000"/>
              </a:solidFill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13316" name="Rectangle 3"/>
          <p:cNvSpPr txBox="1">
            <a:spLocks noGrp="1" noChangeArrowheads="1"/>
          </p:cNvSpPr>
          <p:nvPr/>
        </p:nvSpPr>
        <p:spPr bwMode="auto">
          <a:xfrm>
            <a:off x="0" y="8685862"/>
            <a:ext cx="2971593" cy="456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 anchor="b"/>
          <a:lstStyle/>
          <a:p>
            <a:pPr>
              <a:tabLst>
                <a:tab pos="0" algn="l"/>
                <a:tab pos="398780" algn="l"/>
                <a:tab pos="800100" algn="l"/>
                <a:tab pos="1200785" algn="l"/>
                <a:tab pos="1602105" algn="l"/>
                <a:tab pos="2002790" algn="l"/>
                <a:tab pos="2404110" algn="l"/>
                <a:tab pos="2804795" algn="l"/>
                <a:tab pos="3206115" algn="l"/>
                <a:tab pos="3606800" algn="l"/>
                <a:tab pos="4006215" algn="l"/>
                <a:tab pos="4407535" algn="l"/>
                <a:tab pos="4808220" algn="l"/>
                <a:tab pos="5208905" algn="l"/>
                <a:tab pos="5610225" algn="l"/>
                <a:tab pos="6010910" algn="l"/>
                <a:tab pos="6412230" algn="l"/>
                <a:tab pos="6812915" algn="l"/>
                <a:tab pos="7214235" algn="l"/>
                <a:tab pos="7614920" algn="l"/>
                <a:tab pos="8014335" algn="l"/>
              </a:tabLst>
            </a:pPr>
            <a:r>
              <a:rPr lang="en-US" sz="1100" dirty="0">
                <a:solidFill>
                  <a:srgbClr val="000000"/>
                </a:solidFill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endParaRPr lang="en-US" sz="1100" dirty="0">
              <a:solidFill>
                <a:srgbClr val="000000"/>
              </a:solidFill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13317" name="Rectangle 4"/>
          <p:cNvSpPr txBox="1">
            <a:spLocks noGrp="1" noChangeArrowheads="1"/>
          </p:cNvSpPr>
          <p:nvPr/>
        </p:nvSpPr>
        <p:spPr bwMode="auto">
          <a:xfrm>
            <a:off x="3884852" y="8685862"/>
            <a:ext cx="2971593" cy="456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 anchor="b"/>
          <a:lstStyle/>
          <a:p>
            <a:pPr algn="r">
              <a:tabLst>
                <a:tab pos="0" algn="l"/>
                <a:tab pos="398780" algn="l"/>
                <a:tab pos="800100" algn="l"/>
                <a:tab pos="1200785" algn="l"/>
                <a:tab pos="1602105" algn="l"/>
                <a:tab pos="2002790" algn="l"/>
                <a:tab pos="2404110" algn="l"/>
                <a:tab pos="2804795" algn="l"/>
                <a:tab pos="3206115" algn="l"/>
                <a:tab pos="3606800" algn="l"/>
                <a:tab pos="4006215" algn="l"/>
                <a:tab pos="4407535" algn="l"/>
                <a:tab pos="4808220" algn="l"/>
                <a:tab pos="5208905" algn="l"/>
                <a:tab pos="5610225" algn="l"/>
                <a:tab pos="6010910" algn="l"/>
                <a:tab pos="6412230" algn="l"/>
                <a:tab pos="6812915" algn="l"/>
                <a:tab pos="7214235" algn="l"/>
                <a:tab pos="7614920" algn="l"/>
                <a:tab pos="8014335" algn="l"/>
              </a:tabLst>
            </a:pPr>
            <a:fld id="{A58795A9-1E44-4B92-842E-49D04A65AA60}" type="slidenum">
              <a:rPr lang="en-US" sz="1100">
                <a:solidFill>
                  <a:srgbClr val="000000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</a:fld>
            <a:r>
              <a:rPr lang="en-US" sz="1100" dirty="0">
                <a:solidFill>
                  <a:srgbClr val="000000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endParaRPr lang="en-US" sz="1100" dirty="0">
              <a:solidFill>
                <a:srgbClr val="000000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33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20800" y="879475"/>
            <a:ext cx="4216400" cy="31623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331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1061" y="4349967"/>
            <a:ext cx="4740546" cy="3510308"/>
          </a:xfrm>
          <a:noFill/>
        </p:spPr>
        <p:txBody>
          <a:bodyPr wrap="none" numCol="1" anchor="ctr" anchorCtr="0" compatLnSpc="1"/>
          <a:lstStyle/>
          <a:p>
            <a:endParaRPr lang="en-US" b="1" dirty="0"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2104F35-A900-4373-90AD-0EC6A0EAD4B3}" type="slidenum">
              <a:rPr lang="en-US"/>
            </a:fld>
            <a:endParaRPr lang="en-US"/>
          </a:p>
        </p:txBody>
      </p:sp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81200" y="661988"/>
            <a:ext cx="2895600" cy="2171700"/>
          </a:xfrm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xfrm>
            <a:off x="260350" y="2917825"/>
            <a:ext cx="6340475" cy="5802313"/>
          </a:xfrm>
        </p:spPr>
        <p:txBody>
          <a:bodyPr lIns="91279" tIns="45820" rIns="91279" bIns="45820"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3492" name="Slide Number Placeholder 3"/>
          <p:cNvSpPr txBox="1">
            <a:spLocks noGrp="1"/>
          </p:cNvSpPr>
          <p:nvPr/>
        </p:nvSpPr>
        <p:spPr bwMode="auto">
          <a:xfrm>
            <a:off x="-90488" y="-201613"/>
            <a:ext cx="180976" cy="2476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279" tIns="45820" rIns="91279" bIns="45820" anchor="b">
            <a:spAutoFit/>
          </a:bodyPr>
          <a:lstStyle/>
          <a:p>
            <a:pPr algn="r" defTabSz="904875">
              <a:tabLst>
                <a:tab pos="0" algn="l"/>
                <a:tab pos="904875" algn="l"/>
                <a:tab pos="1807845" algn="l"/>
                <a:tab pos="2712720" algn="l"/>
                <a:tab pos="3616325" algn="l"/>
                <a:tab pos="4522470" algn="l"/>
                <a:tab pos="5426075" algn="l"/>
                <a:tab pos="6330950" algn="l"/>
                <a:tab pos="7235825" algn="l"/>
                <a:tab pos="8138795" algn="l"/>
                <a:tab pos="9043670" algn="l"/>
                <a:tab pos="9948545" algn="l"/>
              </a:tabLst>
            </a:pPr>
            <a:fld id="{F8474EB8-DEF6-4857-ABF5-D5AFA913DB62}" type="slidenum">
              <a:rPr lang="en-US" sz="1000" b="1"/>
            </a:fld>
            <a:endParaRPr lang="en-US" sz="1000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latin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58202-2557-45FD-9BEF-E2B604B0ACBB}" type="slidenum">
              <a:rPr lang="en-US">
                <a:solidFill>
                  <a:srgbClr val="000000"/>
                </a:solidFill>
                <a:latin typeface="Calibri" panose="020F0502020204030204" charset="0"/>
              </a:rPr>
            </a:fld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08CB6-4C5E-4840-B255-17B0AB2AFA5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4D90FA7-DAA2-45E9-BDFD-A14B5B701DF0}" type="slidenum">
              <a:rPr lang="en-US"/>
            </a:fld>
            <a:endParaRPr lang="en-US"/>
          </a:p>
        </p:txBody>
      </p:sp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/>
        <p:txBody>
          <a:bodyPr lIns="91429" tIns="45715" rIns="91429" bIns="45715"/>
          <a:lstStyle/>
          <a:p>
            <a:pPr marL="161925" indent="-161925" defTabSz="863600" eaLnBrk="1" hangingPunct="1">
              <a:buFont typeface="Times New Roman" panose="02020603050405020304" pitchFamily="18" charset="0"/>
              <a:buChar char="•"/>
              <a:defRPr/>
            </a:pPr>
            <a:endParaRPr lang="en-US"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5" rIns="91429" bIns="45715" anchor="b"/>
          <a:lstStyle/>
          <a:p>
            <a:pPr algn="r" defTabSz="967105"/>
            <a:fld id="{4039C3B7-1057-4581-B953-4A97C2C9FD69}" type="slidenum">
              <a:rPr lang="en-US" sz="1200">
                <a:latin typeface="Calibri" panose="020F0502020204030204" charset="0"/>
              </a:rPr>
            </a:fld>
            <a:endParaRPr lang="en-US" sz="1200"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latin typeface="Calibri" panose="020F0502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78450-2F75-42C1-BD89-079AEE4960EC}" type="slidenum">
              <a:rPr lang="en-US">
                <a:latin typeface="Calibri" panose="020F0502020204030204" charset="0"/>
              </a:rPr>
            </a:fld>
            <a:endParaRPr lang="en-US"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371600" y="290513"/>
            <a:ext cx="6656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UTM Software Engineering Research Group </a:t>
            </a:r>
            <a:endParaRPr kumimoji="0" lang="en-US" sz="2400" b="1" i="0" u="none" strike="noStrike" kern="1200" cap="small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600C7-A53B-2243-8E7E-8C62609FCDE1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09F0D6-ACFD-5C40-B143-5B61C9CF8ECB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emf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19250" y="60325"/>
            <a:ext cx="5700713" cy="704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1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19963" y="184150"/>
            <a:ext cx="1716087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24163" y="6400800"/>
            <a:ext cx="3495675" cy="1968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179388" y="908050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9388" y="6237288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35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9388" y="93663"/>
            <a:ext cx="762000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 cap="small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2.wmf"/><Relationship Id="rId10" Type="http://schemas.openxmlformats.org/officeDocument/2006/relationships/image" Target="../media/image31.wmf"/><Relationship Id="rId1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tags" Target="../tags/tag2.xml"/><Relationship Id="rId7" Type="http://schemas.openxmlformats.org/officeDocument/2006/relationships/image" Target="../media/image47.png"/><Relationship Id="rId6" Type="http://schemas.openxmlformats.org/officeDocument/2006/relationships/tags" Target="../tags/tag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0.png"/><Relationship Id="rId11" Type="http://schemas.openxmlformats.org/officeDocument/2006/relationships/image" Target="../media/image49.png"/><Relationship Id="rId10" Type="http://schemas.openxmlformats.org/officeDocument/2006/relationships/image" Target="../media/image48.png"/><Relationship Id="rId1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56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5.png"/><Relationship Id="rId1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52.png"/><Relationship Id="rId2" Type="http://schemas.openxmlformats.org/officeDocument/2006/relationships/image" Target="../media/image77.png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88.png"/><Relationship Id="rId13" Type="http://schemas.openxmlformats.org/officeDocument/2006/relationships/image" Target="../media/image87.png"/><Relationship Id="rId12" Type="http://schemas.openxmlformats.org/officeDocument/2006/relationships/image" Target="../media/image86.png"/><Relationship Id="rId11" Type="http://schemas.openxmlformats.org/officeDocument/2006/relationships/image" Target="../media/image85.png"/><Relationship Id="rId10" Type="http://schemas.openxmlformats.org/officeDocument/2006/relationships/image" Target="../media/image84.png"/><Relationship Id="rId1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93.emf"/><Relationship Id="rId5" Type="http://schemas.openxmlformats.org/officeDocument/2006/relationships/image" Target="../media/image58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0" y="2276475"/>
            <a:ext cx="9109075" cy="14700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Introduction to DevOps</a:t>
            </a:r>
            <a:endParaRPr kumimoji="0" lang="en-US" altLang="en-US" sz="44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65625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UTM-SERG Research &amp; Consultancy Team</a:t>
            </a:r>
            <a:endParaRPr kumimoji="0" lang="en-MY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Computing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Faculty of Engineering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Universiti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Teknologi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Malaysia</a:t>
            </a:r>
            <a:b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UTM,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Skudai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, Johor.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1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3" name="TextBox 5"/>
          <p:cNvSpPr txBox="1"/>
          <p:nvPr/>
        </p:nvSpPr>
        <p:spPr>
          <a:xfrm>
            <a:off x="3708400" y="1443038"/>
            <a:ext cx="1727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MY" altLang="en-US" sz="2800" b="1" dirty="0">
                <a:latin typeface="Calibri" panose="020F0502020204030204" charset="0"/>
              </a:rPr>
              <a:t>TOPIC </a:t>
            </a:r>
            <a:endParaRPr lang="en-MY" altLang="en-US" sz="2800" b="1" dirty="0">
              <a:latin typeface="Calibri" panose="020F0502020204030204" charset="0"/>
            </a:endParaRPr>
          </a:p>
        </p:txBody>
      </p:sp>
      <p:sp>
        <p:nvSpPr>
          <p:cNvPr id="15364" name="Date Placeholder 1"/>
          <p:cNvSpPr txBox="1">
            <a:spLocks noGrp="1"/>
          </p:cNvSpPr>
          <p:nvPr>
            <p:ph type="dt" sz="half" idx="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>
              <a:buNone/>
            </a:pPr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sp>
        <p:nvSpPr>
          <p:cNvPr id="15365" name="Slide Number Placeholder 4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3" y="136525"/>
            <a:ext cx="2808312" cy="704850"/>
          </a:xfrm>
        </p:spPr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DevOps -  WHAT, WHY</a:t>
            </a:r>
            <a:endParaRPr lang="en-US" dirty="0"/>
          </a:p>
          <a:p>
            <a:pPr lvl="1"/>
            <a:r>
              <a:rPr lang="en-US" dirty="0"/>
              <a:t>Continuous Integration</a:t>
            </a:r>
            <a:endParaRPr lang="en-US" dirty="0"/>
          </a:p>
          <a:p>
            <a:pPr lvl="1"/>
            <a:r>
              <a:rPr lang="en-US" dirty="0"/>
              <a:t>Continuous Delivery</a:t>
            </a:r>
            <a:endParaRPr lang="en-US" dirty="0"/>
          </a:p>
          <a:p>
            <a:pPr lvl="1"/>
            <a:r>
              <a:rPr lang="en-US" dirty="0"/>
              <a:t>Continuous Testing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1" name="Group 31"/>
          <p:cNvGrpSpPr/>
          <p:nvPr/>
        </p:nvGrpSpPr>
        <p:grpSpPr bwMode="auto">
          <a:xfrm>
            <a:off x="293687" y="1700808"/>
            <a:ext cx="8556625" cy="4508500"/>
            <a:chOff x="159" y="1032"/>
            <a:chExt cx="5519" cy="2908"/>
          </a:xfrm>
        </p:grpSpPr>
        <p:grpSp>
          <p:nvGrpSpPr>
            <p:cNvPr id="51203" name="Group 39"/>
            <p:cNvGrpSpPr/>
            <p:nvPr/>
          </p:nvGrpSpPr>
          <p:grpSpPr bwMode="auto">
            <a:xfrm>
              <a:off x="676" y="1883"/>
              <a:ext cx="4126" cy="2057"/>
              <a:chOff x="676" y="1883"/>
              <a:chExt cx="4126" cy="2057"/>
            </a:xfrm>
          </p:grpSpPr>
          <p:pic>
            <p:nvPicPr>
              <p:cNvPr id="51226" name="Picture 2"/>
              <p:cNvPicPr>
                <a:picLocks noChangeAspect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676" y="2886"/>
                <a:ext cx="4126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1227" name="Freeform 5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827" y="1883"/>
                <a:ext cx="2093" cy="20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28" name="Text Box 14_1_1"/>
              <p:cNvSpPr>
                <a:spLocks noChangeArrowheads="1"/>
              </p:cNvSpPr>
              <p:nvPr/>
            </p:nvSpPr>
            <p:spPr bwMode="auto">
              <a:xfrm>
                <a:off x="2425" y="2296"/>
                <a:ext cx="896" cy="40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noFill/>
                <a:miter lim="800000"/>
              </a:ln>
            </p:spPr>
            <p:txBody>
              <a:bodyPr lIns="0" tIns="46800" rIns="0" bIns="4680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2400" b="1">
                    <a:solidFill>
                      <a:srgbClr val="000000"/>
                    </a:solidFill>
                  </a:rPr>
                  <a:t>Software delivery</a:t>
                </a:r>
                <a:endParaRPr lang="en-US" sz="2400" b="1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1204" name="Group 6"/>
            <p:cNvGrpSpPr/>
            <p:nvPr/>
          </p:nvGrpSpPr>
          <p:grpSpPr bwMode="auto">
            <a:xfrm>
              <a:off x="3884" y="2590"/>
              <a:ext cx="1755" cy="920"/>
              <a:chOff x="6165850" y="4111625"/>
              <a:chExt cx="2786063" cy="1460500"/>
            </a:xfrm>
          </p:grpSpPr>
          <p:pic>
            <p:nvPicPr>
              <p:cNvPr id="51224" name="Picture 54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6165850" y="4481513"/>
                <a:ext cx="927100" cy="695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25" name="Text Box 8"/>
              <p:cNvSpPr txBox="1">
                <a:spLocks noChangeArrowheads="1"/>
              </p:cNvSpPr>
              <p:nvPr/>
            </p:nvSpPr>
            <p:spPr bwMode="auto">
              <a:xfrm>
                <a:off x="7192963" y="4111625"/>
                <a:ext cx="1758950" cy="14605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Intelligent/</a:t>
                </a:r>
                <a:b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</a:b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Connected Systems</a:t>
                </a:r>
                <a:br>
                  <a:rPr lang="en-US" sz="1200" b="1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Software component in smart products driving increased value and differentiation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</p:txBody>
          </p:sp>
        </p:grpSp>
        <p:grpSp>
          <p:nvGrpSpPr>
            <p:cNvPr id="51205" name="Group 3"/>
            <p:cNvGrpSpPr/>
            <p:nvPr/>
          </p:nvGrpSpPr>
          <p:grpSpPr bwMode="auto">
            <a:xfrm>
              <a:off x="874" y="1032"/>
              <a:ext cx="2051" cy="992"/>
              <a:chOff x="1387475" y="1638300"/>
              <a:chExt cx="3255962" cy="1574800"/>
            </a:xfrm>
          </p:grpSpPr>
          <p:pic>
            <p:nvPicPr>
              <p:cNvPr id="51222" name="Picture 18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682875" y="2079625"/>
                <a:ext cx="1960562" cy="1133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23" name="Text Box 5"/>
              <p:cNvSpPr txBox="1">
                <a:spLocks noChangeArrowheads="1"/>
              </p:cNvSpPr>
              <p:nvPr/>
            </p:nvSpPr>
            <p:spPr bwMode="auto">
              <a:xfrm>
                <a:off x="1387475" y="1638300"/>
                <a:ext cx="1960562" cy="8540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Big Data</a:t>
                </a:r>
                <a:b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Insights on new products by more efficiently interpreting massive quantities of data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</p:txBody>
          </p:sp>
        </p:grpSp>
        <p:grpSp>
          <p:nvGrpSpPr>
            <p:cNvPr id="51206" name="Group 4"/>
            <p:cNvGrpSpPr/>
            <p:nvPr/>
          </p:nvGrpSpPr>
          <p:grpSpPr bwMode="auto">
            <a:xfrm>
              <a:off x="3070" y="1032"/>
              <a:ext cx="2171" cy="879"/>
              <a:chOff x="4873625" y="1638300"/>
              <a:chExt cx="3446462" cy="1395413"/>
            </a:xfrm>
          </p:grpSpPr>
          <p:pic>
            <p:nvPicPr>
              <p:cNvPr id="51220" name="Picture 48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873625" y="2276475"/>
                <a:ext cx="1211262" cy="757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21" name="Text Box 7"/>
              <p:cNvSpPr txBox="1">
                <a:spLocks noChangeArrowheads="1"/>
              </p:cNvSpPr>
              <p:nvPr/>
            </p:nvSpPr>
            <p:spPr bwMode="auto">
              <a:xfrm>
                <a:off x="6156325" y="1638300"/>
                <a:ext cx="2163762" cy="78422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lnSpc>
                    <a:spcPct val="95000"/>
                  </a:lnSpc>
                </a:pP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Cloud</a:t>
                </a:r>
                <a:endParaRPr lang="en-US" sz="1400" b="1">
                  <a:solidFill>
                    <a:srgbClr val="00B2EF"/>
                  </a:solidFill>
                  <a:ea typeface="ヒラギノ角ゴ Pro W3" charset="-128"/>
                </a:endParaRPr>
              </a:p>
              <a:p>
                <a:pPr>
                  <a:lnSpc>
                    <a:spcPct val="95000"/>
                  </a:lnSpc>
                </a:pP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Demand for apps requires fast, scalable environments for dev </a:t>
                </a:r>
                <a:b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and test, as well as production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</p:txBody>
          </p:sp>
        </p:grpSp>
        <p:grpSp>
          <p:nvGrpSpPr>
            <p:cNvPr id="51207" name="Group 5"/>
            <p:cNvGrpSpPr/>
            <p:nvPr/>
          </p:nvGrpSpPr>
          <p:grpSpPr bwMode="auto">
            <a:xfrm>
              <a:off x="3748" y="1774"/>
              <a:ext cx="1930" cy="647"/>
              <a:chOff x="5949950" y="2816225"/>
              <a:chExt cx="3063875" cy="1027113"/>
            </a:xfrm>
          </p:grpSpPr>
          <p:pic>
            <p:nvPicPr>
              <p:cNvPr id="51218" name="Picture 68"/>
              <p:cNvPicPr>
                <a:picLocks noChangeAspect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949950" y="3309938"/>
                <a:ext cx="854075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19" name="Text Box 7"/>
              <p:cNvSpPr txBox="1">
                <a:spLocks noChangeArrowheads="1"/>
              </p:cNvSpPr>
              <p:nvPr/>
            </p:nvSpPr>
            <p:spPr bwMode="auto">
              <a:xfrm>
                <a:off x="6834188" y="2816225"/>
                <a:ext cx="2179637" cy="10048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lnSpc>
                    <a:spcPct val="95000"/>
                  </a:lnSpc>
                </a:pP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Instrumented Products</a:t>
                </a:r>
                <a:br>
                  <a:rPr lang="en-US" sz="1400" b="1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Industry requirements demand faster response to regulations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  <a:p>
                <a:pPr>
                  <a:lnSpc>
                    <a:spcPct val="95000"/>
                  </a:lnSpc>
                </a:pP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and standards, with traceability and quality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</p:txBody>
          </p:sp>
        </p:grpSp>
        <p:grpSp>
          <p:nvGrpSpPr>
            <p:cNvPr id="51208" name="Group 2"/>
            <p:cNvGrpSpPr/>
            <p:nvPr/>
          </p:nvGrpSpPr>
          <p:grpSpPr bwMode="auto">
            <a:xfrm>
              <a:off x="322" y="1774"/>
              <a:ext cx="1691" cy="749"/>
              <a:chOff x="511175" y="2816225"/>
              <a:chExt cx="2684463" cy="1189038"/>
            </a:xfrm>
          </p:grpSpPr>
          <p:pic>
            <p:nvPicPr>
              <p:cNvPr id="51216" name="Picture 47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195513" y="3090863"/>
                <a:ext cx="1000125" cy="914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17" name="Text Box 56"/>
              <p:cNvSpPr txBox="1">
                <a:spLocks noChangeArrowheads="1"/>
              </p:cNvSpPr>
              <p:nvPr/>
            </p:nvSpPr>
            <p:spPr bwMode="auto">
              <a:xfrm>
                <a:off x="511175" y="2816225"/>
                <a:ext cx="1911350" cy="9604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lnSpc>
                    <a:spcPct val="95000"/>
                  </a:lnSpc>
                </a:pP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Social Business</a:t>
                </a:r>
                <a:endParaRPr lang="en-US" sz="1400" b="1">
                  <a:solidFill>
                    <a:srgbClr val="00B2EF"/>
                  </a:solidFill>
                  <a:ea typeface="ヒラギノ角ゴ Pro W3" charset="-128"/>
                </a:endParaRPr>
              </a:p>
              <a:p>
                <a:pPr>
                  <a:lnSpc>
                    <a:spcPct val="95000"/>
                  </a:lnSpc>
                </a:pP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Broader set of stakeholders collaborates to deliver continuous innovation</a:t>
                </a:r>
                <a:b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and value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</p:txBody>
          </p:sp>
        </p:grpSp>
        <p:grpSp>
          <p:nvGrpSpPr>
            <p:cNvPr id="51209" name="Group 1"/>
            <p:cNvGrpSpPr/>
            <p:nvPr/>
          </p:nvGrpSpPr>
          <p:grpSpPr bwMode="auto">
            <a:xfrm>
              <a:off x="159" y="2590"/>
              <a:ext cx="1526" cy="748"/>
              <a:chOff x="252413" y="4111625"/>
              <a:chExt cx="2422525" cy="1187450"/>
            </a:xfrm>
          </p:grpSpPr>
          <p:sp>
            <p:nvSpPr>
              <p:cNvPr id="51210" name="Text Box 4"/>
              <p:cNvSpPr txBox="1">
                <a:spLocks noChangeArrowheads="1"/>
              </p:cNvSpPr>
              <p:nvPr/>
            </p:nvSpPr>
            <p:spPr bwMode="auto">
              <a:xfrm>
                <a:off x="252413" y="4111625"/>
                <a:ext cx="1503362" cy="11874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  <a:t>Mobile</a:t>
                </a:r>
                <a:br>
                  <a:rPr lang="en-US" sz="1400" b="1">
                    <a:solidFill>
                      <a:srgbClr val="00B2EF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Modern workforce </a:t>
                </a:r>
                <a:b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expects constantly</a:t>
                </a:r>
                <a:b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updated software to</a:t>
                </a:r>
                <a:b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</a:br>
                <a:r>
                  <a:rPr lang="en-US" sz="1200">
                    <a:solidFill>
                      <a:srgbClr val="000000"/>
                    </a:solidFill>
                    <a:ea typeface="ヒラギノ角ゴ Pro W3" charset="-128"/>
                  </a:rPr>
                  <a:t>connect to enterprise systems</a:t>
                </a:r>
                <a:endParaRPr lang="en-US" sz="1200">
                  <a:solidFill>
                    <a:srgbClr val="000000"/>
                  </a:solidFill>
                  <a:ea typeface="ヒラギノ角ゴ Pro W3" charset="-128"/>
                </a:endParaRPr>
              </a:p>
            </p:txBody>
          </p:sp>
          <p:grpSp>
            <p:nvGrpSpPr>
              <p:cNvPr id="51211" name="Group 49"/>
              <p:cNvGrpSpPr/>
              <p:nvPr/>
            </p:nvGrpSpPr>
            <p:grpSpPr bwMode="auto">
              <a:xfrm>
                <a:off x="1712913" y="4278313"/>
                <a:ext cx="962025" cy="962025"/>
                <a:chOff x="539339" y="2419530"/>
                <a:chExt cx="1567326" cy="1243127"/>
              </a:xfrm>
            </p:grpSpPr>
            <p:pic>
              <p:nvPicPr>
                <p:cNvPr id="51212" name="Picture 50"/>
                <p:cNvPicPr>
                  <a:picLocks noChangeAspect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1441556" y="2644249"/>
                  <a:ext cx="253184" cy="3538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1213" name="Picture 51"/>
                <p:cNvPicPr>
                  <a:picLocks noChangeAspect="1"/>
                </p:cNvPicPr>
                <p:nvPr/>
              </p:nvPicPr>
              <p:blipFill>
                <a:blip r:embed="rId9"/>
                <a:srcRect/>
                <a:stretch>
                  <a:fillRect/>
                </a:stretch>
              </p:blipFill>
              <p:spPr bwMode="auto">
                <a:xfrm flipH="1">
                  <a:off x="1335058" y="2821156"/>
                  <a:ext cx="771607" cy="4494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1214" name="Picture 52"/>
                <p:cNvPicPr>
                  <a:picLocks noChangeAspect="1"/>
                </p:cNvPicPr>
                <p:nvPr/>
              </p:nvPicPr>
              <p:blipFill>
                <a:blip r:embed="rId10"/>
                <a:srcRect/>
                <a:stretch>
                  <a:fillRect/>
                </a:stretch>
              </p:blipFill>
              <p:spPr bwMode="auto">
                <a:xfrm>
                  <a:off x="539339" y="2419530"/>
                  <a:ext cx="916283" cy="6311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1215" name="Picture 53"/>
                <p:cNvPicPr>
                  <a:picLocks noChangeAspect="1"/>
                </p:cNvPicPr>
                <p:nvPr/>
              </p:nvPicPr>
              <p:blipFill>
                <a:blip r:embed="rId11"/>
                <a:srcRect/>
                <a:stretch>
                  <a:fillRect/>
                </a:stretch>
              </p:blipFill>
              <p:spPr bwMode="auto">
                <a:xfrm>
                  <a:off x="623733" y="3021968"/>
                  <a:ext cx="988621" cy="6406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</p:grpSp>
      <p:sp>
        <p:nvSpPr>
          <p:cNvPr id="51202" name="Rectangle 49"/>
          <p:cNvSpPr>
            <a:spLocks noGrp="1" noChangeArrowheads="1"/>
          </p:cNvSpPr>
          <p:nvPr>
            <p:ph type="title" idx="4294967295"/>
          </p:nvPr>
        </p:nvSpPr>
        <p:spPr>
          <a:xfrm>
            <a:off x="1016686" y="247810"/>
            <a:ext cx="3986629" cy="704850"/>
          </a:xfrm>
        </p:spPr>
        <p:txBody>
          <a:bodyPr anchor="t"/>
          <a:lstStyle/>
          <a:p>
            <a:pPr eaLnBrk="1" hangingPunct="1"/>
            <a:r>
              <a:rPr lang="en-US" altLang="ja-JP" dirty="0"/>
              <a:t>Software delivery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5"/>
          <p:cNvSpPr>
            <a:spLocks noGrp="1" noChangeArrowheads="1"/>
          </p:cNvSpPr>
          <p:nvPr>
            <p:ph type="title" idx="4294967295"/>
          </p:nvPr>
        </p:nvSpPr>
        <p:spPr>
          <a:xfrm>
            <a:off x="969918" y="199454"/>
            <a:ext cx="6804372" cy="525462"/>
          </a:xfrm>
        </p:spPr>
        <p:txBody>
          <a:bodyPr anchor="t"/>
          <a:lstStyle/>
          <a:p>
            <a:pPr eaLnBrk="1" hangingPunct="1"/>
            <a:r>
              <a:rPr lang="en-US" sz="2400" dirty="0"/>
              <a:t>A lack of continuous delivery Of Interaction</a:t>
            </a:r>
            <a:r>
              <a:rPr lang="en-US" altLang="en-US" sz="2400" dirty="0"/>
              <a:t>”</a:t>
            </a:r>
            <a:endParaRPr lang="en-US" sz="2400" dirty="0"/>
          </a:p>
        </p:txBody>
      </p:sp>
      <p:grpSp>
        <p:nvGrpSpPr>
          <p:cNvPr id="53250" name="Group 53"/>
          <p:cNvGrpSpPr/>
          <p:nvPr/>
        </p:nvGrpSpPr>
        <p:grpSpPr bwMode="auto">
          <a:xfrm>
            <a:off x="468312" y="1484784"/>
            <a:ext cx="8207375" cy="4730750"/>
            <a:chOff x="158" y="897"/>
            <a:chExt cx="5454" cy="3144"/>
          </a:xfrm>
        </p:grpSpPr>
        <p:sp>
          <p:nvSpPr>
            <p:cNvPr id="53251" name="Rounded Rectangle 4"/>
            <p:cNvSpPr>
              <a:spLocks noChangeArrowheads="1"/>
            </p:cNvSpPr>
            <p:nvPr/>
          </p:nvSpPr>
          <p:spPr bwMode="auto">
            <a:xfrm>
              <a:off x="1416" y="1482"/>
              <a:ext cx="2987" cy="1782"/>
            </a:xfrm>
            <a:prstGeom prst="roundRect">
              <a:avLst>
                <a:gd name="adj" fmla="val 2528"/>
              </a:avLst>
            </a:prstGeom>
            <a:solidFill>
              <a:srgbClr val="00B2EF"/>
            </a:solidFill>
            <a:ln w="9525">
              <a:noFill/>
              <a:round/>
            </a:ln>
          </p:spPr>
          <p:txBody>
            <a:bodyPr lIns="0" rIns="0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endParaRPr lang="en-US" sz="1400">
                <a:solidFill>
                  <a:srgbClr val="7889FB"/>
                </a:solidFill>
              </a:endParaRPr>
            </a:p>
          </p:txBody>
        </p:sp>
        <p:pic>
          <p:nvPicPr>
            <p:cNvPr id="53252" name="Rounded Rectangle 12"/>
            <p:cNvPicPr>
              <a:picLocks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3016" y="1749"/>
              <a:ext cx="1333" cy="8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53" name="Rectangle 82"/>
            <p:cNvSpPr txBox="1">
              <a:spLocks noChangeArrowheads="1"/>
            </p:cNvSpPr>
            <p:nvPr/>
          </p:nvSpPr>
          <p:spPr bwMode="auto">
            <a:xfrm>
              <a:off x="4688" y="1480"/>
              <a:ext cx="924" cy="7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defTabSz="824230">
                <a:lnSpc>
                  <a:spcPct val="90000"/>
                </a:lnSpc>
                <a:spcBef>
                  <a:spcPct val="50000"/>
                </a:spcBef>
              </a:pPr>
              <a:r>
                <a:rPr lang="en-US" sz="2800" b="1">
                  <a:solidFill>
                    <a:srgbClr val="F49027"/>
                  </a:solidFill>
                  <a:ea typeface="ヒラギノ角ゴ Pro W3" charset="-128"/>
                </a:rPr>
                <a:t>&gt;45%</a:t>
              </a:r>
              <a:endParaRPr lang="en-US" sz="2800" b="1">
                <a:solidFill>
                  <a:srgbClr val="F49027"/>
                </a:solidFill>
                <a:ea typeface="ヒラギノ角ゴ Pro W3" charset="-128"/>
              </a:endParaRPr>
            </a:p>
            <a:p>
              <a:pPr defTabSz="824230"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2DB6B3"/>
                </a:buClr>
                <a:buSzPct val="110000"/>
                <a:buFont typeface="Times New Roman" panose="02020603050405020304" pitchFamily="18" charset="0"/>
                <a:buNone/>
              </a:pP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of customers experience production delays</a:t>
              </a:r>
              <a:endParaRPr lang="en-US" sz="14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53254" name="Rectangle 82"/>
            <p:cNvSpPr txBox="1">
              <a:spLocks noChangeArrowheads="1"/>
            </p:cNvSpPr>
            <p:nvPr/>
          </p:nvSpPr>
          <p:spPr bwMode="auto">
            <a:xfrm>
              <a:off x="4688" y="2387"/>
              <a:ext cx="830" cy="7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defTabSz="824230">
                <a:lnSpc>
                  <a:spcPct val="90000"/>
                </a:lnSpc>
                <a:spcBef>
                  <a:spcPct val="50000"/>
                </a:spcBef>
              </a:pPr>
              <a:r>
                <a:rPr lang="en-US" sz="2800" b="1">
                  <a:solidFill>
                    <a:srgbClr val="F49027"/>
                  </a:solidFill>
                  <a:ea typeface="ヒラギノ角ゴ Pro W3" charset="-128"/>
                </a:rPr>
                <a:t>&gt;50%</a:t>
              </a:r>
              <a:br>
                <a:rPr lang="en-US" sz="1600" b="1">
                  <a:solidFill>
                    <a:srgbClr val="F49027"/>
                  </a:solidFill>
                  <a:ea typeface="ヒラギノ角ゴ Pro W3" charset="-128"/>
                </a:rPr>
              </a:b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of outsourced</a:t>
              </a:r>
              <a:br>
                <a:rPr lang="en-US" sz="1400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projects fail to</a:t>
              </a:r>
              <a:br>
                <a:rPr lang="en-US" sz="1400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meet objectives</a:t>
              </a:r>
              <a:endParaRPr lang="en-US" sz="14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53255" name="Rectangle 82"/>
            <p:cNvSpPr txBox="1">
              <a:spLocks noChangeArrowheads="1"/>
            </p:cNvSpPr>
            <p:nvPr/>
          </p:nvSpPr>
          <p:spPr bwMode="auto">
            <a:xfrm>
              <a:off x="158" y="1480"/>
              <a:ext cx="1146" cy="7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defTabSz="824230">
                <a:lnSpc>
                  <a:spcPct val="90000"/>
                </a:lnSpc>
                <a:spcBef>
                  <a:spcPct val="50000"/>
                </a:spcBef>
              </a:pPr>
              <a:r>
                <a:rPr lang="en-US" sz="2800" b="1">
                  <a:solidFill>
                    <a:srgbClr val="F49027"/>
                  </a:solidFill>
                  <a:ea typeface="ヒラギノ角ゴ Pro W3" charset="-128"/>
                </a:rPr>
                <a:t>&gt;70%</a:t>
              </a:r>
              <a:endParaRPr lang="en-US" sz="2800">
                <a:solidFill>
                  <a:srgbClr val="000000"/>
                </a:solidFill>
                <a:ea typeface="ヒラギノ角ゴ Pro W3" charset="-128"/>
              </a:endParaRPr>
            </a:p>
            <a:p>
              <a:pPr defTabSz="824230"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2DB6B3"/>
                </a:buClr>
                <a:buSzPct val="110000"/>
                <a:buFont typeface="Times New Roman" panose="02020603050405020304" pitchFamily="18" charset="0"/>
                <a:buNone/>
              </a:pPr>
              <a:r>
                <a:rPr lang="en-US" sz="1300">
                  <a:solidFill>
                    <a:srgbClr val="000000"/>
                  </a:solidFill>
                  <a:ea typeface="ヒラギノ角ゴ Pro W3" charset="-128"/>
                </a:rPr>
                <a:t>of budgets devoted</a:t>
              </a:r>
              <a:br>
                <a:rPr lang="en-US" sz="1300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300">
                  <a:solidFill>
                    <a:srgbClr val="000000"/>
                  </a:solidFill>
                  <a:ea typeface="ヒラギノ角ゴ Pro W3" charset="-128"/>
                </a:rPr>
                <a:t>to maintenance</a:t>
              </a:r>
              <a:br>
                <a:rPr lang="en-US" sz="1300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300">
                  <a:solidFill>
                    <a:srgbClr val="000000"/>
                  </a:solidFill>
                  <a:ea typeface="ヒラギノ角ゴ Pro W3" charset="-128"/>
                </a:rPr>
                <a:t>and operations</a:t>
              </a:r>
              <a:endParaRPr lang="en-US" sz="13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53256" name="Rectangle 82"/>
            <p:cNvSpPr txBox="1">
              <a:spLocks noChangeArrowheads="1"/>
            </p:cNvSpPr>
            <p:nvPr/>
          </p:nvSpPr>
          <p:spPr bwMode="auto">
            <a:xfrm>
              <a:off x="158" y="2387"/>
              <a:ext cx="1070" cy="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defTabSz="824230">
                <a:lnSpc>
                  <a:spcPct val="90000"/>
                </a:lnSpc>
                <a:spcBef>
                  <a:spcPct val="50000"/>
                </a:spcBef>
              </a:pPr>
              <a:r>
                <a:rPr lang="en-US" sz="2800" b="1">
                  <a:solidFill>
                    <a:srgbClr val="F49027"/>
                  </a:solidFill>
                  <a:ea typeface="ヒラギノ角ゴ Pro W3" charset="-128"/>
                </a:rPr>
                <a:t>4-6 weeks</a:t>
              </a:r>
              <a:endParaRPr lang="en-US" sz="2800" b="1">
                <a:solidFill>
                  <a:srgbClr val="F49027"/>
                </a:solidFill>
                <a:ea typeface="ヒラギノ角ゴ Pro W3" charset="-128"/>
              </a:endParaRPr>
            </a:p>
            <a:p>
              <a:pPr defTabSz="824230"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2DB6B3"/>
                </a:buClr>
                <a:buSzPct val="110000"/>
                <a:buFont typeface="Times New Roman" panose="02020603050405020304" pitchFamily="18" charset="0"/>
                <a:buNone/>
              </a:pPr>
              <a:r>
                <a:rPr lang="en-US" sz="1300">
                  <a:solidFill>
                    <a:srgbClr val="000000"/>
                  </a:solidFill>
                  <a:ea typeface="ヒラギノ角ゴ Pro W3" charset="-128"/>
                </a:rPr>
                <a:t>to deliver even minor application changes to customers</a:t>
              </a:r>
              <a:endParaRPr lang="en-US" sz="13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53257" name="AutoShape 57"/>
            <p:cNvSpPr>
              <a:spLocks noChangeArrowheads="1"/>
            </p:cNvSpPr>
            <p:nvPr/>
          </p:nvSpPr>
          <p:spPr bwMode="auto">
            <a:xfrm>
              <a:off x="3112" y="897"/>
              <a:ext cx="1852" cy="492"/>
            </a:xfrm>
            <a:prstGeom prst="roundRect">
              <a:avLst>
                <a:gd name="adj" fmla="val 10759"/>
              </a:avLst>
            </a:prstGeom>
            <a:solidFill>
              <a:schemeClr val="bg1"/>
            </a:solidFill>
            <a:ln w="19050" cap="rnd">
              <a:solidFill>
                <a:srgbClr val="333333"/>
              </a:solidFill>
              <a:prstDash val="sysDot"/>
              <a:rou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endParaRPr lang="en-US" sz="1200">
                <a:solidFill>
                  <a:srgbClr val="7889FB"/>
                </a:solidFill>
              </a:endParaRPr>
            </a:p>
          </p:txBody>
        </p:sp>
        <p:sp>
          <p:nvSpPr>
            <p:cNvPr id="53258" name="AutoShape 56"/>
            <p:cNvSpPr>
              <a:spLocks noChangeArrowheads="1"/>
            </p:cNvSpPr>
            <p:nvPr/>
          </p:nvSpPr>
          <p:spPr bwMode="auto">
            <a:xfrm>
              <a:off x="736" y="905"/>
              <a:ext cx="2042" cy="484"/>
            </a:xfrm>
            <a:prstGeom prst="roundRect">
              <a:avLst>
                <a:gd name="adj" fmla="val 10759"/>
              </a:avLst>
            </a:prstGeom>
            <a:solidFill>
              <a:schemeClr val="bg1"/>
            </a:solidFill>
            <a:ln w="19050" cap="rnd">
              <a:solidFill>
                <a:srgbClr val="333333"/>
              </a:solidFill>
              <a:prstDash val="sysDot"/>
              <a:rou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endParaRPr lang="en-US" sz="1200">
                <a:solidFill>
                  <a:srgbClr val="7889FB"/>
                </a:solidFill>
              </a:endParaRPr>
            </a:p>
          </p:txBody>
        </p:sp>
        <p:sp>
          <p:nvSpPr>
            <p:cNvPr id="53259" name="AutoShape 55"/>
            <p:cNvSpPr>
              <a:spLocks noChangeArrowheads="1"/>
            </p:cNvSpPr>
            <p:nvPr/>
          </p:nvSpPr>
          <p:spPr bwMode="auto">
            <a:xfrm>
              <a:off x="3318" y="3368"/>
              <a:ext cx="1695" cy="514"/>
            </a:xfrm>
            <a:prstGeom prst="roundRect">
              <a:avLst>
                <a:gd name="adj" fmla="val 10759"/>
              </a:avLst>
            </a:prstGeom>
            <a:solidFill>
              <a:schemeClr val="bg1"/>
            </a:solidFill>
            <a:ln w="19050" cap="rnd">
              <a:solidFill>
                <a:srgbClr val="333333"/>
              </a:solidFill>
              <a:prstDash val="sysDot"/>
              <a:rou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endParaRPr lang="en-US" sz="1200">
                <a:solidFill>
                  <a:srgbClr val="7889FB"/>
                </a:solidFill>
              </a:endParaRPr>
            </a:p>
          </p:txBody>
        </p:sp>
        <p:sp>
          <p:nvSpPr>
            <p:cNvPr id="53260" name="AutoShape 54"/>
            <p:cNvSpPr>
              <a:spLocks noChangeArrowheads="1"/>
            </p:cNvSpPr>
            <p:nvPr/>
          </p:nvSpPr>
          <p:spPr bwMode="auto">
            <a:xfrm>
              <a:off x="691" y="3368"/>
              <a:ext cx="2268" cy="673"/>
            </a:xfrm>
            <a:prstGeom prst="roundRect">
              <a:avLst>
                <a:gd name="adj" fmla="val 10759"/>
              </a:avLst>
            </a:prstGeom>
            <a:solidFill>
              <a:schemeClr val="bg1"/>
            </a:solidFill>
            <a:ln w="19050" cap="rnd">
              <a:solidFill>
                <a:srgbClr val="333333"/>
              </a:solidFill>
              <a:prstDash val="sysDot"/>
              <a:rou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endParaRPr lang="en-US" sz="1200">
                <a:solidFill>
                  <a:srgbClr val="7889FB"/>
                </a:solidFill>
              </a:endParaRPr>
            </a:p>
          </p:txBody>
        </p:sp>
        <p:pic>
          <p:nvPicPr>
            <p:cNvPr id="53261" name="Picture 5" descr="C:\Mike\Impact 2013\images\Cloud_Outline_2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27" y="2196"/>
              <a:ext cx="1240" cy="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62" name="Rectangle 11"/>
            <p:cNvSpPr>
              <a:spLocks noChangeArrowheads="1"/>
            </p:cNvSpPr>
            <p:nvPr/>
          </p:nvSpPr>
          <p:spPr bwMode="auto">
            <a:xfrm>
              <a:off x="1451" y="1540"/>
              <a:ext cx="3002" cy="1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400" b="1">
                  <a:solidFill>
                    <a:srgbClr val="FFFFFF"/>
                  </a:solidFill>
                </a:rPr>
                <a:t>  Systems of Interaction</a:t>
              </a:r>
              <a:endParaRPr lang="en-US" sz="1400" b="1">
                <a:solidFill>
                  <a:srgbClr val="FFFFFF"/>
                </a:solidFill>
              </a:endParaRPr>
            </a:p>
          </p:txBody>
        </p:sp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1480" y="2708"/>
              <a:ext cx="817" cy="2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ja-JP" sz="1200" b="1">
                  <a:solidFill>
                    <a:srgbClr val="FFFFFF"/>
                  </a:solidFill>
                </a:rPr>
                <a:t>Continuous</a:t>
              </a:r>
              <a:br>
                <a:rPr lang="en-US" altLang="ja-JP" sz="1200" b="1">
                  <a:solidFill>
                    <a:srgbClr val="FFFFFF"/>
                  </a:solidFill>
                </a:rPr>
              </a:br>
              <a:r>
                <a:rPr lang="en-US" altLang="ja-JP" sz="1200" b="1">
                  <a:solidFill>
                    <a:srgbClr val="FFFFFF"/>
                  </a:solidFill>
                </a:rPr>
                <a:t>client experience</a:t>
              </a:r>
              <a:endParaRPr 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53264" name="Rectangle 15"/>
            <p:cNvSpPr>
              <a:spLocks noChangeArrowheads="1"/>
            </p:cNvSpPr>
            <p:nvPr/>
          </p:nvSpPr>
          <p:spPr bwMode="auto">
            <a:xfrm>
              <a:off x="3610" y="2708"/>
              <a:ext cx="715" cy="2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ja-JP" sz="1200" b="1">
                  <a:solidFill>
                    <a:srgbClr val="FFFFFF"/>
                  </a:solidFill>
                </a:rPr>
                <a:t>Partner</a:t>
              </a:r>
              <a:br>
                <a:rPr lang="en-US" altLang="ja-JP" sz="1200" b="1">
                  <a:solidFill>
                    <a:srgbClr val="FFFFFF"/>
                  </a:solidFill>
                </a:rPr>
              </a:br>
              <a:r>
                <a:rPr lang="en-US" altLang="ja-JP" sz="1200" b="1">
                  <a:solidFill>
                    <a:srgbClr val="FFFFFF"/>
                  </a:solidFill>
                </a:rPr>
                <a:t>value chain</a:t>
              </a:r>
              <a:endParaRPr 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53265" name="Rectangle 16"/>
            <p:cNvSpPr>
              <a:spLocks noChangeArrowheads="1"/>
            </p:cNvSpPr>
            <p:nvPr/>
          </p:nvSpPr>
          <p:spPr bwMode="auto">
            <a:xfrm>
              <a:off x="2253" y="2624"/>
              <a:ext cx="1374" cy="2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ja-JP" sz="1400" b="1">
                  <a:solidFill>
                    <a:srgbClr val="FFFFFF"/>
                  </a:solidFill>
                </a:rPr>
                <a:t>Cloud-based</a:t>
              </a:r>
              <a:br>
                <a:rPr lang="en-US" altLang="ja-JP" sz="1400" b="1">
                  <a:solidFill>
                    <a:srgbClr val="FFFFFF"/>
                  </a:solidFill>
                </a:rPr>
              </a:br>
              <a:r>
                <a:rPr lang="en-US" altLang="ja-JP" sz="1400" b="1">
                  <a:solidFill>
                    <a:srgbClr val="FFFFFF"/>
                  </a:solidFill>
                </a:rPr>
                <a:t>Services</a:t>
              </a:r>
              <a:endParaRPr lang="en-US" sz="1400" b="1">
                <a:solidFill>
                  <a:srgbClr val="FFFFFF"/>
                </a:solidFill>
              </a:endParaRPr>
            </a:p>
          </p:txBody>
        </p:sp>
        <p:pic>
          <p:nvPicPr>
            <p:cNvPr id="53266" name="Rounded Rectangle 10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26" y="1750"/>
              <a:ext cx="1329" cy="8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67" name="Text Box 14"/>
            <p:cNvSpPr txBox="1">
              <a:spLocks noChangeArrowheads="1"/>
            </p:cNvSpPr>
            <p:nvPr/>
          </p:nvSpPr>
          <p:spPr bwMode="auto">
            <a:xfrm>
              <a:off x="1535" y="1760"/>
              <a:ext cx="1311" cy="8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endParaRPr lang="en-US" sz="14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53268" name="Rectangle 12"/>
            <p:cNvSpPr>
              <a:spLocks noChangeArrowheads="1"/>
            </p:cNvSpPr>
            <p:nvPr/>
          </p:nvSpPr>
          <p:spPr bwMode="auto">
            <a:xfrm>
              <a:off x="1617" y="1787"/>
              <a:ext cx="1150" cy="1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1">
                  <a:solidFill>
                    <a:srgbClr val="000000"/>
                  </a:solidFill>
                </a:rPr>
                <a:t>Systems of Engagement</a:t>
              </a:r>
              <a:endParaRPr lang="en-US" sz="1200" b="1">
                <a:solidFill>
                  <a:srgbClr val="000000"/>
                </a:solidFill>
              </a:endParaRPr>
            </a:p>
          </p:txBody>
        </p:sp>
        <p:sp>
          <p:nvSpPr>
            <p:cNvPr id="53269" name="Text Box 18"/>
            <p:cNvSpPr txBox="1">
              <a:spLocks noChangeArrowheads="1"/>
            </p:cNvSpPr>
            <p:nvPr/>
          </p:nvSpPr>
          <p:spPr bwMode="auto">
            <a:xfrm>
              <a:off x="3027" y="1865"/>
              <a:ext cx="1310" cy="8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endParaRPr lang="en-US" sz="14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53270" name="Rectangle 13"/>
            <p:cNvSpPr>
              <a:spLocks noChangeArrowheads="1"/>
            </p:cNvSpPr>
            <p:nvPr/>
          </p:nvSpPr>
          <p:spPr bwMode="auto">
            <a:xfrm>
              <a:off x="3146" y="1787"/>
              <a:ext cx="1116" cy="1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 anchor="ctr"/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1">
                  <a:solidFill>
                    <a:srgbClr val="000000"/>
                  </a:solidFill>
                </a:rPr>
                <a:t>Systems of Record</a:t>
              </a:r>
              <a:endParaRPr lang="en-US" sz="1200" b="1">
                <a:solidFill>
                  <a:srgbClr val="000000"/>
                </a:solidFill>
              </a:endParaRPr>
            </a:p>
          </p:txBody>
        </p:sp>
        <p:pic>
          <p:nvPicPr>
            <p:cNvPr id="53271" name="Picture 3" descr="C:\Mike\Impact 2013\images\Systems of Engagement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77" y="1917"/>
              <a:ext cx="1231" cy="6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72" name="TextBox 47"/>
            <p:cNvSpPr txBox="1">
              <a:spLocks noChangeArrowheads="1"/>
            </p:cNvSpPr>
            <p:nvPr/>
          </p:nvSpPr>
          <p:spPr bwMode="auto">
            <a:xfrm>
              <a:off x="3201" y="914"/>
              <a:ext cx="1754" cy="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ea typeface="ヒラギノ角ゴ Pro W3" charset="-128"/>
                </a:rPr>
                <a:t>Operations</a:t>
              </a:r>
              <a:br>
                <a:rPr lang="en-US" sz="1400" b="1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Rapid app releases impact system stability and compliance</a:t>
              </a:r>
              <a:endParaRPr lang="en-US" sz="14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100379" name="TextBox 51"/>
            <p:cNvSpPr txBox="1">
              <a:spLocks noChangeArrowheads="1"/>
            </p:cNvSpPr>
            <p:nvPr/>
          </p:nvSpPr>
          <p:spPr bwMode="auto">
            <a:xfrm>
              <a:off x="3398" y="3465"/>
              <a:ext cx="1534" cy="3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rIns="0"/>
            <a:lstStyle>
              <a:lvl1pPr eaLnBrk="0" hangingPunct="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en-US" sz="1400" b="1">
                  <a:solidFill>
                    <a:srgbClr val="000000"/>
                  </a:solidFill>
                </a:rPr>
                <a:t>Suppliers</a:t>
              </a:r>
              <a:br>
                <a:rPr lang="en-US" sz="1400" b="1">
                  <a:solidFill>
                    <a:srgbClr val="000000"/>
                  </a:solidFill>
                </a:rPr>
              </a:br>
              <a:r>
                <a:rPr lang="en-US" sz="1400">
                  <a:solidFill>
                    <a:srgbClr val="000000"/>
                  </a:solidFill>
                </a:rPr>
                <a:t>Delivery in the context of agile</a:t>
              </a:r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61464" name="TextBox 54"/>
            <p:cNvSpPr txBox="1">
              <a:spLocks noChangeArrowheads="1"/>
            </p:cNvSpPr>
            <p:nvPr/>
          </p:nvSpPr>
          <p:spPr bwMode="auto">
            <a:xfrm>
              <a:off x="756" y="3408"/>
              <a:ext cx="2138" cy="598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lIns="0" r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en-US" sz="1400" b="1">
                  <a:solidFill>
                    <a:srgbClr val="000000"/>
                  </a:solidFill>
                </a:rPr>
                <a:t>Development/Test</a:t>
              </a:r>
              <a:br>
                <a:rPr lang="en-US" sz="1400" b="1">
                  <a:solidFill>
                    <a:srgbClr val="000000"/>
                  </a:solidFill>
                </a:rPr>
              </a:br>
              <a:r>
                <a:rPr lang="en-US" sz="1300">
                  <a:solidFill>
                    <a:srgbClr val="000000"/>
                  </a:solidFill>
                </a:rPr>
                <a:t>Speed mismatch between faster moving front office and slower moving back office systems, delaying time to obtain feedback</a:t>
              </a:r>
              <a:endParaRPr lang="en-US" sz="1300">
                <a:solidFill>
                  <a:srgbClr val="000000"/>
                </a:solidFill>
              </a:endParaRPr>
            </a:p>
          </p:txBody>
        </p:sp>
        <p:sp>
          <p:nvSpPr>
            <p:cNvPr id="61459" name="TextBox 6"/>
            <p:cNvSpPr txBox="1">
              <a:spLocks noChangeArrowheads="1"/>
            </p:cNvSpPr>
            <p:nvPr/>
          </p:nvSpPr>
          <p:spPr bwMode="auto">
            <a:xfrm>
              <a:off x="820" y="897"/>
              <a:ext cx="1959" cy="46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lIns="0" rIns="0"/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ea typeface="ヒラギノ角ゴ Pro W3" charset="-128"/>
                </a:rPr>
                <a:t>Line-of-business</a:t>
              </a:r>
              <a:br>
                <a:rPr lang="en-US" sz="1400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Takes too long to introduce or make</a:t>
              </a:r>
              <a:br>
                <a:rPr lang="en-US" sz="1400">
                  <a:solidFill>
                    <a:srgbClr val="000000"/>
                  </a:solidFill>
                  <a:ea typeface="ヒラギノ角ゴ Pro W3" charset="-128"/>
                </a:rPr>
              </a:br>
              <a:r>
                <a:rPr lang="en-US" sz="1400">
                  <a:solidFill>
                    <a:srgbClr val="000000"/>
                  </a:solidFill>
                  <a:ea typeface="ヒラギノ角ゴ Pro W3" charset="-128"/>
                </a:rPr>
                <a:t>changes to mobile apps and services</a:t>
              </a:r>
              <a:endParaRPr lang="en-US" sz="1400">
                <a:solidFill>
                  <a:srgbClr val="000000"/>
                </a:solidFill>
                <a:ea typeface="ヒラギノ角ゴ Pro W3" charset="-128"/>
              </a:endParaRPr>
            </a:p>
          </p:txBody>
        </p:sp>
        <p:sp>
          <p:nvSpPr>
            <p:cNvPr id="26649" name="Line 58"/>
            <p:cNvSpPr>
              <a:spLocks noChangeShapeType="1"/>
            </p:cNvSpPr>
            <p:nvPr/>
          </p:nvSpPr>
          <p:spPr bwMode="auto">
            <a:xfrm>
              <a:off x="1820" y="2990"/>
              <a:ext cx="0" cy="363"/>
            </a:xfrm>
            <a:prstGeom prst="line">
              <a:avLst/>
            </a:prstGeom>
            <a:noFill/>
            <a:ln w="19050" cap="rnd">
              <a:solidFill>
                <a:srgbClr val="333333"/>
              </a:solidFill>
              <a:prstDash val="sysDot"/>
              <a:round/>
              <a:headEnd type="oval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  <a:defRPr/>
              </a:pPr>
              <a:endParaRPr lang="en-US" sz="2200">
                <a:solidFill>
                  <a:srgbClr val="7889FB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6650" name="Line 60"/>
            <p:cNvSpPr>
              <a:spLocks noChangeShapeType="1"/>
            </p:cNvSpPr>
            <p:nvPr/>
          </p:nvSpPr>
          <p:spPr bwMode="auto">
            <a:xfrm>
              <a:off x="4274" y="1389"/>
              <a:ext cx="0" cy="457"/>
            </a:xfrm>
            <a:prstGeom prst="line">
              <a:avLst/>
            </a:prstGeom>
            <a:noFill/>
            <a:ln w="19050" cap="rnd">
              <a:solidFill>
                <a:srgbClr val="333333"/>
              </a:solidFill>
              <a:prstDash val="sysDot"/>
              <a:round/>
              <a:tailEnd type="oval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  <a:defRPr/>
              </a:pPr>
              <a:endParaRPr lang="en-US" sz="2200">
                <a:solidFill>
                  <a:srgbClr val="7889FB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6651" name="Line 61"/>
            <p:cNvSpPr>
              <a:spLocks noChangeShapeType="1"/>
            </p:cNvSpPr>
            <p:nvPr/>
          </p:nvSpPr>
          <p:spPr bwMode="auto">
            <a:xfrm>
              <a:off x="1585" y="1389"/>
              <a:ext cx="0" cy="457"/>
            </a:xfrm>
            <a:prstGeom prst="line">
              <a:avLst/>
            </a:prstGeom>
            <a:noFill/>
            <a:ln w="19050" cap="rnd">
              <a:solidFill>
                <a:srgbClr val="333333"/>
              </a:solidFill>
              <a:prstDash val="sysDot"/>
              <a:round/>
              <a:tailEnd type="oval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  <a:defRPr/>
              </a:pPr>
              <a:endParaRPr lang="en-US" sz="2200">
                <a:solidFill>
                  <a:srgbClr val="7889FB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6652" name="Line 58"/>
            <p:cNvSpPr>
              <a:spLocks noChangeShapeType="1"/>
            </p:cNvSpPr>
            <p:nvPr/>
          </p:nvSpPr>
          <p:spPr bwMode="auto">
            <a:xfrm>
              <a:off x="4036" y="2990"/>
              <a:ext cx="0" cy="363"/>
            </a:xfrm>
            <a:prstGeom prst="line">
              <a:avLst/>
            </a:prstGeom>
            <a:noFill/>
            <a:ln w="19050" cap="rnd">
              <a:solidFill>
                <a:srgbClr val="333333"/>
              </a:solidFill>
              <a:prstDash val="sysDot"/>
              <a:round/>
              <a:headEnd type="oval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  <a:defRPr/>
              </a:pPr>
              <a:endParaRPr lang="en-US" sz="2200">
                <a:solidFill>
                  <a:srgbClr val="7889FB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53280" name="Picture 193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375" y="1985"/>
              <a:ext cx="663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Rounded Rectangle 3"/>
            <p:cNvSpPr/>
            <p:nvPr/>
          </p:nvSpPr>
          <p:spPr bwMode="auto">
            <a:xfrm>
              <a:off x="3318" y="1953"/>
              <a:ext cx="768" cy="560"/>
            </a:xfrm>
            <a:prstGeom prst="roundRect">
              <a:avLst/>
            </a:prstGeom>
            <a:solidFill>
              <a:schemeClr val="bg2">
                <a:lumMod val="20000"/>
                <a:lumOff val="80000"/>
                <a:alpha val="44000"/>
              </a:schemeClr>
            </a:solidFill>
            <a:ln w="12700" cap="rnd">
              <a:noFill/>
              <a:round/>
            </a:ln>
            <a:effectLst/>
          </p:spPr>
          <p:txBody>
            <a:bodyPr/>
            <a:lstStyle/>
            <a:p>
              <a:pPr>
                <a:lnSpc>
                  <a:spcPct val="90000"/>
                </a:lnSpc>
                <a:defRPr/>
              </a:pPr>
              <a:endParaRPr lang="en-US" sz="2200">
                <a:solidFill>
                  <a:srgbClr val="7889FB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53282" name="Group 1"/>
            <p:cNvGrpSpPr/>
            <p:nvPr/>
          </p:nvGrpSpPr>
          <p:grpSpPr bwMode="auto">
            <a:xfrm>
              <a:off x="3252" y="1944"/>
              <a:ext cx="951" cy="575"/>
              <a:chOff x="9297988" y="3165772"/>
              <a:chExt cx="1509712" cy="912813"/>
            </a:xfrm>
          </p:grpSpPr>
          <p:sp>
            <p:nvSpPr>
              <p:cNvPr id="53285" name="Rounded Rectangle 14"/>
              <p:cNvSpPr>
                <a:spLocks noChangeArrowheads="1"/>
              </p:cNvSpPr>
              <p:nvPr/>
            </p:nvSpPr>
            <p:spPr bwMode="auto">
              <a:xfrm>
                <a:off x="9297988" y="3165772"/>
                <a:ext cx="677862" cy="276225"/>
              </a:xfrm>
              <a:prstGeom prst="roundRect">
                <a:avLst>
                  <a:gd name="adj" fmla="val 2528"/>
                </a:avLst>
              </a:prstGeom>
              <a:solidFill>
                <a:srgbClr val="EEF6FB">
                  <a:alpha val="72156"/>
                </a:srgbClr>
              </a:solidFill>
              <a:ln w="12700" cap="rnd">
                <a:solidFill>
                  <a:srgbClr val="EEF6FB"/>
                </a:solidFill>
                <a:round/>
              </a:ln>
            </p:spPr>
            <p:txBody>
              <a:bodyPr lIns="0" rIns="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endParaRPr lang="en-US" sz="1400">
                  <a:solidFill>
                    <a:srgbClr val="7889FB"/>
                  </a:solidFill>
                </a:endParaRPr>
              </a:p>
            </p:txBody>
          </p:sp>
          <p:sp>
            <p:nvSpPr>
              <p:cNvPr id="53286" name="Rounded Rectangle 15"/>
              <p:cNvSpPr>
                <a:spLocks noChangeArrowheads="1"/>
              </p:cNvSpPr>
              <p:nvPr/>
            </p:nvSpPr>
            <p:spPr bwMode="auto">
              <a:xfrm>
                <a:off x="9297988" y="3480415"/>
                <a:ext cx="677862" cy="277812"/>
              </a:xfrm>
              <a:prstGeom prst="roundRect">
                <a:avLst>
                  <a:gd name="adj" fmla="val 2528"/>
                </a:avLst>
              </a:prstGeom>
              <a:solidFill>
                <a:srgbClr val="EEF6FB">
                  <a:alpha val="70195"/>
                </a:srgbClr>
              </a:solidFill>
              <a:ln w="12700" cap="rnd">
                <a:solidFill>
                  <a:srgbClr val="EEF6FB"/>
                </a:solidFill>
                <a:round/>
              </a:ln>
            </p:spPr>
            <p:txBody>
              <a:bodyPr lIns="0" rIns="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endParaRPr lang="en-US" sz="1400">
                  <a:solidFill>
                    <a:srgbClr val="7889FB"/>
                  </a:solidFill>
                </a:endParaRPr>
              </a:p>
            </p:txBody>
          </p:sp>
          <p:sp>
            <p:nvSpPr>
              <p:cNvPr id="53287" name="Rounded Rectangle 16"/>
              <p:cNvSpPr>
                <a:spLocks noChangeArrowheads="1"/>
              </p:cNvSpPr>
              <p:nvPr/>
            </p:nvSpPr>
            <p:spPr bwMode="auto">
              <a:xfrm>
                <a:off x="10129838" y="3168947"/>
                <a:ext cx="677862" cy="273050"/>
              </a:xfrm>
              <a:prstGeom prst="roundRect">
                <a:avLst>
                  <a:gd name="adj" fmla="val 2528"/>
                </a:avLst>
              </a:prstGeom>
              <a:solidFill>
                <a:srgbClr val="EEF6FB">
                  <a:alpha val="72156"/>
                </a:srgbClr>
              </a:solidFill>
              <a:ln w="12700" cap="rnd">
                <a:solidFill>
                  <a:srgbClr val="EEF6FB"/>
                </a:solidFill>
                <a:round/>
              </a:ln>
            </p:spPr>
            <p:txBody>
              <a:bodyPr lIns="0" rIns="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endParaRPr lang="en-US" sz="1400">
                  <a:solidFill>
                    <a:srgbClr val="7889FB"/>
                  </a:solidFill>
                </a:endParaRPr>
              </a:p>
            </p:txBody>
          </p:sp>
          <p:sp>
            <p:nvSpPr>
              <p:cNvPr id="53288" name="Rounded Rectangle 17"/>
              <p:cNvSpPr>
                <a:spLocks noChangeArrowheads="1"/>
              </p:cNvSpPr>
              <p:nvPr/>
            </p:nvSpPr>
            <p:spPr bwMode="auto">
              <a:xfrm>
                <a:off x="10129838" y="3480415"/>
                <a:ext cx="677862" cy="276225"/>
              </a:xfrm>
              <a:prstGeom prst="roundRect">
                <a:avLst>
                  <a:gd name="adj" fmla="val 2528"/>
                </a:avLst>
              </a:prstGeom>
              <a:solidFill>
                <a:srgbClr val="EEF6FB">
                  <a:alpha val="72156"/>
                </a:srgbClr>
              </a:solidFill>
              <a:ln w="12700" cap="rnd">
                <a:solidFill>
                  <a:srgbClr val="EEF6FB"/>
                </a:solidFill>
                <a:round/>
              </a:ln>
            </p:spPr>
            <p:txBody>
              <a:bodyPr lIns="0" rIns="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endParaRPr lang="en-US" sz="1400">
                  <a:solidFill>
                    <a:srgbClr val="7889FB"/>
                  </a:solidFill>
                </a:endParaRPr>
              </a:p>
            </p:txBody>
          </p:sp>
          <p:sp>
            <p:nvSpPr>
              <p:cNvPr id="53289" name="Rectangle 12"/>
              <p:cNvSpPr>
                <a:spLocks noChangeArrowheads="1"/>
              </p:cNvSpPr>
              <p:nvPr/>
            </p:nvSpPr>
            <p:spPr bwMode="auto">
              <a:xfrm>
                <a:off x="10161588" y="3229272"/>
                <a:ext cx="640080" cy="168275"/>
              </a:xfrm>
              <a:prstGeom prst="rect">
                <a:avLst/>
              </a:prstGeom>
              <a:noFill/>
              <a:ln w="12700" cap="rnd">
                <a:noFill/>
                <a:round/>
              </a:ln>
            </p:spPr>
            <p:txBody>
              <a:bodyPr lIns="0" rIns="0" anchor="ctr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100" b="1">
                    <a:solidFill>
                      <a:srgbClr val="7889FB"/>
                    </a:solidFill>
                  </a:rPr>
                  <a:t>HR</a:t>
                </a:r>
                <a:endParaRPr lang="en-US" sz="1100" b="1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0" name="Rectangle 12"/>
              <p:cNvSpPr>
                <a:spLocks noChangeArrowheads="1"/>
              </p:cNvSpPr>
              <p:nvPr/>
            </p:nvSpPr>
            <p:spPr bwMode="auto">
              <a:xfrm>
                <a:off x="9324975" y="3545502"/>
                <a:ext cx="640080" cy="168275"/>
              </a:xfrm>
              <a:prstGeom prst="rect">
                <a:avLst/>
              </a:prstGeom>
              <a:noFill/>
              <a:ln w="12700" cap="rnd">
                <a:noFill/>
                <a:round/>
              </a:ln>
            </p:spPr>
            <p:txBody>
              <a:bodyPr lIns="0" rIns="0" anchor="ctr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100" b="1">
                    <a:solidFill>
                      <a:srgbClr val="7889FB"/>
                    </a:solidFill>
                  </a:rPr>
                  <a:t>DB</a:t>
                </a:r>
                <a:endParaRPr lang="en-US" sz="1100" b="1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1" name="Rectangle 12"/>
              <p:cNvSpPr>
                <a:spLocks noChangeArrowheads="1"/>
              </p:cNvSpPr>
              <p:nvPr/>
            </p:nvSpPr>
            <p:spPr bwMode="auto">
              <a:xfrm>
                <a:off x="10166350" y="3545502"/>
                <a:ext cx="640080" cy="168275"/>
              </a:xfrm>
              <a:prstGeom prst="rect">
                <a:avLst/>
              </a:prstGeom>
              <a:noFill/>
              <a:ln w="12700" cap="rnd">
                <a:noFill/>
                <a:round/>
              </a:ln>
            </p:spPr>
            <p:txBody>
              <a:bodyPr lIns="0" rIns="0" anchor="ctr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100" b="1">
                    <a:solidFill>
                      <a:srgbClr val="7889FB"/>
                    </a:solidFill>
                  </a:rPr>
                  <a:t>ERP</a:t>
                </a:r>
                <a:endParaRPr lang="en-US" sz="1100" b="1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2" name="Rounded Rectangle 43"/>
              <p:cNvSpPr>
                <a:spLocks noChangeArrowheads="1"/>
              </p:cNvSpPr>
              <p:nvPr/>
            </p:nvSpPr>
            <p:spPr bwMode="auto">
              <a:xfrm>
                <a:off x="9302750" y="3800772"/>
                <a:ext cx="677863" cy="277813"/>
              </a:xfrm>
              <a:prstGeom prst="roundRect">
                <a:avLst>
                  <a:gd name="adj" fmla="val 2528"/>
                </a:avLst>
              </a:prstGeom>
              <a:solidFill>
                <a:srgbClr val="EEF6FB">
                  <a:alpha val="72156"/>
                </a:srgbClr>
              </a:solidFill>
              <a:ln w="12700" cap="rnd">
                <a:solidFill>
                  <a:srgbClr val="EEF6FB"/>
                </a:solidFill>
                <a:round/>
              </a:ln>
            </p:spPr>
            <p:txBody>
              <a:bodyPr lIns="0" rIns="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endParaRPr lang="en-US" sz="1400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3" name="Rounded Rectangle 44"/>
              <p:cNvSpPr>
                <a:spLocks noChangeArrowheads="1"/>
              </p:cNvSpPr>
              <p:nvPr/>
            </p:nvSpPr>
            <p:spPr bwMode="auto">
              <a:xfrm>
                <a:off x="10128250" y="3800772"/>
                <a:ext cx="677863" cy="277813"/>
              </a:xfrm>
              <a:prstGeom prst="roundRect">
                <a:avLst>
                  <a:gd name="adj" fmla="val 2528"/>
                </a:avLst>
              </a:prstGeom>
              <a:solidFill>
                <a:srgbClr val="EEF6FB">
                  <a:alpha val="72156"/>
                </a:srgbClr>
              </a:solidFill>
              <a:ln w="12700" cap="rnd">
                <a:solidFill>
                  <a:srgbClr val="EEF6FB"/>
                </a:solidFill>
                <a:round/>
              </a:ln>
            </p:spPr>
            <p:txBody>
              <a:bodyPr lIns="0" rIns="0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endParaRPr lang="en-US" sz="1400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4" name="Rectangle 12"/>
              <p:cNvSpPr>
                <a:spLocks noChangeArrowheads="1"/>
              </p:cNvSpPr>
              <p:nvPr/>
            </p:nvSpPr>
            <p:spPr bwMode="auto">
              <a:xfrm>
                <a:off x="9329738" y="3865860"/>
                <a:ext cx="640080" cy="168275"/>
              </a:xfrm>
              <a:prstGeom prst="rect">
                <a:avLst/>
              </a:prstGeom>
              <a:noFill/>
              <a:ln w="12700" cap="rnd">
                <a:noFill/>
                <a:round/>
              </a:ln>
            </p:spPr>
            <p:txBody>
              <a:bodyPr lIns="0" rIns="0" anchor="ctr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100" b="1">
                    <a:solidFill>
                      <a:srgbClr val="7889FB"/>
                    </a:solidFill>
                  </a:rPr>
                  <a:t>MF</a:t>
                </a:r>
                <a:endParaRPr lang="en-US" sz="1100" b="1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5" name="Rectangle 12"/>
              <p:cNvSpPr>
                <a:spLocks noChangeArrowheads="1"/>
              </p:cNvSpPr>
              <p:nvPr/>
            </p:nvSpPr>
            <p:spPr bwMode="auto">
              <a:xfrm>
                <a:off x="10152063" y="3865860"/>
                <a:ext cx="640080" cy="168275"/>
              </a:xfrm>
              <a:prstGeom prst="rect">
                <a:avLst/>
              </a:prstGeom>
              <a:noFill/>
              <a:ln w="12700" cap="rnd">
                <a:noFill/>
                <a:round/>
              </a:ln>
            </p:spPr>
            <p:txBody>
              <a:bodyPr lIns="0" rIns="0" anchor="ctr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100" b="1">
                    <a:solidFill>
                      <a:srgbClr val="7889FB"/>
                    </a:solidFill>
                  </a:rPr>
                  <a:t>iSeries</a:t>
                </a:r>
                <a:endParaRPr lang="en-US" sz="1100" b="1">
                  <a:solidFill>
                    <a:srgbClr val="7889FB"/>
                  </a:solidFill>
                </a:endParaRPr>
              </a:p>
            </p:txBody>
          </p:sp>
          <p:sp>
            <p:nvSpPr>
              <p:cNvPr id="53296" name="Rectangle 12"/>
              <p:cNvSpPr>
                <a:spLocks noChangeArrowheads="1"/>
              </p:cNvSpPr>
              <p:nvPr/>
            </p:nvSpPr>
            <p:spPr bwMode="auto">
              <a:xfrm>
                <a:off x="9328150" y="3238797"/>
                <a:ext cx="640080" cy="168275"/>
              </a:xfrm>
              <a:prstGeom prst="rect">
                <a:avLst/>
              </a:prstGeom>
              <a:noFill/>
              <a:ln w="12700" cap="rnd">
                <a:noFill/>
                <a:round/>
              </a:ln>
            </p:spPr>
            <p:txBody>
              <a:bodyPr lIns="0" rIns="0" anchor="ctr"/>
              <a:lstStyle/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1100" b="1">
                    <a:solidFill>
                      <a:srgbClr val="7889FB"/>
                    </a:solidFill>
                  </a:rPr>
                  <a:t>CRM</a:t>
                </a:r>
                <a:endParaRPr lang="en-US" sz="1100" b="1">
                  <a:solidFill>
                    <a:srgbClr val="7889FB"/>
                  </a:solidFill>
                </a:endParaRPr>
              </a:p>
            </p:txBody>
          </p:sp>
        </p:grpSp>
        <p:pic>
          <p:nvPicPr>
            <p:cNvPr id="53283" name="Picture 7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262" y="2352"/>
              <a:ext cx="41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3284" name="Picture 5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783" y="2352"/>
              <a:ext cx="41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AutoShape 39"/>
          <p:cNvSpPr>
            <a:spLocks noChangeArrowheads="1"/>
          </p:cNvSpPr>
          <p:nvPr/>
        </p:nvSpPr>
        <p:spPr bwMode="auto">
          <a:xfrm>
            <a:off x="293688" y="1773262"/>
            <a:ext cx="2220912" cy="1203325"/>
          </a:xfrm>
          <a:prstGeom prst="roundRect">
            <a:avLst>
              <a:gd name="adj" fmla="val 10847"/>
            </a:avLst>
          </a:prstGeom>
          <a:solidFill>
            <a:srgbClr val="8CC63F"/>
          </a:solidFill>
          <a:ln w="9525">
            <a:noFill/>
            <a:round/>
          </a:ln>
          <a:effectLst>
            <a:outerShdw dist="38100" dir="5400000" algn="t" rotWithShape="0">
              <a:srgbClr val="808080">
                <a:alpha val="39999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Accelerate</a:t>
            </a:r>
            <a:b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</a:b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software delivery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algn="ctr">
              <a:defRPr/>
            </a:pP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faster time to value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8437" name="AutoShape 39"/>
          <p:cNvSpPr>
            <a:spLocks noChangeArrowheads="1"/>
          </p:cNvSpPr>
          <p:nvPr/>
        </p:nvSpPr>
        <p:spPr bwMode="auto">
          <a:xfrm>
            <a:off x="293688" y="3103587"/>
            <a:ext cx="2220912" cy="1203325"/>
          </a:xfrm>
          <a:prstGeom prst="roundRect">
            <a:avLst>
              <a:gd name="adj" fmla="val 10847"/>
            </a:avLst>
          </a:prstGeom>
          <a:solidFill>
            <a:srgbClr val="8CC63F"/>
          </a:solidFill>
          <a:ln w="9525">
            <a:noFill/>
            <a:round/>
          </a:ln>
          <a:effectLst>
            <a:outerShdw dist="38100" dir="5400000" algn="t" rotWithShape="0">
              <a:srgbClr val="808080">
                <a:alpha val="39999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Balance speed, cost, quality and risk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algn="ctr">
              <a:defRPr/>
            </a:pP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increased capacity to innovate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8438" name="AutoShape 39"/>
          <p:cNvSpPr>
            <a:spLocks noChangeArrowheads="1"/>
          </p:cNvSpPr>
          <p:nvPr/>
        </p:nvSpPr>
        <p:spPr bwMode="auto">
          <a:xfrm>
            <a:off x="293688" y="4433912"/>
            <a:ext cx="2220912" cy="1203325"/>
          </a:xfrm>
          <a:prstGeom prst="roundRect">
            <a:avLst>
              <a:gd name="adj" fmla="val 10847"/>
            </a:avLst>
          </a:prstGeom>
          <a:solidFill>
            <a:srgbClr val="8CC63F"/>
          </a:solidFill>
          <a:ln w="9525">
            <a:noFill/>
            <a:round/>
          </a:ln>
          <a:effectLst>
            <a:outerShdw dist="38100" dir="5400000" algn="t" rotWithShape="0">
              <a:srgbClr val="808080">
                <a:alpha val="39999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Reduce time to customer feedback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algn="ctr">
              <a:defRPr/>
            </a:pP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improved customer experience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56325" name="Rectangle 65"/>
          <p:cNvSpPr>
            <a:spLocks noChangeArrowheads="1"/>
          </p:cNvSpPr>
          <p:nvPr/>
        </p:nvSpPr>
        <p:spPr bwMode="auto">
          <a:xfrm>
            <a:off x="1109663" y="28675"/>
            <a:ext cx="4959350" cy="836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anchor="ctr"/>
          <a:lstStyle/>
          <a:p>
            <a:r>
              <a:rPr lang="en-US" sz="2800" dirty="0"/>
              <a:t>DevOps </a:t>
            </a:r>
            <a:endParaRPr lang="en-US" sz="2800" dirty="0"/>
          </a:p>
        </p:txBody>
      </p:sp>
      <p:grpSp>
        <p:nvGrpSpPr>
          <p:cNvPr id="56326" name="Group 1"/>
          <p:cNvGrpSpPr/>
          <p:nvPr/>
        </p:nvGrpSpPr>
        <p:grpSpPr bwMode="auto">
          <a:xfrm>
            <a:off x="2627313" y="1628800"/>
            <a:ext cx="6330950" cy="4033837"/>
            <a:chOff x="2627313" y="1989138"/>
            <a:chExt cx="6330950" cy="4033837"/>
          </a:xfrm>
        </p:grpSpPr>
        <p:pic>
          <p:nvPicPr>
            <p:cNvPr id="56327" name="Picture 67" descr="slide16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7605713" y="3011488"/>
              <a:ext cx="395287" cy="395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6328" name="Picture 68" descr="slide16monitor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29013" y="3008313"/>
              <a:ext cx="62071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6329" name="Picture 69" descr="slide16reles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235575" y="5627688"/>
              <a:ext cx="439738" cy="395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6330" name="Picture 70" descr="sldie16feedback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89338" y="4354513"/>
              <a:ext cx="452437" cy="395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6331" name="Picture 71" descr="slide16 testi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61275" y="4356100"/>
              <a:ext cx="411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32" name="Text Box 7"/>
            <p:cNvSpPr txBox="1">
              <a:spLocks noChangeArrowheads="1"/>
            </p:cNvSpPr>
            <p:nvPr/>
          </p:nvSpPr>
          <p:spPr bwMode="auto">
            <a:xfrm>
              <a:off x="5770563" y="5627688"/>
              <a:ext cx="1246187" cy="395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Continuous Release and Deployment</a:t>
              </a:r>
              <a:endParaRPr lang="en-US" sz="1000">
                <a:solidFill>
                  <a:srgbClr val="000000"/>
                </a:solidFill>
              </a:endParaRPr>
            </a:p>
          </p:txBody>
        </p:sp>
        <p:sp>
          <p:nvSpPr>
            <p:cNvPr id="56333" name="Text Box 10"/>
            <p:cNvSpPr txBox="1">
              <a:spLocks noChangeArrowheads="1"/>
            </p:cNvSpPr>
            <p:nvPr/>
          </p:nvSpPr>
          <p:spPr bwMode="auto">
            <a:xfrm>
              <a:off x="2643188" y="4194175"/>
              <a:ext cx="923925" cy="7874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r">
                <a:spcBef>
                  <a:spcPct val="50000"/>
                </a:spcBef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Continuous</a:t>
              </a:r>
              <a:br>
                <a:rPr lang="en-US" sz="1000">
                  <a:solidFill>
                    <a:srgbClr val="000000"/>
                  </a:solidFill>
                </a:rPr>
              </a:br>
              <a:r>
                <a:rPr lang="en-US" sz="1000">
                  <a:solidFill>
                    <a:srgbClr val="000000"/>
                  </a:solidFill>
                </a:rPr>
                <a:t>Customer Feedback and Optimization</a:t>
              </a:r>
              <a:endParaRPr lang="en-US" sz="1000">
                <a:solidFill>
                  <a:srgbClr val="000000"/>
                </a:solidFill>
              </a:endParaRPr>
            </a:p>
          </p:txBody>
        </p:sp>
        <p:cxnSp>
          <p:nvCxnSpPr>
            <p:cNvPr id="18554" name="Straight Arrow Connector 75"/>
            <p:cNvCxnSpPr>
              <a:cxnSpLocks noChangeShapeType="1"/>
            </p:cNvCxnSpPr>
            <p:nvPr/>
          </p:nvCxnSpPr>
          <p:spPr bwMode="auto">
            <a:xfrm flipH="1">
              <a:off x="6953250" y="3975100"/>
              <a:ext cx="1123950" cy="1071563"/>
            </a:xfrm>
            <a:prstGeom prst="straightConnector1">
              <a:avLst/>
            </a:prstGeom>
            <a:noFill/>
            <a:ln>
              <a:noFill/>
            </a:ln>
            <a:effectLst/>
          </p:spPr>
        </p:cxnSp>
        <p:pic>
          <p:nvPicPr>
            <p:cNvPr id="56335" name="Oval 56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044950" y="2441575"/>
              <a:ext cx="3698875" cy="3273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6336" name="Oval 59"/>
            <p:cNvGrpSpPr/>
            <p:nvPr/>
          </p:nvGrpSpPr>
          <p:grpSpPr bwMode="auto">
            <a:xfrm>
              <a:off x="5503863" y="2620963"/>
              <a:ext cx="871537" cy="719137"/>
              <a:chOff x="6041136" y="1950720"/>
              <a:chExt cx="1042416" cy="859536"/>
            </a:xfrm>
          </p:grpSpPr>
          <p:pic>
            <p:nvPicPr>
              <p:cNvPr id="56366" name="Oval 59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6041136" y="1950720"/>
                <a:ext cx="1042416" cy="8595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367" name="Text Box 81"/>
              <p:cNvSpPr txBox="1">
                <a:spLocks noChangeArrowheads="1"/>
              </p:cNvSpPr>
              <p:nvPr/>
            </p:nvSpPr>
            <p:spPr bwMode="auto">
              <a:xfrm>
                <a:off x="6196973" y="2081959"/>
                <a:ext cx="725155" cy="5938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 anchor="ctr"/>
              <a:lstStyle/>
              <a:p>
                <a:pPr eaLnBrk="0" hangingPunct="0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sz="10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337" name="Oval 60"/>
            <p:cNvGrpSpPr/>
            <p:nvPr/>
          </p:nvGrpSpPr>
          <p:grpSpPr bwMode="auto">
            <a:xfrm>
              <a:off x="6365875" y="3309938"/>
              <a:ext cx="871538" cy="715962"/>
              <a:chOff x="7071360" y="2773680"/>
              <a:chExt cx="1042416" cy="853440"/>
            </a:xfrm>
          </p:grpSpPr>
          <p:pic>
            <p:nvPicPr>
              <p:cNvPr id="56364" name="Oval 60"/>
              <p:cNvPicPr>
                <a:picLocks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7071360" y="2773680"/>
                <a:ext cx="1042416" cy="8534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365" name="Text Box 84"/>
              <p:cNvSpPr txBox="1">
                <a:spLocks noChangeArrowheads="1"/>
              </p:cNvSpPr>
              <p:nvPr/>
            </p:nvSpPr>
            <p:spPr bwMode="auto">
              <a:xfrm>
                <a:off x="7227260" y="2902465"/>
                <a:ext cx="725155" cy="5926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 anchor="ctr"/>
              <a:lstStyle/>
              <a:p>
                <a:pPr eaLnBrk="0" hangingPunct="0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sz="10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338" name="Oval 61"/>
            <p:cNvGrpSpPr/>
            <p:nvPr/>
          </p:nvGrpSpPr>
          <p:grpSpPr bwMode="auto">
            <a:xfrm>
              <a:off x="4570413" y="3316288"/>
              <a:ext cx="877887" cy="714375"/>
              <a:chOff x="4925568" y="2779776"/>
              <a:chExt cx="1048512" cy="853440"/>
            </a:xfrm>
          </p:grpSpPr>
          <p:pic>
            <p:nvPicPr>
              <p:cNvPr id="56362" name="Oval 61"/>
              <p:cNvPicPr>
                <a:picLocks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4925568" y="2779776"/>
                <a:ext cx="1048512" cy="8534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363" name="Text Box 87"/>
              <p:cNvSpPr txBox="1">
                <a:spLocks noChangeArrowheads="1"/>
              </p:cNvSpPr>
              <p:nvPr/>
            </p:nvSpPr>
            <p:spPr bwMode="auto">
              <a:xfrm>
                <a:off x="5084135" y="2907227"/>
                <a:ext cx="725155" cy="5926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 anchor="ctr"/>
              <a:lstStyle/>
              <a:p>
                <a:pPr eaLnBrk="0" hangingPunct="0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sz="10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339" name="Oval 62"/>
            <p:cNvGrpSpPr/>
            <p:nvPr/>
          </p:nvGrpSpPr>
          <p:grpSpPr bwMode="auto">
            <a:xfrm>
              <a:off x="5494338" y="4040188"/>
              <a:ext cx="873125" cy="715962"/>
              <a:chOff x="6028944" y="3645408"/>
              <a:chExt cx="1042416" cy="853440"/>
            </a:xfrm>
          </p:grpSpPr>
          <p:pic>
            <p:nvPicPr>
              <p:cNvPr id="56360" name="Oval 62"/>
              <p:cNvPicPr>
                <a:picLocks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6028944" y="3645408"/>
                <a:ext cx="1042416" cy="8534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361" name="Text Box 90"/>
              <p:cNvSpPr txBox="1">
                <a:spLocks noChangeArrowheads="1"/>
              </p:cNvSpPr>
              <p:nvPr/>
            </p:nvSpPr>
            <p:spPr bwMode="auto">
              <a:xfrm>
                <a:off x="6184273" y="3773769"/>
                <a:ext cx="725155" cy="5915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 anchor="ctr"/>
              <a:lstStyle/>
              <a:p>
                <a:pPr eaLnBrk="0" hangingPunct="0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sz="1000" b="1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56340" name="Picture 39" descr="slide2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343400" y="2532063"/>
              <a:ext cx="3097213" cy="2525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6341" name="Group 83"/>
            <p:cNvGrpSpPr/>
            <p:nvPr/>
          </p:nvGrpSpPr>
          <p:grpSpPr bwMode="auto">
            <a:xfrm>
              <a:off x="4660900" y="2673350"/>
              <a:ext cx="2414588" cy="1993900"/>
              <a:chOff x="3116767" y="2335201"/>
              <a:chExt cx="2839260" cy="2863647"/>
            </a:xfrm>
          </p:grpSpPr>
          <p:sp>
            <p:nvSpPr>
              <p:cNvPr id="70" name="Circular Arrow 69"/>
              <p:cNvSpPr/>
              <p:nvPr/>
            </p:nvSpPr>
            <p:spPr bwMode="auto">
              <a:xfrm rot="9894291">
                <a:off x="3226903" y="2335201"/>
                <a:ext cx="2686189" cy="2681249"/>
              </a:xfrm>
              <a:custGeom>
                <a:avLst/>
                <a:gdLst>
                  <a:gd name="T0" fmla="*/ 1220893 w 2684258"/>
                  <a:gd name="T1" fmla="*/ 164706 h 2679834"/>
                  <a:gd name="T2" fmla="*/ 2476427 w 2684258"/>
                  <a:gd name="T3" fmla="*/ 988175 h 2679834"/>
                  <a:gd name="T4" fmla="*/ 2629588 w 2684258"/>
                  <a:gd name="T5" fmla="*/ 984070 h 2679834"/>
                  <a:gd name="T6" fmla="*/ 2415299 w 2684258"/>
                  <a:gd name="T7" fmla="*/ 1313215 h 2679834"/>
                  <a:gd name="T8" fmla="*/ 2083273 w 2684258"/>
                  <a:gd name="T9" fmla="*/ 998713 h 2679834"/>
                  <a:gd name="T10" fmla="*/ 2235101 w 2684258"/>
                  <a:gd name="T11" fmla="*/ 994643 h 2679834"/>
                  <a:gd name="T12" fmla="*/ 1244889 w 2684258"/>
                  <a:gd name="T13" fmla="*/ 393295 h 2679834"/>
                  <a:gd name="T14" fmla="*/ 1220893 w 2684258"/>
                  <a:gd name="T15" fmla="*/ 164706 h 26798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84258" h="2679834">
                    <a:moveTo>
                      <a:pt x="1218766" y="164461"/>
                    </a:moveTo>
                    <a:cubicBezTo>
                      <a:pt x="1779369" y="105846"/>
                      <a:pt x="2303658" y="449799"/>
                      <a:pt x="2472113" y="986704"/>
                    </a:cubicBezTo>
                    <a:lnTo>
                      <a:pt x="2625008" y="982606"/>
                    </a:lnTo>
                    <a:lnTo>
                      <a:pt x="2411092" y="1311261"/>
                    </a:lnTo>
                    <a:lnTo>
                      <a:pt x="2079643" y="997226"/>
                    </a:lnTo>
                    <a:lnTo>
                      <a:pt x="2231207" y="993163"/>
                    </a:lnTo>
                    <a:cubicBezTo>
                      <a:pt x="2074743" y="593846"/>
                      <a:pt x="1670124" y="348061"/>
                      <a:pt x="1242720" y="392709"/>
                    </a:cubicBezTo>
                    <a:lnTo>
                      <a:pt x="1218766" y="16446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rgbClr val="00B0F0"/>
                  </a:gs>
                </a:gsLst>
                <a:lin ang="5400000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lIns="0" rIns="0" anchor="ctr"/>
              <a:lstStyle/>
              <a:p>
                <a:endParaRPr lang="en-US"/>
              </a:p>
            </p:txBody>
          </p:sp>
          <p:sp>
            <p:nvSpPr>
              <p:cNvPr id="71" name="Circular Arrow 70"/>
              <p:cNvSpPr/>
              <p:nvPr/>
            </p:nvSpPr>
            <p:spPr bwMode="auto">
              <a:xfrm rot="-921305">
                <a:off x="3273570" y="2476559"/>
                <a:ext cx="2682457" cy="2681249"/>
              </a:xfrm>
              <a:custGeom>
                <a:avLst/>
                <a:gdLst>
                  <a:gd name="T0" fmla="*/ 1239783 w 2682761"/>
                  <a:gd name="T1" fmla="*/ 162536 h 2681664"/>
                  <a:gd name="T2" fmla="*/ 2470832 w 2682761"/>
                  <a:gd name="T3" fmla="*/ 988018 h 2681664"/>
                  <a:gd name="T4" fmla="*/ 2623872 w 2682761"/>
                  <a:gd name="T5" fmla="*/ 983916 h 2681664"/>
                  <a:gd name="T6" fmla="*/ 2409539 w 2682761"/>
                  <a:gd name="T7" fmla="*/ 1312404 h 2681664"/>
                  <a:gd name="T8" fmla="*/ 2078105 w 2682761"/>
                  <a:gd name="T9" fmla="*/ 998547 h 2681664"/>
                  <a:gd name="T10" fmla="*/ 2229824 w 2682761"/>
                  <a:gd name="T11" fmla="*/ 994479 h 2681664"/>
                  <a:gd name="T12" fmla="*/ 1259525 w 2682761"/>
                  <a:gd name="T13" fmla="*/ 391378 h 2681664"/>
                  <a:gd name="T14" fmla="*/ 1239783 w 2682761"/>
                  <a:gd name="T15" fmla="*/ 162536 h 26816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82761" h="2681664">
                    <a:moveTo>
                      <a:pt x="1239717" y="162511"/>
                    </a:moveTo>
                    <a:cubicBezTo>
                      <a:pt x="1792972" y="114821"/>
                      <a:pt x="2304973" y="458109"/>
                      <a:pt x="2470701" y="987865"/>
                    </a:cubicBezTo>
                    <a:lnTo>
                      <a:pt x="2623732" y="983764"/>
                    </a:lnTo>
                    <a:lnTo>
                      <a:pt x="2409410" y="1312201"/>
                    </a:lnTo>
                    <a:lnTo>
                      <a:pt x="2077995" y="998393"/>
                    </a:lnTo>
                    <a:lnTo>
                      <a:pt x="2229705" y="994326"/>
                    </a:lnTo>
                    <a:cubicBezTo>
                      <a:pt x="2075909" y="600498"/>
                      <a:pt x="1680898" y="354998"/>
                      <a:pt x="1259458" y="391318"/>
                    </a:cubicBezTo>
                    <a:lnTo>
                      <a:pt x="1239717" y="16251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rgbClr val="00B0F0"/>
                  </a:gs>
                </a:gsLst>
                <a:lin ang="5400000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lIns="0" rIns="0" anchor="ctr"/>
              <a:lstStyle/>
              <a:p>
                <a:endParaRPr lang="en-US"/>
              </a:p>
            </p:txBody>
          </p:sp>
          <p:sp>
            <p:nvSpPr>
              <p:cNvPr id="72" name="Circular Arrow 71"/>
              <p:cNvSpPr/>
              <p:nvPr/>
            </p:nvSpPr>
            <p:spPr bwMode="auto">
              <a:xfrm rot="-6500122">
                <a:off x="3115297" y="2448391"/>
                <a:ext cx="2683528" cy="2680589"/>
              </a:xfrm>
              <a:custGeom>
                <a:avLst/>
                <a:gdLst>
                  <a:gd name="T0" fmla="*/ 1251626 w 2683495"/>
                  <a:gd name="T1" fmla="*/ 161376 h 2682762"/>
                  <a:gd name="T2" fmla="*/ 2473435 w 2683495"/>
                  <a:gd name="T3" fmla="*/ 988924 h 2682762"/>
                  <a:gd name="T4" fmla="*/ 2625925 w 2683495"/>
                  <a:gd name="T5" fmla="*/ 988029 h 2682762"/>
                  <a:gd name="T6" fmla="*/ 2411649 w 2683495"/>
                  <a:gd name="T7" fmla="*/ 1332525 h 2682762"/>
                  <a:gd name="T8" fmla="*/ 2079496 w 2683495"/>
                  <a:gd name="T9" fmla="*/ 991237 h 2682762"/>
                  <a:gd name="T10" fmla="*/ 2230452 w 2683495"/>
                  <a:gd name="T11" fmla="*/ 990351 h 2682762"/>
                  <a:gd name="T12" fmla="*/ 1269262 w 2683495"/>
                  <a:gd name="T13" fmla="*/ 390012 h 2682762"/>
                  <a:gd name="T14" fmla="*/ 1251626 w 2683495"/>
                  <a:gd name="T15" fmla="*/ 161376 h 26827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83495" h="2682762">
                    <a:moveTo>
                      <a:pt x="1250977" y="161687"/>
                    </a:moveTo>
                    <a:cubicBezTo>
                      <a:pt x="1801702" y="119338"/>
                      <a:pt x="2308501" y="463439"/>
                      <a:pt x="2472152" y="990827"/>
                    </a:cubicBezTo>
                    <a:lnTo>
                      <a:pt x="2624563" y="989930"/>
                    </a:lnTo>
                    <a:lnTo>
                      <a:pt x="2410398" y="1335089"/>
                    </a:lnTo>
                    <a:lnTo>
                      <a:pt x="2078416" y="993145"/>
                    </a:lnTo>
                    <a:lnTo>
                      <a:pt x="2229295" y="992257"/>
                    </a:lnTo>
                    <a:cubicBezTo>
                      <a:pt x="2075922" y="602650"/>
                      <a:pt x="1686218" y="358653"/>
                      <a:pt x="1268603" y="390762"/>
                    </a:cubicBezTo>
                    <a:lnTo>
                      <a:pt x="1250977" y="16168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rgbClr val="00B0F0"/>
                  </a:gs>
                </a:gsLst>
                <a:lin ang="5400000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lIns="0" rIns="0" anchor="ctr"/>
              <a:lstStyle/>
              <a:p>
                <a:endParaRPr lang="en-US"/>
              </a:p>
            </p:txBody>
          </p:sp>
          <p:sp>
            <p:nvSpPr>
              <p:cNvPr id="73" name="Circular Arrow 72"/>
              <p:cNvSpPr/>
              <p:nvPr/>
            </p:nvSpPr>
            <p:spPr bwMode="auto">
              <a:xfrm rot="3874409">
                <a:off x="3264841" y="2515128"/>
                <a:ext cx="2681249" cy="2686190"/>
              </a:xfrm>
              <a:custGeom>
                <a:avLst/>
                <a:gdLst>
                  <a:gd name="T0" fmla="*/ 1217365 w 2681664"/>
                  <a:gd name="T1" fmla="*/ 164739 h 2685755"/>
                  <a:gd name="T2" fmla="*/ 2470228 w 2681664"/>
                  <a:gd name="T3" fmla="*/ 990648 h 2685755"/>
                  <a:gd name="T4" fmla="*/ 2623333 w 2681664"/>
                  <a:gd name="T5" fmla="*/ 986542 h 2685755"/>
                  <a:gd name="T6" fmla="*/ 2408688 w 2681664"/>
                  <a:gd name="T7" fmla="*/ 1315119 h 2685755"/>
                  <a:gd name="T8" fmla="*/ 2077511 w 2681664"/>
                  <a:gd name="T9" fmla="*/ 1001182 h 2685755"/>
                  <a:gd name="T10" fmla="*/ 2229313 w 2681664"/>
                  <a:gd name="T11" fmla="*/ 997109 h 2685755"/>
                  <a:gd name="T12" fmla="*/ 1241338 w 2681664"/>
                  <a:gd name="T13" fmla="*/ 393292 h 2685755"/>
                  <a:gd name="T14" fmla="*/ 1217365 w 2681664"/>
                  <a:gd name="T15" fmla="*/ 164739 h 26857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81664" h="2685755">
                    <a:moveTo>
                      <a:pt x="1217176" y="164631"/>
                    </a:moveTo>
                    <a:cubicBezTo>
                      <a:pt x="1777722" y="105598"/>
                      <a:pt x="2301967" y="451018"/>
                      <a:pt x="2469846" y="990002"/>
                    </a:cubicBezTo>
                    <a:lnTo>
                      <a:pt x="2622927" y="985898"/>
                    </a:lnTo>
                    <a:lnTo>
                      <a:pt x="2408315" y="1314261"/>
                    </a:lnTo>
                    <a:lnTo>
                      <a:pt x="2077190" y="1000528"/>
                    </a:lnTo>
                    <a:lnTo>
                      <a:pt x="2228968" y="996459"/>
                    </a:lnTo>
                    <a:cubicBezTo>
                      <a:pt x="2073102" y="595138"/>
                      <a:pt x="1668514" y="347990"/>
                      <a:pt x="1241146" y="393035"/>
                    </a:cubicBezTo>
                    <a:lnTo>
                      <a:pt x="1217176" y="16463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rgbClr val="00B0F0"/>
                  </a:gs>
                </a:gsLst>
                <a:lin ang="5400000"/>
              </a:gradFill>
              <a:ln w="9525" cap="flat" cmpd="sng">
                <a:noFill/>
                <a:prstDash val="solid"/>
                <a:round/>
              </a:ln>
              <a:effectLst/>
            </p:spPr>
            <p:txBody>
              <a:bodyPr lIns="0" rIns="0" anchor="ctr"/>
              <a:lstStyle/>
              <a:p>
                <a:endParaRPr lang="en-US"/>
              </a:p>
            </p:txBody>
          </p:sp>
        </p:grpSp>
        <p:sp>
          <p:nvSpPr>
            <p:cNvPr id="56342" name="TextBox 64"/>
            <p:cNvSpPr txBox="1">
              <a:spLocks noChangeArrowheads="1"/>
            </p:cNvSpPr>
            <p:nvPr/>
          </p:nvSpPr>
          <p:spPr bwMode="auto">
            <a:xfrm>
              <a:off x="4521200" y="3494088"/>
              <a:ext cx="979488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 eaLnBrk="0" hangingPunct="0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sz="1000" b="1">
                  <a:solidFill>
                    <a:srgbClr val="FFFFFF"/>
                  </a:solidFill>
                </a:rPr>
                <a:t>Monitor</a:t>
              </a:r>
              <a:br>
                <a:rPr lang="en-US" sz="1000" b="1">
                  <a:solidFill>
                    <a:srgbClr val="FFFFFF"/>
                  </a:solidFill>
                </a:rPr>
              </a:br>
              <a:r>
                <a:rPr lang="en-US" sz="1000" b="1">
                  <a:solidFill>
                    <a:srgbClr val="FFFFFF"/>
                  </a:solidFill>
                </a:rPr>
                <a:t>&amp; Optimize</a:t>
              </a:r>
              <a:endParaRPr lang="en-US" sz="1000">
                <a:solidFill>
                  <a:srgbClr val="FFFFFF"/>
                </a:solidFill>
              </a:endParaRPr>
            </a:p>
          </p:txBody>
        </p:sp>
        <p:sp>
          <p:nvSpPr>
            <p:cNvPr id="56343" name="TextBox 65"/>
            <p:cNvSpPr txBox="1">
              <a:spLocks noChangeArrowheads="1"/>
            </p:cNvSpPr>
            <p:nvPr/>
          </p:nvSpPr>
          <p:spPr bwMode="auto">
            <a:xfrm>
              <a:off x="6407150" y="3489325"/>
              <a:ext cx="790575" cy="3603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 eaLnBrk="0" hangingPunct="0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sz="1000" b="1">
                  <a:solidFill>
                    <a:srgbClr val="FFFFFF"/>
                  </a:solidFill>
                </a:rPr>
                <a:t>Develop</a:t>
              </a:r>
              <a:br>
                <a:rPr lang="en-US" sz="1000" b="1">
                  <a:solidFill>
                    <a:srgbClr val="FFFFFF"/>
                  </a:solidFill>
                </a:rPr>
              </a:br>
              <a:r>
                <a:rPr lang="en-US" sz="1000" b="1">
                  <a:solidFill>
                    <a:srgbClr val="FFFFFF"/>
                  </a:solidFill>
                </a:rPr>
                <a:t>&amp; Test</a:t>
              </a:r>
              <a:endParaRPr lang="en-US" sz="1000" b="1">
                <a:solidFill>
                  <a:srgbClr val="FFFFFF"/>
                </a:solidFill>
              </a:endParaRPr>
            </a:p>
          </p:txBody>
        </p:sp>
        <p:sp>
          <p:nvSpPr>
            <p:cNvPr id="56344" name="TextBox 66"/>
            <p:cNvSpPr txBox="1">
              <a:spLocks noChangeArrowheads="1"/>
            </p:cNvSpPr>
            <p:nvPr/>
          </p:nvSpPr>
          <p:spPr bwMode="auto">
            <a:xfrm>
              <a:off x="5502275" y="4210050"/>
              <a:ext cx="862013" cy="382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 eaLnBrk="0" hangingPunct="0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sz="1000" b="1">
                  <a:solidFill>
                    <a:srgbClr val="FFFFFF"/>
                  </a:solidFill>
                </a:rPr>
                <a:t>Release</a:t>
              </a:r>
              <a:br>
                <a:rPr lang="en-US" sz="1000" b="1">
                  <a:solidFill>
                    <a:srgbClr val="FFFFFF"/>
                  </a:solidFill>
                </a:rPr>
              </a:br>
              <a:r>
                <a:rPr lang="en-US" sz="1000" b="1">
                  <a:solidFill>
                    <a:srgbClr val="FFFFFF"/>
                  </a:solidFill>
                </a:rPr>
                <a:t>&amp; Deploy</a:t>
              </a:r>
              <a:endParaRPr lang="en-US" sz="1000" b="1">
                <a:solidFill>
                  <a:srgbClr val="FFFFFF"/>
                </a:solidFill>
              </a:endParaRPr>
            </a:p>
          </p:txBody>
        </p:sp>
        <p:sp>
          <p:nvSpPr>
            <p:cNvPr id="56345" name="TextBox 67"/>
            <p:cNvSpPr txBox="1">
              <a:spLocks noChangeArrowheads="1"/>
            </p:cNvSpPr>
            <p:nvPr/>
          </p:nvSpPr>
          <p:spPr bwMode="auto">
            <a:xfrm>
              <a:off x="5448300" y="2776538"/>
              <a:ext cx="946150" cy="396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 eaLnBrk="0" hangingPunct="0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sz="1000" b="1">
                  <a:solidFill>
                    <a:srgbClr val="FFFFFF"/>
                  </a:solidFill>
                </a:rPr>
                <a:t>Plan</a:t>
              </a:r>
              <a:br>
                <a:rPr lang="en-US" sz="1000" b="1">
                  <a:solidFill>
                    <a:srgbClr val="FFFFFF"/>
                  </a:solidFill>
                </a:rPr>
              </a:br>
              <a:r>
                <a:rPr lang="en-US" sz="1000" b="1">
                  <a:solidFill>
                    <a:srgbClr val="FFFFFF"/>
                  </a:solidFill>
                </a:rPr>
                <a:t>&amp; Measure</a:t>
              </a:r>
              <a:endParaRPr lang="en-US" sz="1000" b="1">
                <a:solidFill>
                  <a:srgbClr val="FFFFFF"/>
                </a:solidFill>
              </a:endParaRPr>
            </a:p>
          </p:txBody>
        </p:sp>
        <p:sp>
          <p:nvSpPr>
            <p:cNvPr id="56346" name="TextBox 4"/>
            <p:cNvSpPr txBox="1">
              <a:spLocks noChangeAspect="1" noChangeArrowheads="1"/>
            </p:cNvSpPr>
            <p:nvPr/>
          </p:nvSpPr>
          <p:spPr bwMode="auto">
            <a:xfrm>
              <a:off x="5237163" y="3322638"/>
              <a:ext cx="1333500" cy="78263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ctr" eaLnBrk="0" hangingPunct="0"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lang="en-US" sz="1000" b="1"/>
                <a:t>Continuous</a:t>
              </a:r>
              <a:br>
                <a:rPr lang="en-US" sz="1000" b="1"/>
              </a:br>
              <a:r>
                <a:rPr lang="en-US" sz="1000" b="1"/>
                <a:t>innovation,</a:t>
              </a:r>
              <a:br>
                <a:rPr lang="en-US" sz="1000" b="1"/>
              </a:br>
              <a:r>
                <a:rPr lang="en-US" sz="1000" b="1"/>
                <a:t>feedback and improvements</a:t>
              </a:r>
              <a:endParaRPr lang="en-US" sz="1000" b="1"/>
            </a:p>
          </p:txBody>
        </p:sp>
        <p:sp>
          <p:nvSpPr>
            <p:cNvPr id="56347" name="AutoShape 66" descr="9k="/>
            <p:cNvSpPr>
              <a:spLocks noChangeAspect="1" noChangeArrowheads="1"/>
            </p:cNvSpPr>
            <p:nvPr/>
          </p:nvSpPr>
          <p:spPr bwMode="auto">
            <a:xfrm>
              <a:off x="6327775" y="3617913"/>
              <a:ext cx="242888" cy="242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eaLnBrk="0" hangingPunct="0"/>
              <a:endParaRPr lang="en-US" sz="1000">
                <a:solidFill>
                  <a:srgbClr val="000000"/>
                </a:solidFill>
              </a:endParaRPr>
            </a:p>
          </p:txBody>
        </p:sp>
        <p:sp>
          <p:nvSpPr>
            <p:cNvPr id="56348" name="AutoShape 68" descr="9k="/>
            <p:cNvSpPr>
              <a:spLocks noChangeAspect="1" noChangeArrowheads="1"/>
            </p:cNvSpPr>
            <p:nvPr/>
          </p:nvSpPr>
          <p:spPr bwMode="auto">
            <a:xfrm>
              <a:off x="6327775" y="3617913"/>
              <a:ext cx="242888" cy="242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eaLnBrk="0" hangingPunct="0"/>
              <a:endParaRPr lang="en-US" sz="1000">
                <a:solidFill>
                  <a:srgbClr val="000000"/>
                </a:solidFill>
              </a:endParaRPr>
            </a:p>
          </p:txBody>
        </p:sp>
        <p:cxnSp>
          <p:nvCxnSpPr>
            <p:cNvPr id="18580" name="Straight Arrow Connector 75"/>
            <p:cNvCxnSpPr>
              <a:cxnSpLocks noChangeShapeType="1"/>
            </p:cNvCxnSpPr>
            <p:nvPr/>
          </p:nvCxnSpPr>
          <p:spPr bwMode="auto">
            <a:xfrm flipH="1">
              <a:off x="6953250" y="3975100"/>
              <a:ext cx="1123950" cy="1073150"/>
            </a:xfrm>
            <a:prstGeom prst="straightConnector1">
              <a:avLst/>
            </a:prstGeom>
            <a:noFill/>
            <a:ln>
              <a:noFill/>
            </a:ln>
            <a:effectLst/>
          </p:spPr>
        </p:cxnSp>
        <p:sp>
          <p:nvSpPr>
            <p:cNvPr id="56350" name="Text Box 10"/>
            <p:cNvSpPr txBox="1">
              <a:spLocks noChangeArrowheads="1"/>
            </p:cNvSpPr>
            <p:nvPr/>
          </p:nvSpPr>
          <p:spPr bwMode="auto">
            <a:xfrm>
              <a:off x="2627313" y="2994025"/>
              <a:ext cx="860425" cy="395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 algn="r">
                <a:spcBef>
                  <a:spcPct val="50000"/>
                </a:spcBef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Continuous</a:t>
              </a:r>
              <a:br>
                <a:rPr lang="en-US" sz="1000">
                  <a:solidFill>
                    <a:srgbClr val="000000"/>
                  </a:solidFill>
                </a:rPr>
              </a:br>
              <a:r>
                <a:rPr lang="en-US" sz="1000">
                  <a:solidFill>
                    <a:srgbClr val="000000"/>
                  </a:solidFill>
                </a:rPr>
                <a:t>Monitoring</a:t>
              </a:r>
              <a:endParaRPr lang="en-US" sz="1000">
                <a:solidFill>
                  <a:srgbClr val="000000"/>
                </a:solidFill>
              </a:endParaRPr>
            </a:p>
          </p:txBody>
        </p:sp>
        <p:sp>
          <p:nvSpPr>
            <p:cNvPr id="56351" name="Text Box 9"/>
            <p:cNvSpPr txBox="1">
              <a:spLocks noChangeArrowheads="1"/>
            </p:cNvSpPr>
            <p:nvPr/>
          </p:nvSpPr>
          <p:spPr bwMode="auto">
            <a:xfrm>
              <a:off x="8078788" y="3011488"/>
              <a:ext cx="879475" cy="4349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Collaborative Development</a:t>
              </a:r>
              <a:endParaRPr lang="en-US" sz="1000">
                <a:solidFill>
                  <a:srgbClr val="000000"/>
                </a:solidFill>
              </a:endParaRPr>
            </a:p>
          </p:txBody>
        </p:sp>
        <p:grpSp>
          <p:nvGrpSpPr>
            <p:cNvPr id="56352" name="Group 105"/>
            <p:cNvGrpSpPr/>
            <p:nvPr/>
          </p:nvGrpSpPr>
          <p:grpSpPr bwMode="auto">
            <a:xfrm>
              <a:off x="5157788" y="1989138"/>
              <a:ext cx="1597025" cy="433387"/>
              <a:chOff x="2365" y="981"/>
              <a:chExt cx="1164" cy="316"/>
            </a:xfrm>
          </p:grpSpPr>
          <p:pic>
            <p:nvPicPr>
              <p:cNvPr id="56354" name="Picture 106" descr="slide16business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2365" y="1009"/>
                <a:ext cx="30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355" name="Text Box 5"/>
              <p:cNvSpPr txBox="1">
                <a:spLocks noChangeArrowheads="1"/>
              </p:cNvSpPr>
              <p:nvPr/>
            </p:nvSpPr>
            <p:spPr bwMode="auto">
              <a:xfrm>
                <a:off x="2713" y="981"/>
                <a:ext cx="816" cy="2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rIns="0"/>
              <a:lstStyle/>
              <a:p>
                <a:pPr>
                  <a:spcBef>
                    <a:spcPct val="50000"/>
                  </a:spcBef>
                  <a:buSzPct val="10000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>
                    <a:solidFill>
                      <a:srgbClr val="000000"/>
                    </a:solidFill>
                  </a:rPr>
                  <a:t>Continuous</a:t>
                </a:r>
                <a:br>
                  <a:rPr lang="en-US" sz="1000">
                    <a:solidFill>
                      <a:srgbClr val="000000"/>
                    </a:solidFill>
                  </a:rPr>
                </a:br>
                <a:r>
                  <a:rPr lang="en-US" sz="1000">
                    <a:solidFill>
                      <a:srgbClr val="000000"/>
                    </a:solidFill>
                  </a:rPr>
                  <a:t>Business Planning</a:t>
                </a:r>
                <a:endParaRPr lang="en-US" sz="1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6353" name="Text Box 9"/>
            <p:cNvSpPr txBox="1">
              <a:spLocks noChangeArrowheads="1"/>
            </p:cNvSpPr>
            <p:nvPr/>
          </p:nvSpPr>
          <p:spPr bwMode="auto">
            <a:xfrm>
              <a:off x="8161338" y="4356100"/>
              <a:ext cx="750887" cy="4270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Continuous</a:t>
              </a:r>
              <a:br>
                <a:rPr lang="en-US" sz="1000">
                  <a:solidFill>
                    <a:srgbClr val="000000"/>
                  </a:solidFill>
                </a:rPr>
              </a:br>
              <a:r>
                <a:rPr lang="en-US" sz="1000">
                  <a:solidFill>
                    <a:srgbClr val="000000"/>
                  </a:solidFill>
                </a:rPr>
                <a:t>Testing</a:t>
              </a:r>
              <a:endParaRPr lang="en-US" sz="10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99592" y="136525"/>
            <a:ext cx="3672407" cy="704850"/>
          </a:xfrm>
        </p:spPr>
        <p:txBody>
          <a:bodyPr/>
          <a:lstStyle/>
          <a:p>
            <a:r>
              <a:rPr lang="en-US" dirty="0"/>
              <a:t>Continuous Integration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924" y="1284058"/>
            <a:ext cx="3583085" cy="2923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48" y="4508356"/>
            <a:ext cx="6851104" cy="1720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33057" y="899428"/>
            <a:ext cx="11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CI Process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6448" y="407523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CI Pipeline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99592" y="136525"/>
            <a:ext cx="3672407" cy="704850"/>
          </a:xfrm>
        </p:spPr>
        <p:txBody>
          <a:bodyPr/>
          <a:lstStyle/>
          <a:p>
            <a:r>
              <a:rPr lang="en-US" dirty="0"/>
              <a:t>Continuous Delivery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736" y="980728"/>
            <a:ext cx="4480154" cy="5112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36525"/>
            <a:ext cx="1728614" cy="704850"/>
          </a:xfrm>
        </p:spPr>
        <p:txBody>
          <a:bodyPr/>
          <a:lstStyle/>
          <a:p>
            <a:r>
              <a:rPr lang="en-US" dirty="0"/>
              <a:t>container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395412"/>
            <a:ext cx="7086600" cy="4406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>
          <a:xfrm>
            <a:off x="970397" y="60151"/>
            <a:ext cx="5700713" cy="704850"/>
          </a:xfrm>
        </p:spPr>
        <p:txBody>
          <a:bodyPr/>
          <a:lstStyle/>
          <a:p>
            <a:r>
              <a:rPr lang="en-US" dirty="0"/>
              <a:t>DevOps and Cloud adoption</a:t>
            </a:r>
            <a:endParaRPr lang="en-US" dirty="0"/>
          </a:p>
        </p:txBody>
      </p:sp>
      <p:sp>
        <p:nvSpPr>
          <p:cNvPr id="60419" name="AutoShape 2"/>
          <p:cNvSpPr>
            <a:spLocks noChangeArrowheads="1"/>
          </p:cNvSpPr>
          <p:nvPr/>
        </p:nvSpPr>
        <p:spPr bwMode="auto">
          <a:xfrm>
            <a:off x="1219200" y="4770438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Networking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0" name="AutoShape 3"/>
          <p:cNvSpPr>
            <a:spLocks noChangeArrowheads="1"/>
          </p:cNvSpPr>
          <p:nvPr/>
        </p:nvSpPr>
        <p:spPr bwMode="auto">
          <a:xfrm>
            <a:off x="3810000" y="4770438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Networking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1" name="AutoShape 6"/>
          <p:cNvSpPr>
            <a:spLocks noChangeArrowheads="1"/>
          </p:cNvSpPr>
          <p:nvPr/>
        </p:nvSpPr>
        <p:spPr bwMode="auto">
          <a:xfrm>
            <a:off x="1219200" y="4418013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Storage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2" name="AutoShape 7"/>
          <p:cNvSpPr>
            <a:spLocks noChangeArrowheads="1"/>
          </p:cNvSpPr>
          <p:nvPr/>
        </p:nvSpPr>
        <p:spPr bwMode="auto">
          <a:xfrm>
            <a:off x="3810000" y="4418013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Storage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3" name="AutoShape 10"/>
          <p:cNvSpPr>
            <a:spLocks noChangeArrowheads="1"/>
          </p:cNvSpPr>
          <p:nvPr/>
        </p:nvSpPr>
        <p:spPr bwMode="auto">
          <a:xfrm>
            <a:off x="1219200" y="4065588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Servers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4" name="AutoShape 11"/>
          <p:cNvSpPr>
            <a:spLocks noChangeArrowheads="1"/>
          </p:cNvSpPr>
          <p:nvPr/>
        </p:nvSpPr>
        <p:spPr bwMode="auto">
          <a:xfrm>
            <a:off x="3810000" y="4065588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Servers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5" name="AutoShape 14"/>
          <p:cNvSpPr>
            <a:spLocks noChangeArrowheads="1"/>
          </p:cNvSpPr>
          <p:nvPr/>
        </p:nvSpPr>
        <p:spPr bwMode="auto">
          <a:xfrm>
            <a:off x="1219200" y="3713163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100" b="1">
                <a:solidFill>
                  <a:schemeClr val="bg1"/>
                </a:solidFill>
                <a:cs typeface="Calibri" panose="020F0502020204030204" charset="0"/>
              </a:rPr>
              <a:t>Virtualization</a:t>
            </a:r>
            <a:endParaRPr lang="en-US" sz="11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6" name="AutoShape 15"/>
          <p:cNvSpPr>
            <a:spLocks noChangeArrowheads="1"/>
          </p:cNvSpPr>
          <p:nvPr/>
        </p:nvSpPr>
        <p:spPr bwMode="auto">
          <a:xfrm>
            <a:off x="3810000" y="3713163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100" b="1">
                <a:solidFill>
                  <a:schemeClr val="bg1"/>
                </a:solidFill>
                <a:cs typeface="Calibri" panose="020F0502020204030204" charset="0"/>
              </a:rPr>
              <a:t>Virtualization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7" name="AutoShape 18"/>
          <p:cNvSpPr>
            <a:spLocks noChangeArrowheads="1"/>
          </p:cNvSpPr>
          <p:nvPr/>
        </p:nvSpPr>
        <p:spPr bwMode="auto">
          <a:xfrm>
            <a:off x="1219200" y="3362325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O/S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8" name="AutoShape 19"/>
          <p:cNvSpPr>
            <a:spLocks noChangeArrowheads="1"/>
          </p:cNvSpPr>
          <p:nvPr/>
        </p:nvSpPr>
        <p:spPr bwMode="auto">
          <a:xfrm>
            <a:off x="3810000" y="3362325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O/S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29" name="AutoShape 22"/>
          <p:cNvSpPr>
            <a:spLocks noChangeArrowheads="1"/>
          </p:cNvSpPr>
          <p:nvPr/>
        </p:nvSpPr>
        <p:spPr bwMode="auto">
          <a:xfrm>
            <a:off x="1219200" y="3009900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chemeClr val="bg1"/>
                </a:solidFill>
                <a:cs typeface="Calibri" panose="020F0502020204030204" charset="0"/>
              </a:rPr>
              <a:t>Middleware</a:t>
            </a:r>
            <a:endParaRPr lang="en-US" sz="1200" b="1" dirty="0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0" name="AutoShape 23"/>
          <p:cNvSpPr>
            <a:spLocks noChangeArrowheads="1"/>
          </p:cNvSpPr>
          <p:nvPr/>
        </p:nvSpPr>
        <p:spPr bwMode="auto">
          <a:xfrm>
            <a:off x="3810000" y="3009900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Middleware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1" name="AutoShape 26"/>
          <p:cNvSpPr>
            <a:spLocks noChangeArrowheads="1"/>
          </p:cNvSpPr>
          <p:nvPr/>
        </p:nvSpPr>
        <p:spPr bwMode="auto">
          <a:xfrm>
            <a:off x="1219200" y="2657475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Mid Config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2" name="AutoShape 27"/>
          <p:cNvSpPr>
            <a:spLocks noChangeArrowheads="1"/>
          </p:cNvSpPr>
          <p:nvPr/>
        </p:nvSpPr>
        <p:spPr bwMode="auto">
          <a:xfrm>
            <a:off x="3810000" y="2657475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Mid Config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3" name="AutoShape 30"/>
          <p:cNvSpPr>
            <a:spLocks noChangeArrowheads="1"/>
          </p:cNvSpPr>
          <p:nvPr/>
        </p:nvSpPr>
        <p:spPr bwMode="auto">
          <a:xfrm>
            <a:off x="1219200" y="2305050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Data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4" name="AutoShape 31"/>
          <p:cNvSpPr>
            <a:spLocks noChangeArrowheads="1"/>
          </p:cNvSpPr>
          <p:nvPr/>
        </p:nvSpPr>
        <p:spPr bwMode="auto">
          <a:xfrm>
            <a:off x="3810000" y="2305050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Data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5" name="AutoShape 34"/>
          <p:cNvSpPr>
            <a:spLocks noChangeArrowheads="1"/>
          </p:cNvSpPr>
          <p:nvPr/>
        </p:nvSpPr>
        <p:spPr bwMode="auto">
          <a:xfrm>
            <a:off x="1219200" y="1954213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Applications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6" name="AutoShape 35"/>
          <p:cNvSpPr>
            <a:spLocks noChangeArrowheads="1"/>
          </p:cNvSpPr>
          <p:nvPr/>
        </p:nvSpPr>
        <p:spPr bwMode="auto">
          <a:xfrm>
            <a:off x="3810000" y="1954213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Applications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37" name="Text Box 38"/>
          <p:cNvSpPr txBox="1">
            <a:spLocks noChangeArrowheads="1"/>
          </p:cNvSpPr>
          <p:nvPr/>
        </p:nvSpPr>
        <p:spPr bwMode="auto">
          <a:xfrm>
            <a:off x="1076325" y="1292225"/>
            <a:ext cx="1403350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</a:rPr>
              <a:t>Traditional </a:t>
            </a:r>
            <a:br>
              <a:rPr lang="en-US" b="1">
                <a:latin typeface="Calibri" panose="020F0502020204030204" charset="0"/>
                <a:cs typeface="Calibri" panose="020F0502020204030204" charset="0"/>
              </a:rPr>
            </a:br>
            <a:r>
              <a:rPr lang="en-US" b="1">
                <a:latin typeface="Calibri" panose="020F0502020204030204" charset="0"/>
                <a:cs typeface="Calibri" panose="020F0502020204030204" charset="0"/>
              </a:rPr>
              <a:t>On-Premises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0438" name="Text Box 39"/>
          <p:cNvSpPr txBox="1">
            <a:spLocks noChangeArrowheads="1"/>
          </p:cNvSpPr>
          <p:nvPr/>
        </p:nvSpPr>
        <p:spPr bwMode="auto">
          <a:xfrm>
            <a:off x="3775075" y="1292225"/>
            <a:ext cx="1254125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</a:rPr>
              <a:t>Infrastructure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</a:rPr>
              <a:t>as a Service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0439" name="Group 1"/>
          <p:cNvGrpSpPr/>
          <p:nvPr/>
        </p:nvGrpSpPr>
        <p:grpSpPr bwMode="auto">
          <a:xfrm>
            <a:off x="304800" y="3657600"/>
            <a:ext cx="860425" cy="1401763"/>
            <a:chOff x="-228753" y="2009878"/>
            <a:chExt cx="860247" cy="3154363"/>
          </a:xfrm>
        </p:grpSpPr>
        <p:sp>
          <p:nvSpPr>
            <p:cNvPr id="60500" name="Line 43"/>
            <p:cNvSpPr>
              <a:spLocks noChangeShapeType="1"/>
            </p:cNvSpPr>
            <p:nvPr/>
          </p:nvSpPr>
          <p:spPr bwMode="auto">
            <a:xfrm>
              <a:off x="480755" y="2009878"/>
              <a:ext cx="0" cy="315436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501" name="Line 44"/>
            <p:cNvSpPr>
              <a:spLocks noChangeShapeType="1"/>
            </p:cNvSpPr>
            <p:nvPr/>
          </p:nvSpPr>
          <p:spPr bwMode="auto">
            <a:xfrm>
              <a:off x="474405" y="2013053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502" name="Line 45"/>
            <p:cNvSpPr>
              <a:spLocks noChangeShapeType="1"/>
            </p:cNvSpPr>
            <p:nvPr/>
          </p:nvSpPr>
          <p:spPr bwMode="auto">
            <a:xfrm>
              <a:off x="474405" y="5162653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503" name="Line 46"/>
            <p:cNvSpPr>
              <a:spLocks noChangeShapeType="1"/>
            </p:cNvSpPr>
            <p:nvPr/>
          </p:nvSpPr>
          <p:spPr bwMode="auto">
            <a:xfrm>
              <a:off x="366455" y="3603728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504" name="Text Box 47"/>
            <p:cNvSpPr txBox="1">
              <a:spLocks noChangeArrowheads="1"/>
            </p:cNvSpPr>
            <p:nvPr/>
          </p:nvSpPr>
          <p:spPr bwMode="auto">
            <a:xfrm>
              <a:off x="-228753" y="3224140"/>
              <a:ext cx="860247" cy="623896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2"/>
                  </a:solidFill>
                  <a:latin typeface="Calibri" panose="020F0502020204030204" charset="0"/>
                  <a:cs typeface="Calibri" panose="020F0502020204030204" charset="0"/>
                </a:rPr>
                <a:t>Manual </a:t>
              </a:r>
              <a:endParaRPr lang="en-US" sz="1200">
                <a:solidFill>
                  <a:schemeClr val="bg2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60440" name="AutoShape 78"/>
          <p:cNvSpPr>
            <a:spLocks noChangeArrowheads="1"/>
          </p:cNvSpPr>
          <p:nvPr/>
        </p:nvSpPr>
        <p:spPr bwMode="auto">
          <a:xfrm flipV="1">
            <a:off x="646113" y="5322888"/>
            <a:ext cx="7964487" cy="617537"/>
          </a:xfrm>
          <a:prstGeom prst="rtTriangle">
            <a:avLst/>
          </a:prstGeom>
          <a:solidFill>
            <a:srgbClr val="DDDDDD"/>
          </a:solidFill>
          <a:ln w="9525">
            <a:noFill/>
            <a:miter lim="800000"/>
          </a:ln>
          <a:effectLst>
            <a:prstShdw prst="shdw17" dist="17961" dir="2700000">
              <a:srgbClr val="858585">
                <a:alpha val="74997"/>
              </a:srgbClr>
            </a:prstShdw>
          </a:effectLst>
        </p:spPr>
        <p:txBody>
          <a:bodyPr rot="10800000" wrap="none" anchor="ctr"/>
          <a:lstStyle/>
          <a:p>
            <a:endParaRPr lang="en-GB">
              <a:cs typeface="Calibri" panose="020F0502020204030204" charset="0"/>
            </a:endParaRPr>
          </a:p>
        </p:txBody>
      </p:sp>
      <p:sp>
        <p:nvSpPr>
          <p:cNvPr id="60441" name="Text Box 79"/>
          <p:cNvSpPr txBox="1">
            <a:spLocks noChangeArrowheads="1"/>
          </p:cNvSpPr>
          <p:nvPr/>
        </p:nvSpPr>
        <p:spPr bwMode="auto">
          <a:xfrm>
            <a:off x="620713" y="5326063"/>
            <a:ext cx="4379912" cy="33972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485297">
                <a:alpha val="74997"/>
              </a:srgbClr>
            </a:prstShdw>
          </a:effectLst>
        </p:spPr>
        <p:txBody>
          <a:bodyPr wrap="none">
            <a:spAutoFit/>
          </a:bodyPr>
          <a:lstStyle/>
          <a:p>
            <a:r>
              <a:rPr lang="en-US" sz="1600" b="1">
                <a:latin typeface="Calibri" panose="020F0502020204030204" charset="0"/>
              </a:rPr>
              <a:t>Customization; higher costs; slower time to value</a:t>
            </a:r>
            <a:endParaRPr lang="en-US" sz="1600" b="1">
              <a:latin typeface="Calibri" panose="020F0502020204030204" charset="0"/>
            </a:endParaRPr>
          </a:p>
        </p:txBody>
      </p:sp>
      <p:sp>
        <p:nvSpPr>
          <p:cNvPr id="60442" name="AutoShape 80"/>
          <p:cNvSpPr>
            <a:spLocks noChangeArrowheads="1"/>
          </p:cNvSpPr>
          <p:nvPr/>
        </p:nvSpPr>
        <p:spPr bwMode="auto">
          <a:xfrm rot="10800000" flipV="1">
            <a:off x="595313" y="5526088"/>
            <a:ext cx="7970837" cy="617537"/>
          </a:xfrm>
          <a:prstGeom prst="rtTriangle">
            <a:avLst/>
          </a:prstGeom>
          <a:solidFill>
            <a:srgbClr val="DDDDDD"/>
          </a:solidFill>
          <a:ln w="9525">
            <a:noFill/>
            <a:miter lim="800000"/>
          </a:ln>
          <a:effectLst>
            <a:prstShdw prst="shdw17" dist="17961" dir="2700000">
              <a:srgbClr val="858585">
                <a:alpha val="74997"/>
              </a:srgbClr>
            </a:prstShdw>
          </a:effectLst>
        </p:spPr>
        <p:txBody>
          <a:bodyPr wrap="none" anchor="ctr"/>
          <a:lstStyle/>
          <a:p>
            <a:endParaRPr lang="en-GB">
              <a:cs typeface="Calibri" panose="020F0502020204030204" charset="0"/>
            </a:endParaRPr>
          </a:p>
        </p:txBody>
      </p:sp>
      <p:sp>
        <p:nvSpPr>
          <p:cNvPr id="60443" name="Text Box 81"/>
          <p:cNvSpPr txBox="1">
            <a:spLocks noChangeArrowheads="1"/>
          </p:cNvSpPr>
          <p:nvPr/>
        </p:nvSpPr>
        <p:spPr bwMode="auto">
          <a:xfrm>
            <a:off x="4256088" y="5815013"/>
            <a:ext cx="4378325" cy="338137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485297">
                <a:alpha val="74997"/>
              </a:srgbClr>
            </a:prstShdw>
          </a:effectLst>
        </p:spPr>
        <p:txBody>
          <a:bodyPr wrap="none">
            <a:spAutoFit/>
          </a:bodyPr>
          <a:lstStyle/>
          <a:p>
            <a:r>
              <a:rPr lang="en-US" sz="1600" b="1">
                <a:latin typeface="Calibri" panose="020F0502020204030204" charset="0"/>
              </a:rPr>
              <a:t>Standardization; lower costs; faster time to value</a:t>
            </a:r>
            <a:endParaRPr lang="en-US" sz="1600" b="1">
              <a:latin typeface="Calibri" panose="020F0502020204030204" charset="0"/>
            </a:endParaRPr>
          </a:p>
        </p:txBody>
      </p:sp>
      <p:grpSp>
        <p:nvGrpSpPr>
          <p:cNvPr id="60444" name="Group 1"/>
          <p:cNvGrpSpPr/>
          <p:nvPr/>
        </p:nvGrpSpPr>
        <p:grpSpPr bwMode="auto">
          <a:xfrm>
            <a:off x="141288" y="2971800"/>
            <a:ext cx="981075" cy="639763"/>
            <a:chOff x="-391672" y="2009878"/>
            <a:chExt cx="980377" cy="3154363"/>
          </a:xfrm>
        </p:grpSpPr>
        <p:sp>
          <p:nvSpPr>
            <p:cNvPr id="60495" name="Line 43"/>
            <p:cNvSpPr>
              <a:spLocks noChangeShapeType="1"/>
            </p:cNvSpPr>
            <p:nvPr/>
          </p:nvSpPr>
          <p:spPr bwMode="auto">
            <a:xfrm>
              <a:off x="480755" y="2009878"/>
              <a:ext cx="0" cy="315436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6" name="Line 44"/>
            <p:cNvSpPr>
              <a:spLocks noChangeShapeType="1"/>
            </p:cNvSpPr>
            <p:nvPr/>
          </p:nvSpPr>
          <p:spPr bwMode="auto">
            <a:xfrm>
              <a:off x="474405" y="2013053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7" name="Line 45"/>
            <p:cNvSpPr>
              <a:spLocks noChangeShapeType="1"/>
            </p:cNvSpPr>
            <p:nvPr/>
          </p:nvSpPr>
          <p:spPr bwMode="auto">
            <a:xfrm>
              <a:off x="474405" y="5162653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8" name="Line 46"/>
            <p:cNvSpPr>
              <a:spLocks noChangeShapeType="1"/>
            </p:cNvSpPr>
            <p:nvPr/>
          </p:nvSpPr>
          <p:spPr bwMode="auto">
            <a:xfrm>
              <a:off x="366455" y="3603728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9" name="Text Box 47"/>
            <p:cNvSpPr txBox="1">
              <a:spLocks noChangeArrowheads="1"/>
            </p:cNvSpPr>
            <p:nvPr/>
          </p:nvSpPr>
          <p:spPr bwMode="auto">
            <a:xfrm>
              <a:off x="-391672" y="2793127"/>
              <a:ext cx="837431" cy="13657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2"/>
                  </a:solidFill>
                  <a:latin typeface="Calibri" panose="020F0502020204030204" charset="0"/>
                  <a:cs typeface="Calibri" panose="020F0502020204030204" charset="0"/>
                </a:rPr>
                <a:t>Man/Auto</a:t>
              </a:r>
              <a:endParaRPr lang="en-US" sz="1200">
                <a:solidFill>
                  <a:schemeClr val="bg2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60445" name="Group 1"/>
          <p:cNvGrpSpPr/>
          <p:nvPr/>
        </p:nvGrpSpPr>
        <p:grpSpPr bwMode="auto">
          <a:xfrm>
            <a:off x="76200" y="1970088"/>
            <a:ext cx="1046163" cy="935037"/>
            <a:chOff x="-457141" y="2009878"/>
            <a:chExt cx="1045846" cy="3154363"/>
          </a:xfrm>
        </p:grpSpPr>
        <p:sp>
          <p:nvSpPr>
            <p:cNvPr id="60490" name="Line 43"/>
            <p:cNvSpPr>
              <a:spLocks noChangeShapeType="1"/>
            </p:cNvSpPr>
            <p:nvPr/>
          </p:nvSpPr>
          <p:spPr bwMode="auto">
            <a:xfrm>
              <a:off x="480755" y="2009878"/>
              <a:ext cx="0" cy="3154363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1" name="Line 44"/>
            <p:cNvSpPr>
              <a:spLocks noChangeShapeType="1"/>
            </p:cNvSpPr>
            <p:nvPr/>
          </p:nvSpPr>
          <p:spPr bwMode="auto">
            <a:xfrm>
              <a:off x="474405" y="2013053"/>
              <a:ext cx="114300" cy="0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2" name="Line 45"/>
            <p:cNvSpPr>
              <a:spLocks noChangeShapeType="1"/>
            </p:cNvSpPr>
            <p:nvPr/>
          </p:nvSpPr>
          <p:spPr bwMode="auto">
            <a:xfrm>
              <a:off x="474405" y="5162653"/>
              <a:ext cx="114300" cy="0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3" name="Line 46"/>
            <p:cNvSpPr>
              <a:spLocks noChangeShapeType="1"/>
            </p:cNvSpPr>
            <p:nvPr/>
          </p:nvSpPr>
          <p:spPr bwMode="auto">
            <a:xfrm>
              <a:off x="366455" y="3603728"/>
              <a:ext cx="114300" cy="0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94" name="Text Box 47"/>
            <p:cNvSpPr txBox="1">
              <a:spLocks noChangeArrowheads="1"/>
            </p:cNvSpPr>
            <p:nvPr/>
          </p:nvSpPr>
          <p:spPr bwMode="auto">
            <a:xfrm>
              <a:off x="-457141" y="3005674"/>
              <a:ext cx="892237" cy="9297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200" b="1">
                  <a:solidFill>
                    <a:srgbClr val="C85F17"/>
                  </a:solidFill>
                  <a:latin typeface="Calibri" panose="020F0502020204030204" charset="0"/>
                  <a:cs typeface="Calibri" panose="020F0502020204030204" charset="0"/>
                </a:rPr>
                <a:t>Self Setup</a:t>
              </a:r>
              <a:endParaRPr lang="en-US" sz="1200" b="1">
                <a:solidFill>
                  <a:srgbClr val="C85F17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60447" name="Group 1"/>
          <p:cNvGrpSpPr/>
          <p:nvPr/>
        </p:nvGrpSpPr>
        <p:grpSpPr bwMode="auto">
          <a:xfrm>
            <a:off x="2667000" y="1970088"/>
            <a:ext cx="1068388" cy="935037"/>
            <a:chOff x="-478467" y="2009878"/>
            <a:chExt cx="1067172" cy="3154363"/>
          </a:xfrm>
        </p:grpSpPr>
        <p:sp>
          <p:nvSpPr>
            <p:cNvPr id="60485" name="Line 43"/>
            <p:cNvSpPr>
              <a:spLocks noChangeShapeType="1"/>
            </p:cNvSpPr>
            <p:nvPr/>
          </p:nvSpPr>
          <p:spPr bwMode="auto">
            <a:xfrm>
              <a:off x="480755" y="2009878"/>
              <a:ext cx="0" cy="3154363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6" name="Line 44"/>
            <p:cNvSpPr>
              <a:spLocks noChangeShapeType="1"/>
            </p:cNvSpPr>
            <p:nvPr/>
          </p:nvSpPr>
          <p:spPr bwMode="auto">
            <a:xfrm>
              <a:off x="474405" y="2013053"/>
              <a:ext cx="114300" cy="0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7" name="Line 45"/>
            <p:cNvSpPr>
              <a:spLocks noChangeShapeType="1"/>
            </p:cNvSpPr>
            <p:nvPr/>
          </p:nvSpPr>
          <p:spPr bwMode="auto">
            <a:xfrm>
              <a:off x="474405" y="5162653"/>
              <a:ext cx="114300" cy="0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8" name="Line 46"/>
            <p:cNvSpPr>
              <a:spLocks noChangeShapeType="1"/>
            </p:cNvSpPr>
            <p:nvPr/>
          </p:nvSpPr>
          <p:spPr bwMode="auto">
            <a:xfrm>
              <a:off x="366455" y="3603728"/>
              <a:ext cx="114300" cy="0"/>
            </a:xfrm>
            <a:prstGeom prst="line">
              <a:avLst/>
            </a:prstGeom>
            <a:noFill/>
            <a:ln w="19050">
              <a:solidFill>
                <a:srgbClr val="C85F17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9" name="Text Box 47"/>
            <p:cNvSpPr txBox="1">
              <a:spLocks noChangeArrowheads="1"/>
            </p:cNvSpPr>
            <p:nvPr/>
          </p:nvSpPr>
          <p:spPr bwMode="auto">
            <a:xfrm>
              <a:off x="-478467" y="3005674"/>
              <a:ext cx="913564" cy="9297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200" b="1">
                  <a:solidFill>
                    <a:srgbClr val="C85F17"/>
                  </a:solidFill>
                  <a:latin typeface="Calibri" panose="020F0502020204030204" charset="0"/>
                  <a:cs typeface="Calibri" panose="020F0502020204030204" charset="0"/>
                </a:rPr>
                <a:t>Self Setup</a:t>
              </a:r>
              <a:endParaRPr lang="en-US" sz="1200" b="1">
                <a:solidFill>
                  <a:srgbClr val="C85F17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60448" name="Group 1"/>
          <p:cNvGrpSpPr/>
          <p:nvPr/>
        </p:nvGrpSpPr>
        <p:grpSpPr bwMode="auto">
          <a:xfrm>
            <a:off x="2743200" y="2971800"/>
            <a:ext cx="981075" cy="639763"/>
            <a:chOff x="-391672" y="2009878"/>
            <a:chExt cx="980377" cy="3154363"/>
          </a:xfrm>
        </p:grpSpPr>
        <p:sp>
          <p:nvSpPr>
            <p:cNvPr id="60480" name="Line 43"/>
            <p:cNvSpPr>
              <a:spLocks noChangeShapeType="1"/>
            </p:cNvSpPr>
            <p:nvPr/>
          </p:nvSpPr>
          <p:spPr bwMode="auto">
            <a:xfrm>
              <a:off x="480755" y="2009878"/>
              <a:ext cx="0" cy="315436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1" name="Line 44"/>
            <p:cNvSpPr>
              <a:spLocks noChangeShapeType="1"/>
            </p:cNvSpPr>
            <p:nvPr/>
          </p:nvSpPr>
          <p:spPr bwMode="auto">
            <a:xfrm>
              <a:off x="474405" y="2013053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2" name="Line 45"/>
            <p:cNvSpPr>
              <a:spLocks noChangeShapeType="1"/>
            </p:cNvSpPr>
            <p:nvPr/>
          </p:nvSpPr>
          <p:spPr bwMode="auto">
            <a:xfrm>
              <a:off x="474405" y="5162653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3" name="Line 46"/>
            <p:cNvSpPr>
              <a:spLocks noChangeShapeType="1"/>
            </p:cNvSpPr>
            <p:nvPr/>
          </p:nvSpPr>
          <p:spPr bwMode="auto">
            <a:xfrm>
              <a:off x="366455" y="3603728"/>
              <a:ext cx="1143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84" name="Text Box 47"/>
            <p:cNvSpPr txBox="1">
              <a:spLocks noChangeArrowheads="1"/>
            </p:cNvSpPr>
            <p:nvPr/>
          </p:nvSpPr>
          <p:spPr bwMode="auto">
            <a:xfrm>
              <a:off x="-391672" y="2793127"/>
              <a:ext cx="837431" cy="13657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2"/>
                  </a:solidFill>
                  <a:latin typeface="Calibri" panose="020F0502020204030204" charset="0"/>
                  <a:cs typeface="Calibri" panose="020F0502020204030204" charset="0"/>
                </a:rPr>
                <a:t>Man/Auto</a:t>
              </a:r>
              <a:endParaRPr lang="en-US" sz="1200">
                <a:solidFill>
                  <a:schemeClr val="bg2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60449" name="AutoShape 4"/>
          <p:cNvSpPr>
            <a:spLocks noChangeArrowheads="1"/>
          </p:cNvSpPr>
          <p:nvPr/>
        </p:nvSpPr>
        <p:spPr bwMode="auto">
          <a:xfrm>
            <a:off x="6632575" y="4770438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Networking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0" name="AutoShape 8"/>
          <p:cNvSpPr>
            <a:spLocks noChangeArrowheads="1"/>
          </p:cNvSpPr>
          <p:nvPr/>
        </p:nvSpPr>
        <p:spPr bwMode="auto">
          <a:xfrm>
            <a:off x="6632575" y="4418013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Storage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1" name="AutoShape 12"/>
          <p:cNvSpPr>
            <a:spLocks noChangeArrowheads="1"/>
          </p:cNvSpPr>
          <p:nvPr/>
        </p:nvSpPr>
        <p:spPr bwMode="auto">
          <a:xfrm>
            <a:off x="6632575" y="4065588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Servers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2" name="AutoShape 16"/>
          <p:cNvSpPr>
            <a:spLocks noChangeArrowheads="1"/>
          </p:cNvSpPr>
          <p:nvPr/>
        </p:nvSpPr>
        <p:spPr bwMode="auto">
          <a:xfrm>
            <a:off x="6632575" y="3713163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100" b="1">
                <a:solidFill>
                  <a:schemeClr val="bg1"/>
                </a:solidFill>
                <a:cs typeface="Calibri" panose="020F0502020204030204" charset="0"/>
              </a:rPr>
              <a:t>Virtualization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3" name="AutoShape 20"/>
          <p:cNvSpPr>
            <a:spLocks noChangeArrowheads="1"/>
          </p:cNvSpPr>
          <p:nvPr/>
        </p:nvSpPr>
        <p:spPr bwMode="auto">
          <a:xfrm>
            <a:off x="6632575" y="3362325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O/S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4" name="AutoShape 24"/>
          <p:cNvSpPr>
            <a:spLocks noChangeArrowheads="1"/>
          </p:cNvSpPr>
          <p:nvPr/>
        </p:nvSpPr>
        <p:spPr bwMode="auto">
          <a:xfrm>
            <a:off x="6632575" y="3009900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Middleware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5" name="AutoShape 28"/>
          <p:cNvSpPr>
            <a:spLocks noChangeArrowheads="1"/>
          </p:cNvSpPr>
          <p:nvPr/>
        </p:nvSpPr>
        <p:spPr bwMode="auto">
          <a:xfrm>
            <a:off x="6632575" y="2657475"/>
            <a:ext cx="1139825" cy="273050"/>
          </a:xfrm>
          <a:prstGeom prst="roundRect">
            <a:avLst>
              <a:gd name="adj" fmla="val 16667"/>
            </a:avLst>
          </a:prstGeom>
          <a:solidFill>
            <a:srgbClr val="00B4F0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Mid Config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6" name="AutoShape 32"/>
          <p:cNvSpPr>
            <a:spLocks noChangeArrowheads="1"/>
          </p:cNvSpPr>
          <p:nvPr/>
        </p:nvSpPr>
        <p:spPr bwMode="auto">
          <a:xfrm>
            <a:off x="6632575" y="2305050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Data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7" name="AutoShape 36"/>
          <p:cNvSpPr>
            <a:spLocks noChangeArrowheads="1"/>
          </p:cNvSpPr>
          <p:nvPr/>
        </p:nvSpPr>
        <p:spPr bwMode="auto">
          <a:xfrm>
            <a:off x="6632575" y="1954213"/>
            <a:ext cx="1139825" cy="2730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sz="1200" b="1">
                <a:solidFill>
                  <a:schemeClr val="bg1"/>
                </a:solidFill>
                <a:cs typeface="Calibri" panose="020F0502020204030204" charset="0"/>
              </a:rPr>
              <a:t>Applications</a:t>
            </a:r>
            <a:endParaRPr lang="en-US" sz="1200" b="1">
              <a:solidFill>
                <a:schemeClr val="bg1"/>
              </a:solidFill>
              <a:cs typeface="Calibri" panose="020F0502020204030204" charset="0"/>
            </a:endParaRPr>
          </a:p>
        </p:txBody>
      </p:sp>
      <p:sp>
        <p:nvSpPr>
          <p:cNvPr id="60458" name="Text Box 40"/>
          <p:cNvSpPr txBox="1">
            <a:spLocks noChangeArrowheads="1"/>
          </p:cNvSpPr>
          <p:nvPr/>
        </p:nvSpPr>
        <p:spPr bwMode="auto">
          <a:xfrm>
            <a:off x="6553200" y="1292225"/>
            <a:ext cx="1300163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</a:rPr>
              <a:t>Platform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</a:rPr>
              <a:t>as a Service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0460" name="Group 69"/>
          <p:cNvGrpSpPr/>
          <p:nvPr/>
        </p:nvGrpSpPr>
        <p:grpSpPr bwMode="auto">
          <a:xfrm rot="10800000">
            <a:off x="5029200" y="3708400"/>
            <a:ext cx="306388" cy="1371600"/>
            <a:chOff x="346" y="1642"/>
            <a:chExt cx="140" cy="1987"/>
          </a:xfrm>
        </p:grpSpPr>
        <p:sp>
          <p:nvSpPr>
            <p:cNvPr id="60472" name="Line 70"/>
            <p:cNvSpPr>
              <a:spLocks noChangeShapeType="1"/>
            </p:cNvSpPr>
            <p:nvPr/>
          </p:nvSpPr>
          <p:spPr bwMode="auto">
            <a:xfrm>
              <a:off x="418" y="1642"/>
              <a:ext cx="0" cy="1987"/>
            </a:xfrm>
            <a:prstGeom prst="line">
              <a:avLst/>
            </a:prstGeom>
            <a:noFill/>
            <a:ln w="19050">
              <a:solidFill>
                <a:srgbClr val="00B4F0">
                  <a:alpha val="59999"/>
                </a:srgbClr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73" name="Line 71"/>
            <p:cNvSpPr>
              <a:spLocks noChangeShapeType="1"/>
            </p:cNvSpPr>
            <p:nvPr/>
          </p:nvSpPr>
          <p:spPr bwMode="auto">
            <a:xfrm>
              <a:off x="414" y="1644"/>
              <a:ext cx="72" cy="0"/>
            </a:xfrm>
            <a:prstGeom prst="line">
              <a:avLst/>
            </a:prstGeom>
            <a:noFill/>
            <a:ln w="19050">
              <a:solidFill>
                <a:srgbClr val="00B4F0">
                  <a:alpha val="59999"/>
                </a:srgbClr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74" name="Line 72"/>
            <p:cNvSpPr>
              <a:spLocks noChangeShapeType="1"/>
            </p:cNvSpPr>
            <p:nvPr/>
          </p:nvSpPr>
          <p:spPr bwMode="auto">
            <a:xfrm>
              <a:off x="414" y="3628"/>
              <a:ext cx="72" cy="0"/>
            </a:xfrm>
            <a:prstGeom prst="line">
              <a:avLst/>
            </a:prstGeom>
            <a:noFill/>
            <a:ln w="19050">
              <a:solidFill>
                <a:srgbClr val="00B4F0">
                  <a:alpha val="59999"/>
                </a:srgbClr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75" name="Line 73"/>
            <p:cNvSpPr>
              <a:spLocks noChangeShapeType="1"/>
            </p:cNvSpPr>
            <p:nvPr/>
          </p:nvSpPr>
          <p:spPr bwMode="auto">
            <a:xfrm>
              <a:off x="346" y="2646"/>
              <a:ext cx="72" cy="0"/>
            </a:xfrm>
            <a:prstGeom prst="line">
              <a:avLst/>
            </a:prstGeom>
            <a:noFill/>
            <a:ln w="19050">
              <a:solidFill>
                <a:srgbClr val="00B4F0">
                  <a:alpha val="59999"/>
                </a:srgbClr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462" name="Text Box 75"/>
          <p:cNvSpPr txBox="1">
            <a:spLocks noChangeArrowheads="1"/>
          </p:cNvSpPr>
          <p:nvPr/>
        </p:nvSpPr>
        <p:spPr bwMode="auto">
          <a:xfrm>
            <a:off x="5284788" y="3784600"/>
            <a:ext cx="1344612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 b="1">
                <a:solidFill>
                  <a:srgbClr val="00B4F0"/>
                </a:solidFill>
                <a:latin typeface="Calibri" panose="020F0502020204030204" charset="0"/>
                <a:cs typeface="Calibri" panose="020F0502020204030204" charset="0"/>
              </a:rPr>
              <a:t>PureApplication System</a:t>
            </a:r>
            <a:endParaRPr lang="en-US" sz="1200" b="1">
              <a:solidFill>
                <a:srgbClr val="00B4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1200" b="1">
                <a:solidFill>
                  <a:srgbClr val="00B4F0"/>
                </a:solidFill>
                <a:latin typeface="Calibri" panose="020F0502020204030204" charset="0"/>
                <a:cs typeface="Calibri" panose="020F0502020204030204" charset="0"/>
              </a:rPr>
              <a:t>SmartCloud Orchestrator</a:t>
            </a:r>
            <a:endParaRPr lang="en-US" sz="1200" b="1">
              <a:solidFill>
                <a:srgbClr val="00B4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1200" b="1">
                <a:solidFill>
                  <a:srgbClr val="00B4F0"/>
                </a:solidFill>
                <a:latin typeface="Calibri" panose="020F0502020204030204" charset="0"/>
                <a:cs typeface="Calibri" panose="020F0502020204030204" charset="0"/>
              </a:rPr>
              <a:t>SoftLayer</a:t>
            </a:r>
            <a:endParaRPr lang="en-US" sz="1200" b="1">
              <a:solidFill>
                <a:srgbClr val="00B4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82563" y="6311900"/>
            <a:ext cx="365125" cy="227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000" tIns="46800" rIns="90000" bIns="46800"/>
          <a:lstStyle/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CBFB41A-65C6-458F-BB8E-0A26C60C6014}" type="slidenum">
              <a:rPr lang="en-US" sz="800">
                <a:solidFill>
                  <a:srgbClr val="000000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</a:fld>
            <a:endParaRPr lang="en-US" sz="800">
              <a:solidFill>
                <a:srgbClr val="000000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2463" y="2070100"/>
            <a:ext cx="7993062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863" y="2111375"/>
            <a:ext cx="6667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700088" y="2727325"/>
            <a:ext cx="893762" cy="5869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algn="ctr">
              <a:buSzPct val="5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>
                <a:solidFill>
                  <a:srgbClr val="7F7F7F"/>
                </a:solidFill>
                <a:ea typeface="SimSun" panose="02010600030101010101" pitchFamily="2" charset="-122"/>
                <a:cs typeface="SimSun" panose="02010600030101010101" pitchFamily="2" charset="-122"/>
              </a:rPr>
              <a:t>Line of Business</a:t>
            </a:r>
            <a:endParaRPr lang="en-US" sz="1600" dirty="0">
              <a:solidFill>
                <a:srgbClr val="7F7F7F"/>
              </a:solidFill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grpSp>
        <p:nvGrpSpPr>
          <p:cNvPr id="10" name="Group 38"/>
          <p:cNvGrpSpPr/>
          <p:nvPr/>
        </p:nvGrpSpPr>
        <p:grpSpPr bwMode="auto">
          <a:xfrm>
            <a:off x="1790700" y="2830513"/>
            <a:ext cx="919163" cy="401637"/>
            <a:chOff x="1128" y="2080"/>
            <a:chExt cx="579" cy="253"/>
          </a:xfrm>
        </p:grpSpPr>
        <p:sp>
          <p:nvSpPr>
            <p:cNvPr id="12318" name="Text Box 39"/>
            <p:cNvSpPr txBox="1">
              <a:spLocks noChangeArrowheads="1"/>
            </p:cNvSpPr>
            <p:nvPr/>
          </p:nvSpPr>
          <p:spPr bwMode="auto">
            <a:xfrm>
              <a:off x="1272" y="2136"/>
              <a:ext cx="435" cy="162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</a:ln>
          </p:spPr>
          <p:txBody>
            <a:bodyPr lIns="90000" tIns="46800" rIns="90000" bIns="46800">
              <a:spAutoFit/>
            </a:bodyPr>
            <a:lstStyle/>
            <a:p>
              <a:pPr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  <a:latin typeface="Calibri" panose="020F0502020204030204" charset="0"/>
                  <a:ea typeface="MS PGothic" panose="020B0600070205080204" pitchFamily="34" charset="-128"/>
                  <a:cs typeface="MS PGothic" panose="020B0600070205080204" pitchFamily="34" charset="-128"/>
                </a:rPr>
                <a:t>Jenkins</a:t>
              </a:r>
              <a:endParaRPr lang="en-US" sz="1000">
                <a:solidFill>
                  <a:srgbClr val="000000"/>
                </a:solidFill>
                <a:latin typeface="Calibri" panose="020F0502020204030204" charset="0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pic>
          <p:nvPicPr>
            <p:cNvPr id="12319" name="Picture 40" descr="jenkins_logo"/>
            <p:cNvPicPr>
              <a:picLocks noChangeAspect="1" noChangeArrowheads="1"/>
            </p:cNvPicPr>
            <p:nvPr/>
          </p:nvPicPr>
          <p:blipFill>
            <a:blip r:embed="rId3"/>
            <a:srcRect r="75900"/>
            <a:stretch>
              <a:fillRect/>
            </a:stretch>
          </p:blipFill>
          <p:spPr bwMode="auto">
            <a:xfrm>
              <a:off x="1128" y="2080"/>
              <a:ext cx="188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305" name="Picture 4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5050" y="5006641"/>
            <a:ext cx="879475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970397" y="60151"/>
            <a:ext cx="5700713" cy="704850"/>
          </a:xfrm>
        </p:spPr>
        <p:txBody>
          <a:bodyPr/>
          <a:lstStyle/>
          <a:p>
            <a:r>
              <a:rPr lang="en-US" dirty="0"/>
              <a:t>DevOps Solution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12" descr="deployinfographic-noproduct"/>
          <p:cNvPicPr>
            <a:picLocks noChangeAspect="1" noChangeArrowheads="1"/>
          </p:cNvPicPr>
          <p:nvPr/>
        </p:nvPicPr>
        <p:blipFill>
          <a:blip r:embed="rId1"/>
          <a:srcRect l="17520" t="23759" r="20023" b="23759"/>
          <a:stretch>
            <a:fillRect/>
          </a:stretch>
        </p:blipFill>
        <p:spPr bwMode="auto">
          <a:xfrm>
            <a:off x="130175" y="1052736"/>
            <a:ext cx="8883650" cy="359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7" name="Content Placeholder 18"/>
          <p:cNvSpPr>
            <a:spLocks noGrp="1"/>
          </p:cNvSpPr>
          <p:nvPr>
            <p:ph idx="4294967295"/>
          </p:nvPr>
        </p:nvSpPr>
        <p:spPr>
          <a:xfrm>
            <a:off x="395536" y="4149080"/>
            <a:ext cx="3505200" cy="1911350"/>
          </a:xfrm>
        </p:spPr>
        <p:txBody>
          <a:bodyPr lIns="0" rIns="0">
            <a:sp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1200" b="1" dirty="0">
                <a:solidFill>
                  <a:srgbClr val="008A52"/>
                </a:solidFill>
                <a:cs typeface="MS PGothic" panose="020B0600070205080204" pitchFamily="34" charset="-128"/>
              </a:rPr>
              <a:t>Drive down cost</a:t>
            </a:r>
            <a:endParaRPr lang="en-US" sz="1200" b="1" dirty="0">
              <a:solidFill>
                <a:srgbClr val="008A52"/>
              </a:solidFill>
              <a:cs typeface="MS PGothic" panose="020B0600070205080204" pitchFamily="34" charset="-128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1200" dirty="0">
                <a:cs typeface="MS PGothic" panose="020B0600070205080204" pitchFamily="34" charset="-128"/>
              </a:rPr>
              <a:t>Remove manual effort and wasted resource time with push button deployment processes</a:t>
            </a:r>
            <a:endParaRPr lang="en-US" sz="1200" dirty="0">
              <a:cs typeface="MS PGothic" panose="020B0600070205080204" pitchFamily="34" charset="-128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1200" b="1" dirty="0">
                <a:solidFill>
                  <a:srgbClr val="008A52"/>
                </a:solidFill>
                <a:cs typeface="MS PGothic" panose="020B0600070205080204" pitchFamily="34" charset="-128"/>
              </a:rPr>
              <a:t>Speed time to market</a:t>
            </a:r>
            <a:endParaRPr lang="en-US" sz="1200" b="1" dirty="0">
              <a:solidFill>
                <a:srgbClr val="008A52"/>
              </a:solidFill>
              <a:cs typeface="MS PGothic" panose="020B0600070205080204" pitchFamily="34" charset="-128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1200" dirty="0">
                <a:cs typeface="MS PGothic" panose="020B0600070205080204" pitchFamily="34" charset="-128"/>
              </a:rPr>
              <a:t>Simple, graphical process designer, with built-in actions to quickly create deployment automation</a:t>
            </a:r>
            <a:endParaRPr lang="en-US" sz="1200" dirty="0">
              <a:cs typeface="MS PGothic" panose="020B0600070205080204" pitchFamily="34" charset="-128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1200" b="1" dirty="0">
                <a:solidFill>
                  <a:srgbClr val="008A52"/>
                </a:solidFill>
                <a:cs typeface="MS PGothic" panose="020B0600070205080204" pitchFamily="34" charset="-128"/>
              </a:rPr>
              <a:t>Reduce risk</a:t>
            </a:r>
            <a:endParaRPr lang="en-US" sz="1200" b="1" dirty="0">
              <a:solidFill>
                <a:srgbClr val="008A52"/>
              </a:solidFill>
              <a:cs typeface="MS PGothic" panose="020B0600070205080204" pitchFamily="34" charset="-128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sz="1200" dirty="0">
                <a:cs typeface="MS PGothic" panose="020B0600070205080204" pitchFamily="34" charset="-128"/>
              </a:rPr>
              <a:t>Robust configuration management, coordinated release processes, audits, and traceability</a:t>
            </a:r>
            <a:endParaRPr lang="en-US" sz="1200" dirty="0">
              <a:cs typeface="MS PGothic" panose="020B0600070205080204" pitchFamily="34" charset="-128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899592" y="188640"/>
            <a:ext cx="5700713" cy="7048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 cap="small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r>
              <a:rPr lang="en-US" dirty="0"/>
              <a:t>DevOps Solution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AutoShape 45"/>
          <p:cNvSpPr>
            <a:spLocks noChangeArrowheads="1"/>
          </p:cNvSpPr>
          <p:nvPr/>
        </p:nvSpPr>
        <p:spPr bwMode="auto">
          <a:xfrm rot="15837257">
            <a:off x="6764338" y="3036888"/>
            <a:ext cx="530225" cy="1704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26" name="AutoShape 44"/>
          <p:cNvSpPr>
            <a:spLocks noChangeArrowheads="1"/>
          </p:cNvSpPr>
          <p:nvPr/>
        </p:nvSpPr>
        <p:spPr bwMode="auto">
          <a:xfrm rot="14189355">
            <a:off x="6650832" y="1948656"/>
            <a:ext cx="552450" cy="2341563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27" name="AutoShape 43"/>
          <p:cNvSpPr>
            <a:spLocks noChangeArrowheads="1"/>
          </p:cNvSpPr>
          <p:nvPr/>
        </p:nvSpPr>
        <p:spPr bwMode="auto">
          <a:xfrm rot="12920208">
            <a:off x="5891213" y="1916113"/>
            <a:ext cx="633412" cy="18827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28" name="AutoShape 42"/>
          <p:cNvSpPr>
            <a:spLocks noChangeArrowheads="1"/>
          </p:cNvSpPr>
          <p:nvPr/>
        </p:nvSpPr>
        <p:spPr bwMode="auto">
          <a:xfrm rot="11508226">
            <a:off x="4876800" y="1911350"/>
            <a:ext cx="684213" cy="15494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29" name="AutoShape 41"/>
          <p:cNvSpPr>
            <a:spLocks noChangeArrowheads="1"/>
          </p:cNvSpPr>
          <p:nvPr/>
        </p:nvSpPr>
        <p:spPr bwMode="auto">
          <a:xfrm rot="10100215">
            <a:off x="3798888" y="1763713"/>
            <a:ext cx="684212" cy="173513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30" name="AutoShape 40"/>
          <p:cNvSpPr>
            <a:spLocks noChangeArrowheads="1"/>
          </p:cNvSpPr>
          <p:nvPr/>
        </p:nvSpPr>
        <p:spPr bwMode="auto">
          <a:xfrm rot="7915157">
            <a:off x="3007519" y="1816894"/>
            <a:ext cx="533400" cy="215423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31" name="AutoShape 39"/>
          <p:cNvSpPr>
            <a:spLocks noChangeArrowheads="1"/>
          </p:cNvSpPr>
          <p:nvPr/>
        </p:nvSpPr>
        <p:spPr bwMode="auto">
          <a:xfrm rot="7092785">
            <a:off x="2209800" y="1584325"/>
            <a:ext cx="568325" cy="30829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494 w 21600"/>
              <a:gd name="T13" fmla="*/ 4494 h 21600"/>
              <a:gd name="T14" fmla="*/ 17106 w 21600"/>
              <a:gd name="T15" fmla="*/ 171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88" y="21600"/>
                </a:lnTo>
                <a:lnTo>
                  <a:pt x="1621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4F2">
              <a:alpha val="12157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pic>
        <p:nvPicPr>
          <p:cNvPr id="132" name="Picture 131" descr="cloud-white cle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2620962"/>
            <a:ext cx="4099343" cy="2130973"/>
          </a:xfrm>
          <a:prstGeom prst="rect">
            <a:avLst/>
          </a:prstGeom>
          <a:effectLst>
            <a:softEdge rad="88900"/>
          </a:effectLst>
        </p:spPr>
      </p:pic>
      <p:grpSp>
        <p:nvGrpSpPr>
          <p:cNvPr id="73737" name="Group 11"/>
          <p:cNvGrpSpPr/>
          <p:nvPr/>
        </p:nvGrpSpPr>
        <p:grpSpPr bwMode="auto">
          <a:xfrm>
            <a:off x="95250" y="3154363"/>
            <a:ext cx="1352550" cy="1416050"/>
            <a:chOff x="204" y="598"/>
            <a:chExt cx="852" cy="933"/>
          </a:xfrm>
        </p:grpSpPr>
        <p:sp>
          <p:nvSpPr>
            <p:cNvPr id="134" name="AutoShape 87"/>
            <p:cNvSpPr>
              <a:spLocks noChangeArrowheads="1"/>
            </p:cNvSpPr>
            <p:nvPr/>
          </p:nvSpPr>
          <p:spPr bwMode="auto">
            <a:xfrm>
              <a:off x="204" y="598"/>
              <a:ext cx="852" cy="933"/>
            </a:xfrm>
            <a:prstGeom prst="cube">
              <a:avLst>
                <a:gd name="adj" fmla="val 8468"/>
              </a:avLst>
            </a:prstGeom>
            <a:gradFill flip="none"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rgbClr val="969696"/>
              </a:solidFill>
              <a:miter lim="800000"/>
            </a:ln>
          </p:spPr>
          <p:txBody>
            <a:bodyPr wrap="none" anchor="ctr"/>
            <a:lstStyle/>
            <a:p>
              <a:pPr eaLnBrk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de-DE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35" name="Text Box 88"/>
            <p:cNvSpPr txBox="1">
              <a:spLocks noChangeArrowheads="1"/>
            </p:cNvSpPr>
            <p:nvPr/>
          </p:nvSpPr>
          <p:spPr bwMode="auto">
            <a:xfrm>
              <a:off x="204" y="752"/>
              <a:ext cx="807" cy="2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Orchestration Engine</a:t>
              </a:r>
              <a:endParaRPr lang="de-DE" sz="1200" b="1" kern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6" name="Rectangle 64"/>
          <p:cNvSpPr>
            <a:spLocks noChangeArrowheads="1"/>
          </p:cNvSpPr>
          <p:nvPr/>
        </p:nvSpPr>
        <p:spPr bwMode="auto">
          <a:xfrm>
            <a:off x="7366000" y="1838325"/>
            <a:ext cx="1081088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200" kern="0">
                <a:solidFill>
                  <a:srgbClr val="FFFFFF"/>
                </a:solidFill>
                <a:latin typeface="Helvetica" charset="0"/>
              </a:rPr>
              <a:t>Network Domain</a:t>
            </a:r>
            <a:endParaRPr lang="de-DE" sz="1200" kern="0">
              <a:solidFill>
                <a:srgbClr val="FFFFFF"/>
              </a:solidFill>
              <a:latin typeface="Helvetica" charset="0"/>
            </a:endParaRPr>
          </a:p>
        </p:txBody>
      </p:sp>
      <p:sp>
        <p:nvSpPr>
          <p:cNvPr id="137" name="Rectangle 65"/>
          <p:cNvSpPr>
            <a:spLocks noChangeArrowheads="1"/>
          </p:cNvSpPr>
          <p:nvPr/>
        </p:nvSpPr>
        <p:spPr bwMode="auto">
          <a:xfrm>
            <a:off x="6070600" y="1458913"/>
            <a:ext cx="1081088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200" kern="0">
                <a:solidFill>
                  <a:srgbClr val="FFFFFF"/>
                </a:solidFill>
                <a:latin typeface="Helvetica" charset="0"/>
              </a:rPr>
              <a:t>Storage Domain</a:t>
            </a:r>
            <a:endParaRPr lang="de-DE" sz="1200" kern="0">
              <a:solidFill>
                <a:srgbClr val="FFFFFF"/>
              </a:solidFill>
              <a:latin typeface="Helvetica" charset="0"/>
            </a:endParaRPr>
          </a:p>
        </p:txBody>
      </p:sp>
      <p:sp>
        <p:nvSpPr>
          <p:cNvPr id="138" name="Rectangle 67"/>
          <p:cNvSpPr>
            <a:spLocks noChangeArrowheads="1"/>
          </p:cNvSpPr>
          <p:nvPr/>
        </p:nvSpPr>
        <p:spPr bwMode="auto">
          <a:xfrm>
            <a:off x="3478213" y="1390650"/>
            <a:ext cx="1081087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200" kern="0">
                <a:solidFill>
                  <a:srgbClr val="FFFFFF"/>
                </a:solidFill>
                <a:latin typeface="Helvetica" charset="0"/>
              </a:rPr>
              <a:t>IT Management</a:t>
            </a:r>
            <a:endParaRPr lang="de-DE" sz="1200" kern="0">
              <a:solidFill>
                <a:srgbClr val="FFFFFF"/>
              </a:solidFill>
              <a:latin typeface="Helvetica" charset="0"/>
            </a:endParaRPr>
          </a:p>
        </p:txBody>
      </p:sp>
      <p:sp>
        <p:nvSpPr>
          <p:cNvPr id="139" name="Rectangle 69"/>
          <p:cNvSpPr>
            <a:spLocks noChangeArrowheads="1"/>
          </p:cNvSpPr>
          <p:nvPr/>
        </p:nvSpPr>
        <p:spPr bwMode="auto">
          <a:xfrm>
            <a:off x="2146300" y="1498600"/>
            <a:ext cx="1081088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200" kern="0">
                <a:solidFill>
                  <a:srgbClr val="FFFFFF"/>
                </a:solidFill>
                <a:latin typeface="Helvetica" charset="0"/>
              </a:rPr>
              <a:t>Monitoring Domain</a:t>
            </a:r>
            <a:endParaRPr lang="de-DE" sz="1200" kern="0">
              <a:solidFill>
                <a:srgbClr val="FFFFFF"/>
              </a:solidFill>
              <a:latin typeface="Helvetica" charset="0"/>
            </a:endParaRPr>
          </a:p>
        </p:txBody>
      </p:sp>
      <p:sp>
        <p:nvSpPr>
          <p:cNvPr id="140" name="Rectangle 70"/>
          <p:cNvSpPr>
            <a:spLocks noChangeArrowheads="1"/>
          </p:cNvSpPr>
          <p:nvPr/>
        </p:nvSpPr>
        <p:spPr bwMode="auto">
          <a:xfrm>
            <a:off x="849313" y="1770063"/>
            <a:ext cx="1081087" cy="593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sz="1200" kern="0">
                <a:solidFill>
                  <a:srgbClr val="FFFFFF"/>
                </a:solidFill>
                <a:latin typeface="Helvetica" charset="0"/>
              </a:rPr>
              <a:t>Data Availability Domain</a:t>
            </a:r>
            <a:endParaRPr lang="de-DE" sz="1200" kern="0">
              <a:solidFill>
                <a:srgbClr val="FFFFFF"/>
              </a:solidFill>
              <a:latin typeface="Helvetica" charset="0"/>
            </a:endParaRPr>
          </a:p>
        </p:txBody>
      </p:sp>
      <p:sp>
        <p:nvSpPr>
          <p:cNvPr id="141" name="Rectangle 107"/>
          <p:cNvSpPr>
            <a:spLocks noChangeArrowheads="1"/>
          </p:cNvSpPr>
          <p:nvPr/>
        </p:nvSpPr>
        <p:spPr bwMode="auto">
          <a:xfrm>
            <a:off x="3948113" y="4181475"/>
            <a:ext cx="180975" cy="173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200" kern="0">
              <a:solidFill>
                <a:srgbClr val="00B2EF"/>
              </a:solidFill>
              <a:latin typeface="Helvetica" charset="0"/>
            </a:endParaRPr>
          </a:p>
        </p:txBody>
      </p:sp>
      <p:cxnSp>
        <p:nvCxnSpPr>
          <p:cNvPr id="73744" name="AutoShape 97"/>
          <p:cNvCxnSpPr>
            <a:cxnSpLocks noChangeShapeType="1"/>
          </p:cNvCxnSpPr>
          <p:nvPr/>
        </p:nvCxnSpPr>
        <p:spPr bwMode="auto">
          <a:xfrm flipV="1">
            <a:off x="1347788" y="2743200"/>
            <a:ext cx="1776412" cy="744538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rgbClr val="000000"/>
            </a:solidFill>
            <a:prstDash val="dash"/>
            <a:miter lim="800000"/>
          </a:ln>
        </p:spPr>
      </p:cxnSp>
      <p:sp>
        <p:nvSpPr>
          <p:cNvPr id="143" name="Arc 96"/>
          <p:cNvSpPr/>
          <p:nvPr/>
        </p:nvSpPr>
        <p:spPr bwMode="auto">
          <a:xfrm>
            <a:off x="3090863" y="2209800"/>
            <a:ext cx="3775075" cy="1293813"/>
          </a:xfrm>
          <a:custGeom>
            <a:avLst/>
            <a:gdLst>
              <a:gd name="T0" fmla="*/ 0 w 40806"/>
              <a:gd name="T1" fmla="*/ 2147483647 h 29025"/>
              <a:gd name="T2" fmla="*/ 2147483647 w 40806"/>
              <a:gd name="T3" fmla="*/ 2147483647 h 29025"/>
              <a:gd name="T4" fmla="*/ 2147483647 w 40806"/>
              <a:gd name="T5" fmla="*/ 2147483647 h 29025"/>
              <a:gd name="T6" fmla="*/ 0 60000 65536"/>
              <a:gd name="T7" fmla="*/ 0 60000 65536"/>
              <a:gd name="T8" fmla="*/ 0 60000 65536"/>
              <a:gd name="T9" fmla="*/ 0 w 40806"/>
              <a:gd name="T10" fmla="*/ 0 h 29025"/>
              <a:gd name="T11" fmla="*/ 40806 w 40806"/>
              <a:gd name="T12" fmla="*/ 29025 h 290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06" h="29025" fill="none" extrusionOk="0">
                <a:moveTo>
                  <a:pt x="0" y="11716"/>
                </a:moveTo>
                <a:cubicBezTo>
                  <a:pt x="3702" y="4521"/>
                  <a:pt x="11114" y="-1"/>
                  <a:pt x="19206" y="0"/>
                </a:cubicBezTo>
                <a:cubicBezTo>
                  <a:pt x="31135" y="0"/>
                  <a:pt x="40806" y="9670"/>
                  <a:pt x="40806" y="21600"/>
                </a:cubicBezTo>
                <a:cubicBezTo>
                  <a:pt x="40806" y="24133"/>
                  <a:pt x="40360" y="26646"/>
                  <a:pt x="39489" y="29024"/>
                </a:cubicBezTo>
              </a:path>
              <a:path w="40806" h="29025" stroke="0" extrusionOk="0">
                <a:moveTo>
                  <a:pt x="0" y="11716"/>
                </a:moveTo>
                <a:cubicBezTo>
                  <a:pt x="3702" y="4521"/>
                  <a:pt x="11114" y="-1"/>
                  <a:pt x="19206" y="0"/>
                </a:cubicBezTo>
                <a:cubicBezTo>
                  <a:pt x="31135" y="0"/>
                  <a:pt x="40806" y="9670"/>
                  <a:pt x="40806" y="21600"/>
                </a:cubicBezTo>
                <a:cubicBezTo>
                  <a:pt x="40806" y="24133"/>
                  <a:pt x="40360" y="26646"/>
                  <a:pt x="39489" y="29024"/>
                </a:cubicBezTo>
                <a:lnTo>
                  <a:pt x="19206" y="21600"/>
                </a:lnTo>
                <a:lnTo>
                  <a:pt x="0" y="11716"/>
                </a:lnTo>
                <a:close/>
              </a:path>
            </a:pathLst>
          </a:custGeom>
          <a:noFill/>
          <a:ln w="57150">
            <a:solidFill>
              <a:srgbClr val="000000"/>
            </a:solidFill>
            <a:prstDash val="dash"/>
            <a:round/>
            <a:tailEnd type="triangle" w="med" len="med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3746" name="Group 101"/>
          <p:cNvGrpSpPr/>
          <p:nvPr/>
        </p:nvGrpSpPr>
        <p:grpSpPr bwMode="auto">
          <a:xfrm>
            <a:off x="136525" y="3794125"/>
            <a:ext cx="1189038" cy="566738"/>
            <a:chOff x="3155514" y="1475558"/>
            <a:chExt cx="2178486" cy="781168"/>
          </a:xfrm>
        </p:grpSpPr>
        <p:sp>
          <p:nvSpPr>
            <p:cNvPr id="145" name="Rounded Rectangle 144"/>
            <p:cNvSpPr>
              <a:spLocks noChangeArrowheads="1"/>
            </p:cNvSpPr>
            <p:nvPr/>
          </p:nvSpPr>
          <p:spPr bwMode="auto">
            <a:xfrm>
              <a:off x="3536532" y="1475558"/>
              <a:ext cx="290852" cy="19474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46" name="Rounded Rectangle 145"/>
            <p:cNvSpPr>
              <a:spLocks noChangeArrowheads="1"/>
            </p:cNvSpPr>
            <p:nvPr/>
          </p:nvSpPr>
          <p:spPr bwMode="auto">
            <a:xfrm>
              <a:off x="3615061" y="1832226"/>
              <a:ext cx="290852" cy="19255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E75FF"/>
                </a:gs>
                <a:gs pos="20000">
                  <a:srgbClr val="6176FF"/>
                </a:gs>
                <a:gs pos="100000">
                  <a:srgbClr val="4859C9"/>
                </a:gs>
              </a:gsLst>
              <a:lin ang="5400000"/>
            </a:gradFill>
            <a:ln w="9525">
              <a:solidFill>
                <a:srgbClr val="7283F9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47" name="Rounded Rectangle 146"/>
            <p:cNvSpPr>
              <a:spLocks noChangeArrowheads="1"/>
            </p:cNvSpPr>
            <p:nvPr/>
          </p:nvSpPr>
          <p:spPr bwMode="auto">
            <a:xfrm>
              <a:off x="4601052" y="1718443"/>
              <a:ext cx="290852" cy="19474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E75FF"/>
                </a:gs>
                <a:gs pos="20000">
                  <a:srgbClr val="6176FF"/>
                </a:gs>
                <a:gs pos="100000">
                  <a:srgbClr val="4859C9"/>
                </a:gs>
              </a:gsLst>
              <a:lin ang="5400000"/>
            </a:gradFill>
            <a:ln w="9525">
              <a:solidFill>
                <a:srgbClr val="7283F9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48" name="Rounded Rectangle 147"/>
            <p:cNvSpPr>
              <a:spLocks noChangeArrowheads="1"/>
            </p:cNvSpPr>
            <p:nvPr/>
          </p:nvSpPr>
          <p:spPr bwMode="auto">
            <a:xfrm>
              <a:off x="4365460" y="2061981"/>
              <a:ext cx="293762" cy="19474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8F8F8"/>
                </a:gs>
                <a:gs pos="20000">
                  <a:srgbClr val="F7F7F7"/>
                </a:gs>
                <a:gs pos="100000">
                  <a:srgbClr val="BDBDBD"/>
                </a:gs>
              </a:gsLst>
              <a:lin ang="5400000"/>
            </a:gradFill>
            <a:ln w="9525">
              <a:solidFill>
                <a:srgbClr val="F9F9F9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49" name="Rounded Rectangle 148"/>
            <p:cNvSpPr>
              <a:spLocks noChangeArrowheads="1"/>
            </p:cNvSpPr>
            <p:nvPr/>
          </p:nvSpPr>
          <p:spPr bwMode="auto">
            <a:xfrm>
              <a:off x="4871544" y="2002901"/>
              <a:ext cx="293762" cy="19474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E75FF"/>
                </a:gs>
                <a:gs pos="20000">
                  <a:srgbClr val="6176FF"/>
                </a:gs>
                <a:gs pos="100000">
                  <a:srgbClr val="4859C9"/>
                </a:gs>
              </a:gsLst>
              <a:lin ang="5400000"/>
            </a:gradFill>
            <a:ln w="9525">
              <a:solidFill>
                <a:srgbClr val="7283F9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0" name="Isosceles Triangle 149"/>
            <p:cNvSpPr>
              <a:spLocks noChangeArrowheads="1"/>
            </p:cNvSpPr>
            <p:nvPr/>
          </p:nvSpPr>
          <p:spPr bwMode="auto">
            <a:xfrm>
              <a:off x="4138595" y="1644046"/>
              <a:ext cx="223957" cy="194744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EDEFFF"/>
                </a:gs>
                <a:gs pos="64999">
                  <a:srgbClr val="D5DAFF"/>
                </a:gs>
                <a:gs pos="100000">
                  <a:srgbClr val="C5CCFF"/>
                </a:gs>
              </a:gsLst>
              <a:lin ang="5400000" scaled="1"/>
            </a:gradFill>
            <a:ln w="9525">
              <a:solidFill>
                <a:srgbClr val="B8BEF9"/>
              </a:solidFill>
              <a:miter lim="800000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51" name="Oval 150"/>
            <p:cNvSpPr>
              <a:spLocks noChangeArrowheads="1"/>
            </p:cNvSpPr>
            <p:nvPr/>
          </p:nvSpPr>
          <p:spPr bwMode="auto">
            <a:xfrm>
              <a:off x="3155514" y="1484311"/>
              <a:ext cx="168694" cy="1706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2" name="Oval 151"/>
            <p:cNvSpPr>
              <a:spLocks noChangeArrowheads="1"/>
            </p:cNvSpPr>
            <p:nvPr/>
          </p:nvSpPr>
          <p:spPr bwMode="auto">
            <a:xfrm>
              <a:off x="5165306" y="1517133"/>
              <a:ext cx="168694" cy="1684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cxnSp>
          <p:nvCxnSpPr>
            <p:cNvPr id="73860" name="Straight Arrow Connector 152"/>
            <p:cNvCxnSpPr>
              <a:cxnSpLocks noChangeShapeType="1"/>
              <a:stCxn id="151" idx="6"/>
              <a:endCxn id="145" idx="1"/>
            </p:cNvCxnSpPr>
            <p:nvPr/>
          </p:nvCxnSpPr>
          <p:spPr bwMode="auto">
            <a:xfrm>
              <a:off x="3324208" y="1569649"/>
              <a:ext cx="212323" cy="2187"/>
            </a:xfrm>
            <a:prstGeom prst="straightConnector1">
              <a:avLst/>
            </a:prstGeom>
            <a:noFill/>
            <a:ln w="12700">
              <a:solidFill>
                <a:srgbClr val="7F7F7F"/>
              </a:solidFill>
              <a:round/>
              <a:tailEnd type="triangle" w="med" len="med"/>
            </a:ln>
          </p:spPr>
        </p:cxnSp>
        <p:cxnSp>
          <p:nvCxnSpPr>
            <p:cNvPr id="73861" name="Elbow Connector 111"/>
            <p:cNvCxnSpPr>
              <a:cxnSpLocks noChangeShapeType="1"/>
            </p:cNvCxnSpPr>
            <p:nvPr/>
          </p:nvCxnSpPr>
          <p:spPr bwMode="auto">
            <a:xfrm rot="5400000">
              <a:off x="3518315" y="1721098"/>
              <a:ext cx="260390" cy="66897"/>
            </a:xfrm>
            <a:prstGeom prst="bentConnector4">
              <a:avLst>
                <a:gd name="adj1" fmla="val 31352"/>
                <a:gd name="adj2" fmla="val 360931"/>
              </a:avLst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2" name="Elbow Connector 42"/>
            <p:cNvCxnSpPr>
              <a:cxnSpLocks noChangeShapeType="1"/>
              <a:stCxn id="146" idx="3"/>
              <a:endCxn id="150" idx="1"/>
            </p:cNvCxnSpPr>
            <p:nvPr/>
          </p:nvCxnSpPr>
          <p:spPr bwMode="auto">
            <a:xfrm flipV="1">
              <a:off x="3905913" y="1742512"/>
              <a:ext cx="287945" cy="185993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3" name="Elbow Connector 42"/>
            <p:cNvCxnSpPr>
              <a:cxnSpLocks noChangeShapeType="1"/>
            </p:cNvCxnSpPr>
            <p:nvPr/>
          </p:nvCxnSpPr>
          <p:spPr bwMode="auto">
            <a:xfrm rot="16200000" flipH="1">
              <a:off x="4147554" y="1896592"/>
              <a:ext cx="319469" cy="116341"/>
            </a:xfrm>
            <a:prstGeom prst="bentConnector2">
              <a:avLst/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4" name="Elbow Connector 42"/>
            <p:cNvCxnSpPr>
              <a:cxnSpLocks noChangeShapeType="1"/>
              <a:stCxn id="150" idx="5"/>
              <a:endCxn id="147" idx="1"/>
            </p:cNvCxnSpPr>
            <p:nvPr/>
          </p:nvCxnSpPr>
          <p:spPr bwMode="auto">
            <a:xfrm>
              <a:off x="4307290" y="1742512"/>
              <a:ext cx="293762" cy="74397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5" name="Elbow Connector 42"/>
            <p:cNvCxnSpPr>
              <a:cxnSpLocks noChangeShapeType="1"/>
              <a:stCxn id="147" idx="2"/>
              <a:endCxn id="149" idx="1"/>
            </p:cNvCxnSpPr>
            <p:nvPr/>
          </p:nvCxnSpPr>
          <p:spPr bwMode="auto">
            <a:xfrm rot="16200000" flipH="1">
              <a:off x="4716014" y="1943650"/>
              <a:ext cx="185993" cy="125066"/>
            </a:xfrm>
            <a:prstGeom prst="bentConnector2">
              <a:avLst/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6" name="Elbow Connector 42"/>
            <p:cNvCxnSpPr>
              <a:cxnSpLocks noChangeShapeType="1"/>
              <a:stCxn id="147" idx="3"/>
              <a:endCxn id="152" idx="2"/>
            </p:cNvCxnSpPr>
            <p:nvPr/>
          </p:nvCxnSpPr>
          <p:spPr bwMode="auto">
            <a:xfrm flipV="1">
              <a:off x="4891904" y="1600283"/>
              <a:ext cx="273401" cy="216626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7" name="Elbow Connector 42"/>
            <p:cNvCxnSpPr>
              <a:cxnSpLocks noChangeShapeType="1"/>
              <a:stCxn id="149" idx="3"/>
              <a:endCxn id="152" idx="4"/>
            </p:cNvCxnSpPr>
            <p:nvPr/>
          </p:nvCxnSpPr>
          <p:spPr bwMode="auto">
            <a:xfrm flipV="1">
              <a:off x="5165306" y="1685620"/>
              <a:ext cx="84346" cy="413560"/>
            </a:xfrm>
            <a:prstGeom prst="bentConnector2">
              <a:avLst/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  <p:cxnSp>
          <p:nvCxnSpPr>
            <p:cNvPr id="73868" name="Elbow Connector 42"/>
            <p:cNvCxnSpPr>
              <a:cxnSpLocks noChangeShapeType="1"/>
              <a:stCxn id="148" idx="3"/>
              <a:endCxn id="149" idx="2"/>
            </p:cNvCxnSpPr>
            <p:nvPr/>
          </p:nvCxnSpPr>
          <p:spPr bwMode="auto">
            <a:xfrm>
              <a:off x="4659222" y="2160448"/>
              <a:ext cx="360657" cy="37198"/>
            </a:xfrm>
            <a:prstGeom prst="bentConnector4">
              <a:avLst>
                <a:gd name="adj1" fmla="val 29806"/>
                <a:gd name="adj2" fmla="val 523060"/>
              </a:avLst>
            </a:prstGeom>
            <a:noFill/>
            <a:ln w="12700">
              <a:solidFill>
                <a:srgbClr val="7F7F7F"/>
              </a:solidFill>
              <a:miter lim="800000"/>
              <a:tailEnd type="triangle" w="med" len="med"/>
            </a:ln>
          </p:spPr>
        </p:cxnSp>
      </p:grpSp>
      <p:grpSp>
        <p:nvGrpSpPr>
          <p:cNvPr id="73747" name="Group 122"/>
          <p:cNvGrpSpPr/>
          <p:nvPr/>
        </p:nvGrpSpPr>
        <p:grpSpPr bwMode="auto">
          <a:xfrm>
            <a:off x="152400" y="1630363"/>
            <a:ext cx="1143000" cy="914400"/>
            <a:chOff x="152400" y="100465"/>
            <a:chExt cx="1081087" cy="1435214"/>
          </a:xfrm>
        </p:grpSpPr>
        <p:sp>
          <p:nvSpPr>
            <p:cNvPr id="163" name="Rounded Rectangle 162"/>
            <p:cNvSpPr/>
            <p:nvPr/>
          </p:nvSpPr>
          <p:spPr>
            <a:xfrm>
              <a:off x="152400" y="100465"/>
              <a:ext cx="1066800" cy="1435214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64" name="Rectangle 70"/>
            <p:cNvSpPr>
              <a:spLocks noChangeArrowheads="1"/>
            </p:cNvSpPr>
            <p:nvPr/>
          </p:nvSpPr>
          <p:spPr bwMode="auto">
            <a:xfrm>
              <a:off x="152400" y="459268"/>
              <a:ext cx="1081087" cy="67026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r>
                <a:rPr lang="en-US" sz="1200" b="1" kern="0" dirty="0">
                  <a:solidFill>
                    <a:srgbClr val="FFFFFF"/>
                  </a:solidFill>
                  <a:latin typeface="Arial" panose="020B0604020202020204"/>
                  <a:ea typeface="MS PGothic" panose="020B0600070205080204" pitchFamily="34" charset="-128"/>
                  <a:cs typeface="MS PGothic" panose="020B0600070205080204" pitchFamily="34" charset="-128"/>
                </a:rPr>
                <a:t>Compute Domain</a:t>
              </a:r>
              <a:endParaRPr lang="de-DE" sz="1200" b="1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73748" name="Group 128"/>
          <p:cNvGrpSpPr/>
          <p:nvPr/>
        </p:nvGrpSpPr>
        <p:grpSpPr bwMode="auto">
          <a:xfrm>
            <a:off x="4876800" y="990600"/>
            <a:ext cx="1135063" cy="914400"/>
            <a:chOff x="228600" y="381000"/>
            <a:chExt cx="1081087" cy="1219200"/>
          </a:xfrm>
        </p:grpSpPr>
        <p:sp>
          <p:nvSpPr>
            <p:cNvPr id="166" name="Rounded Rectangle 165"/>
            <p:cNvSpPr/>
            <p:nvPr/>
          </p:nvSpPr>
          <p:spPr>
            <a:xfrm>
              <a:off x="228600" y="381000"/>
              <a:ext cx="1066800" cy="1219200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67" name="Rectangle 70"/>
            <p:cNvSpPr>
              <a:spLocks noChangeArrowheads="1"/>
            </p:cNvSpPr>
            <p:nvPr/>
          </p:nvSpPr>
          <p:spPr bwMode="auto">
            <a:xfrm>
              <a:off x="228600" y="457200"/>
              <a:ext cx="1081087" cy="5693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endParaRPr lang="en-US" sz="1200" b="1" kern="0">
                <a:solidFill>
                  <a:srgbClr val="FFFFFF"/>
                </a:solidFill>
                <a:latin typeface="Helvetica" charset="0"/>
              </a:endParaRP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Helvetica" charset="0"/>
                </a:rPr>
                <a:t>Monitoring </a:t>
              </a:r>
              <a:endParaRPr lang="de-DE" sz="1200" b="1" kern="0">
                <a:solidFill>
                  <a:srgbClr val="FFFFFF"/>
                </a:solidFill>
                <a:latin typeface="Helvetica" charset="0"/>
              </a:endParaRPr>
            </a:p>
          </p:txBody>
        </p:sp>
      </p:grpSp>
      <p:grpSp>
        <p:nvGrpSpPr>
          <p:cNvPr id="73749" name="Group 132"/>
          <p:cNvGrpSpPr/>
          <p:nvPr/>
        </p:nvGrpSpPr>
        <p:grpSpPr bwMode="auto">
          <a:xfrm>
            <a:off x="6248400" y="1222375"/>
            <a:ext cx="1252538" cy="911225"/>
            <a:chOff x="228600" y="381000"/>
            <a:chExt cx="1081086" cy="1219200"/>
          </a:xfrm>
        </p:grpSpPr>
        <p:sp>
          <p:nvSpPr>
            <p:cNvPr id="169" name="Rounded Rectangle 168"/>
            <p:cNvSpPr/>
            <p:nvPr/>
          </p:nvSpPr>
          <p:spPr>
            <a:xfrm>
              <a:off x="228600" y="381000"/>
              <a:ext cx="1066800" cy="1219200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70" name="Rectangle 70"/>
            <p:cNvSpPr>
              <a:spLocks noChangeArrowheads="1"/>
            </p:cNvSpPr>
            <p:nvPr/>
          </p:nvSpPr>
          <p:spPr bwMode="auto">
            <a:xfrm>
              <a:off x="228600" y="695358"/>
              <a:ext cx="1081086" cy="5734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Helvetica" charset="0"/>
                </a:rPr>
                <a:t>IT Asset Management</a:t>
              </a:r>
              <a:endParaRPr lang="de-DE" sz="1200" b="1" kern="0">
                <a:solidFill>
                  <a:srgbClr val="FFFFFF"/>
                </a:solidFill>
                <a:latin typeface="Helvetica" charset="0"/>
              </a:endParaRPr>
            </a:p>
          </p:txBody>
        </p:sp>
      </p:grpSp>
      <p:grpSp>
        <p:nvGrpSpPr>
          <p:cNvPr id="73750" name="Group 136"/>
          <p:cNvGrpSpPr/>
          <p:nvPr/>
        </p:nvGrpSpPr>
        <p:grpSpPr bwMode="auto">
          <a:xfrm>
            <a:off x="7620000" y="3276600"/>
            <a:ext cx="1295400" cy="914400"/>
            <a:chOff x="104774" y="381000"/>
            <a:chExt cx="1443012" cy="1219200"/>
          </a:xfrm>
        </p:grpSpPr>
        <p:sp>
          <p:nvSpPr>
            <p:cNvPr id="172" name="Rounded Rectangle 171"/>
            <p:cNvSpPr/>
            <p:nvPr/>
          </p:nvSpPr>
          <p:spPr>
            <a:xfrm>
              <a:off x="104774" y="381000"/>
              <a:ext cx="1443012" cy="1219200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73" name="Rectangle 70"/>
            <p:cNvSpPr>
              <a:spLocks noChangeArrowheads="1"/>
            </p:cNvSpPr>
            <p:nvPr/>
          </p:nvSpPr>
          <p:spPr bwMode="auto">
            <a:xfrm>
              <a:off x="228562" y="687917"/>
              <a:ext cx="1080491" cy="5693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Helvetica" charset="0"/>
                </a:rPr>
                <a:t>Service Desk</a:t>
              </a:r>
              <a:endParaRPr lang="de-DE" sz="1200" b="1" kern="0">
                <a:solidFill>
                  <a:srgbClr val="FFFFFF"/>
                </a:solidFill>
                <a:latin typeface="Helvetica" charset="0"/>
              </a:endParaRPr>
            </a:p>
          </p:txBody>
        </p:sp>
      </p:grpSp>
      <p:grpSp>
        <p:nvGrpSpPr>
          <p:cNvPr id="73751" name="Group 144"/>
          <p:cNvGrpSpPr/>
          <p:nvPr/>
        </p:nvGrpSpPr>
        <p:grpSpPr bwMode="auto">
          <a:xfrm>
            <a:off x="1658938" y="1374775"/>
            <a:ext cx="1160462" cy="911225"/>
            <a:chOff x="104774" y="381000"/>
            <a:chExt cx="1443012" cy="1219200"/>
          </a:xfrm>
        </p:grpSpPr>
        <p:sp>
          <p:nvSpPr>
            <p:cNvPr id="175" name="Rounded Rectangle 174"/>
            <p:cNvSpPr/>
            <p:nvPr/>
          </p:nvSpPr>
          <p:spPr>
            <a:xfrm>
              <a:off x="104774" y="381000"/>
              <a:ext cx="1443012" cy="1219200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76" name="Rectangle 70"/>
            <p:cNvSpPr>
              <a:spLocks noChangeArrowheads="1"/>
            </p:cNvSpPr>
            <p:nvPr/>
          </p:nvSpPr>
          <p:spPr bwMode="auto">
            <a:xfrm>
              <a:off x="229137" y="618893"/>
              <a:ext cx="1079793" cy="5734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Helvetica" charset="0"/>
                </a:rPr>
                <a:t>Storage Domain</a:t>
              </a:r>
              <a:endParaRPr lang="de-DE" sz="1200" b="1" kern="0">
                <a:solidFill>
                  <a:srgbClr val="FFFFFF"/>
                </a:solidFill>
                <a:latin typeface="Helvetica" charset="0"/>
              </a:endParaRPr>
            </a:p>
          </p:txBody>
        </p:sp>
      </p:grpSp>
      <p:grpSp>
        <p:nvGrpSpPr>
          <p:cNvPr id="73752" name="Group 148"/>
          <p:cNvGrpSpPr/>
          <p:nvPr/>
        </p:nvGrpSpPr>
        <p:grpSpPr bwMode="auto">
          <a:xfrm>
            <a:off x="7620000" y="1752600"/>
            <a:ext cx="1219200" cy="914400"/>
            <a:chOff x="190499" y="194199"/>
            <a:chExt cx="1457326" cy="1219200"/>
          </a:xfrm>
        </p:grpSpPr>
        <p:sp>
          <p:nvSpPr>
            <p:cNvPr id="178" name="Rounded Rectangle 177"/>
            <p:cNvSpPr/>
            <p:nvPr/>
          </p:nvSpPr>
          <p:spPr>
            <a:xfrm>
              <a:off x="190499" y="194199"/>
              <a:ext cx="1443012" cy="1219200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79" name="Rectangle 70"/>
            <p:cNvSpPr>
              <a:spLocks noChangeArrowheads="1"/>
            </p:cNvSpPr>
            <p:nvPr/>
          </p:nvSpPr>
          <p:spPr bwMode="auto">
            <a:xfrm>
              <a:off x="196192" y="355066"/>
              <a:ext cx="1451633" cy="5715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Helvetica" charset="0"/>
                </a:rPr>
                <a:t>Change Management</a:t>
              </a:r>
              <a:endParaRPr lang="de-DE" sz="1200" b="1" kern="0">
                <a:solidFill>
                  <a:srgbClr val="FFFFFF"/>
                </a:solidFill>
                <a:latin typeface="Helvetica" charset="0"/>
              </a:endParaRPr>
            </a:p>
          </p:txBody>
        </p:sp>
      </p:grpSp>
      <p:sp>
        <p:nvSpPr>
          <p:cNvPr id="180" name="Text Box 46"/>
          <p:cNvSpPr txBox="1">
            <a:spLocks noChangeArrowheads="1"/>
          </p:cNvSpPr>
          <p:nvPr/>
        </p:nvSpPr>
        <p:spPr bwMode="auto">
          <a:xfrm>
            <a:off x="1447800" y="4297362"/>
            <a:ext cx="1905000" cy="3180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softEdge rad="88900"/>
          </a:effec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Provision Pattern</a:t>
            </a:r>
            <a:endParaRPr lang="de-DE" sz="1600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1" name="Text Box 99"/>
          <p:cNvSpPr txBox="1">
            <a:spLocks noChangeArrowheads="1"/>
          </p:cNvSpPr>
          <p:nvPr/>
        </p:nvSpPr>
        <p:spPr bwMode="auto">
          <a:xfrm>
            <a:off x="3657600" y="3136728"/>
            <a:ext cx="2242325" cy="522407"/>
          </a:xfrm>
          <a:prstGeom prst="rect">
            <a:avLst/>
          </a:prstGeom>
          <a:noFill/>
          <a:ln>
            <a:noFill/>
          </a:ln>
        </p:spPr>
        <p:txBody>
          <a:bodyPr spcFirstLastPara="1" wrap="none">
            <a:prstTxWarp prst="textArchUp">
              <a:avLst/>
            </a:prstTxWarp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Font typeface="Wingdings" panose="05000000000000000000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DE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Orchestrate</a:t>
            </a:r>
            <a:endParaRPr lang="de-DE" sz="2800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3757" name="Group 14"/>
          <p:cNvGrpSpPr/>
          <p:nvPr/>
        </p:nvGrpSpPr>
        <p:grpSpPr bwMode="auto">
          <a:xfrm>
            <a:off x="1752600" y="3535363"/>
            <a:ext cx="609600" cy="398462"/>
            <a:chOff x="4383088" y="3663950"/>
            <a:chExt cx="1655762" cy="1008063"/>
          </a:xfrm>
        </p:grpSpPr>
        <p:sp>
          <p:nvSpPr>
            <p:cNvPr id="183" name="Trapezoid 182"/>
            <p:cNvSpPr/>
            <p:nvPr/>
          </p:nvSpPr>
          <p:spPr bwMode="auto">
            <a:xfrm>
              <a:off x="4383088" y="3663950"/>
              <a:ext cx="288897" cy="289166"/>
            </a:xfrm>
            <a:prstGeom prst="trapezoid">
              <a:avLst/>
            </a:prstGeom>
            <a:solidFill>
              <a:srgbClr val="FF6666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Times New Roman" panose="02020603050405020304" pitchFamily="18" charset="0"/>
                <a:buNone/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Arial Unicode MS" charset="0"/>
              </a:endParaRPr>
            </a:p>
          </p:txBody>
        </p:sp>
        <p:sp>
          <p:nvSpPr>
            <p:cNvPr id="184" name="Trapezoid 183"/>
            <p:cNvSpPr/>
            <p:nvPr/>
          </p:nvSpPr>
          <p:spPr bwMode="auto">
            <a:xfrm>
              <a:off x="4383088" y="4025407"/>
              <a:ext cx="288897" cy="285148"/>
            </a:xfrm>
            <a:prstGeom prst="trapezoid">
              <a:avLst/>
            </a:prstGeom>
            <a:solidFill>
              <a:srgbClr val="FF6666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Times New Roman" panose="02020603050405020304" pitchFamily="18" charset="0"/>
                <a:buNone/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Arial Unicode MS" charset="0"/>
              </a:endParaRPr>
            </a:p>
          </p:txBody>
        </p:sp>
        <p:sp>
          <p:nvSpPr>
            <p:cNvPr id="185" name="Trapezoid 184"/>
            <p:cNvSpPr/>
            <p:nvPr/>
          </p:nvSpPr>
          <p:spPr bwMode="auto">
            <a:xfrm>
              <a:off x="4383088" y="4382847"/>
              <a:ext cx="288897" cy="289166"/>
            </a:xfrm>
            <a:prstGeom prst="trapezoid">
              <a:avLst/>
            </a:prstGeom>
            <a:solidFill>
              <a:srgbClr val="FF6666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Times New Roman" panose="02020603050405020304" pitchFamily="18" charset="0"/>
                <a:buNone/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Arial Unicode MS" charset="0"/>
              </a:endParaRPr>
            </a:p>
          </p:txBody>
        </p:sp>
        <p:sp>
          <p:nvSpPr>
            <p:cNvPr id="186" name="Cube 17"/>
            <p:cNvSpPr>
              <a:spLocks noChangeArrowheads="1"/>
            </p:cNvSpPr>
            <p:nvPr/>
          </p:nvSpPr>
          <p:spPr bwMode="auto">
            <a:xfrm>
              <a:off x="5029870" y="3953116"/>
              <a:ext cx="362198" cy="357440"/>
            </a:xfrm>
            <a:prstGeom prst="cube">
              <a:avLst>
                <a:gd name="adj" fmla="val 25000"/>
              </a:avLst>
            </a:prstGeom>
            <a:solidFill>
              <a:srgbClr val="FF6666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</a:endParaRPr>
            </a:p>
          </p:txBody>
        </p:sp>
        <p:sp>
          <p:nvSpPr>
            <p:cNvPr id="187" name="Can 18"/>
            <p:cNvSpPr>
              <a:spLocks noChangeArrowheads="1"/>
            </p:cNvSpPr>
            <p:nvPr/>
          </p:nvSpPr>
          <p:spPr bwMode="auto">
            <a:xfrm>
              <a:off x="5749955" y="3663950"/>
              <a:ext cx="288895" cy="289166"/>
            </a:xfrm>
            <a:prstGeom prst="can">
              <a:avLst>
                <a:gd name="adj" fmla="val 25000"/>
              </a:avLst>
            </a:prstGeom>
            <a:solidFill>
              <a:srgbClr val="FF6666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</a:endParaRPr>
            </a:p>
          </p:txBody>
        </p:sp>
        <p:sp>
          <p:nvSpPr>
            <p:cNvPr id="188" name="Can 19"/>
            <p:cNvSpPr>
              <a:spLocks noChangeArrowheads="1"/>
            </p:cNvSpPr>
            <p:nvPr/>
          </p:nvSpPr>
          <p:spPr bwMode="auto">
            <a:xfrm>
              <a:off x="5749955" y="4310556"/>
              <a:ext cx="288895" cy="289166"/>
            </a:xfrm>
            <a:prstGeom prst="can">
              <a:avLst>
                <a:gd name="adj" fmla="val 25000"/>
              </a:avLst>
            </a:prstGeom>
            <a:solidFill>
              <a:srgbClr val="FF6666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</a:endParaRPr>
            </a:p>
          </p:txBody>
        </p:sp>
        <p:cxnSp>
          <p:nvCxnSpPr>
            <p:cNvPr id="73823" name="Curved Connector 21"/>
            <p:cNvCxnSpPr>
              <a:cxnSpLocks noChangeShapeType="1"/>
              <a:stCxn id="183" idx="3"/>
              <a:endCxn id="186" idx="2"/>
            </p:cNvCxnSpPr>
            <p:nvPr/>
          </p:nvCxnSpPr>
          <p:spPr bwMode="auto">
            <a:xfrm>
              <a:off x="4633913" y="3808413"/>
              <a:ext cx="396875" cy="368300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824" name="Curved Connector 23"/>
            <p:cNvCxnSpPr>
              <a:cxnSpLocks noChangeShapeType="1"/>
              <a:stCxn id="185" idx="3"/>
              <a:endCxn id="186" idx="2"/>
            </p:cNvCxnSpPr>
            <p:nvPr/>
          </p:nvCxnSpPr>
          <p:spPr bwMode="auto">
            <a:xfrm flipV="1">
              <a:off x="4633913" y="4176713"/>
              <a:ext cx="396875" cy="350837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825" name="Curved Connector 25"/>
            <p:cNvCxnSpPr>
              <a:cxnSpLocks noChangeShapeType="1"/>
              <a:stCxn id="184" idx="3"/>
              <a:endCxn id="186" idx="2"/>
            </p:cNvCxnSpPr>
            <p:nvPr/>
          </p:nvCxnSpPr>
          <p:spPr bwMode="auto">
            <a:xfrm>
              <a:off x="4633913" y="4167188"/>
              <a:ext cx="396875" cy="9525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826" name="Curved Connector 27"/>
            <p:cNvCxnSpPr>
              <a:cxnSpLocks noChangeShapeType="1"/>
              <a:stCxn id="186" idx="5"/>
              <a:endCxn id="187" idx="2"/>
            </p:cNvCxnSpPr>
            <p:nvPr/>
          </p:nvCxnSpPr>
          <p:spPr bwMode="auto">
            <a:xfrm flipV="1">
              <a:off x="5391150" y="3808413"/>
              <a:ext cx="358775" cy="27781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827" name="Curved Connector 29"/>
            <p:cNvCxnSpPr>
              <a:cxnSpLocks noChangeShapeType="1"/>
              <a:stCxn id="186" idx="5"/>
              <a:endCxn id="188" idx="2"/>
            </p:cNvCxnSpPr>
            <p:nvPr/>
          </p:nvCxnSpPr>
          <p:spPr bwMode="auto">
            <a:xfrm>
              <a:off x="5391150" y="4086225"/>
              <a:ext cx="358775" cy="369888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</p:grpSp>
      <p:grpSp>
        <p:nvGrpSpPr>
          <p:cNvPr id="73758" name="Group 140"/>
          <p:cNvGrpSpPr/>
          <p:nvPr/>
        </p:nvGrpSpPr>
        <p:grpSpPr bwMode="auto">
          <a:xfrm>
            <a:off x="3276600" y="992188"/>
            <a:ext cx="1219200" cy="989012"/>
            <a:chOff x="104774" y="274838"/>
            <a:chExt cx="1443012" cy="1219200"/>
          </a:xfrm>
        </p:grpSpPr>
        <p:sp>
          <p:nvSpPr>
            <p:cNvPr id="195" name="Rounded Rectangle 194"/>
            <p:cNvSpPr/>
            <p:nvPr/>
          </p:nvSpPr>
          <p:spPr>
            <a:xfrm>
              <a:off x="104774" y="274838"/>
              <a:ext cx="1443012" cy="1219200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7F7F7F"/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b="1" kern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96" name="Rectangle 70"/>
            <p:cNvSpPr>
              <a:spLocks noChangeArrowheads="1"/>
            </p:cNvSpPr>
            <p:nvPr/>
          </p:nvSpPr>
          <p:spPr bwMode="auto">
            <a:xfrm>
              <a:off x="275756" y="556644"/>
              <a:ext cx="1082259" cy="5264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100000"/>
                <a:defRPr/>
              </a:pPr>
              <a:r>
                <a:rPr lang="en-US" sz="1200" b="1" kern="0">
                  <a:solidFill>
                    <a:srgbClr val="FFFFFF"/>
                  </a:solidFill>
                  <a:latin typeface="Helvetica" charset="0"/>
                </a:rPr>
                <a:t>Network Domain</a:t>
              </a:r>
              <a:endParaRPr lang="de-DE" sz="1200" b="1" kern="0">
                <a:solidFill>
                  <a:srgbClr val="FFFFFF"/>
                </a:solidFill>
                <a:latin typeface="Helvetica" charset="0"/>
              </a:endParaRPr>
            </a:p>
          </p:txBody>
        </p:sp>
      </p:grpSp>
      <p:grpSp>
        <p:nvGrpSpPr>
          <p:cNvPr id="73759" name="Group 255"/>
          <p:cNvGrpSpPr/>
          <p:nvPr/>
        </p:nvGrpSpPr>
        <p:grpSpPr bwMode="auto">
          <a:xfrm>
            <a:off x="165100" y="4597400"/>
            <a:ext cx="8839200" cy="1825625"/>
            <a:chOff x="12224" y="5465617"/>
            <a:chExt cx="8763000" cy="1367635"/>
          </a:xfrm>
        </p:grpSpPr>
        <p:sp>
          <p:nvSpPr>
            <p:cNvPr id="199" name="Rounded Rectangle 198"/>
            <p:cNvSpPr/>
            <p:nvPr/>
          </p:nvSpPr>
          <p:spPr>
            <a:xfrm>
              <a:off x="12224" y="5465617"/>
              <a:ext cx="8763000" cy="1367635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FFFFFF">
                    <a:lumMod val="65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28575">
              <a:solidFill>
                <a:srgbClr val="004274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kern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152400" y="5558693"/>
              <a:ext cx="2590800" cy="1150871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004274"/>
                </a:gs>
                <a:gs pos="100000">
                  <a:srgbClr val="0070C0"/>
                </a:gs>
              </a:gsLst>
              <a:lin ang="16200000" scaled="0"/>
            </a:gradFill>
            <a:ln w="28575">
              <a:solidFill>
                <a:srgbClr val="000000">
                  <a:lumMod val="50000"/>
                  <a:lumOff val="50000"/>
                </a:srgbClr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170180" indent="-170180" algn="ctr" eaLnBrk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01" name="Rounded Rectangle 200"/>
            <p:cNvSpPr/>
            <p:nvPr/>
          </p:nvSpPr>
          <p:spPr>
            <a:xfrm>
              <a:off x="3124200" y="5562599"/>
              <a:ext cx="2590800" cy="1146951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D9182D">
                    <a:lumMod val="50000"/>
                  </a:srgbClr>
                </a:gs>
                <a:gs pos="100000">
                  <a:srgbClr val="D9182D"/>
                </a:gs>
              </a:gsLst>
              <a:lin ang="16200000" scaled="0"/>
            </a:gradFill>
            <a:ln w="28575">
              <a:solidFill>
                <a:srgbClr val="000000">
                  <a:lumMod val="50000"/>
                  <a:lumOff val="50000"/>
                </a:srgbClr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b="1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6095999" y="5562598"/>
              <a:ext cx="2522621" cy="1146951"/>
            </a:xfrm>
            <a:prstGeom prst="roundRect">
              <a:avLst>
                <a:gd name="adj" fmla="val 11227"/>
              </a:avLst>
            </a:prstGeom>
            <a:gradFill rotWithShape="1">
              <a:gsLst>
                <a:gs pos="0">
                  <a:srgbClr val="F19027">
                    <a:lumMod val="75000"/>
                  </a:srgbClr>
                </a:gs>
                <a:gs pos="100000">
                  <a:srgbClr val="F19027"/>
                </a:gs>
              </a:gsLst>
              <a:lin ang="16200000" scaled="0"/>
            </a:gradFill>
            <a:ln w="28575">
              <a:solidFill>
                <a:srgbClr val="000000">
                  <a:lumMod val="50000"/>
                  <a:lumOff val="50000"/>
                </a:srgbClr>
              </a:solidFill>
            </a:ln>
            <a:effectLst>
              <a:outerShdw blurRad="101600" dist="76200" dir="36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pic>
        <p:nvPicPr>
          <p:cNvPr id="73760" name="Picture 4" descr="C:\Documents and Settings\Administrator\Desktop\WORKING_GRAPHICS\Products\UI Update\New UE Icons Cher\support\new-free\1\PNG\Organiz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" y="4973638"/>
            <a:ext cx="5095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61" name="Picture 5" descr="C:\Documents and Settings\Administrator\Desktop\WORKING_GRAPHICS\Products\UI Update\New UE Icons Cher\support\new-free\1\PNG\Network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71713" y="4973638"/>
            <a:ext cx="471487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62" name="Picture 3" descr="C:\Documents and Settings\Administrator\Desktop\WORKING_GRAPHICS\Products\UI Update\New UE Icons Cher\support\new-free\1\PNG\Download-box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8275" y="4973638"/>
            <a:ext cx="452438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3763" name="Group 14"/>
          <p:cNvGrpSpPr/>
          <p:nvPr/>
        </p:nvGrpSpPr>
        <p:grpSpPr bwMode="auto">
          <a:xfrm>
            <a:off x="4038600" y="4878388"/>
            <a:ext cx="1143000" cy="609600"/>
            <a:chOff x="4383088" y="3663950"/>
            <a:chExt cx="1655762" cy="1008063"/>
          </a:xfrm>
        </p:grpSpPr>
        <p:sp>
          <p:nvSpPr>
            <p:cNvPr id="207" name="Trapezoid 206"/>
            <p:cNvSpPr/>
            <p:nvPr/>
          </p:nvSpPr>
          <p:spPr bwMode="auto">
            <a:xfrm>
              <a:off x="4383088" y="3663950"/>
              <a:ext cx="287459" cy="286142"/>
            </a:xfrm>
            <a:prstGeom prst="trapezoid">
              <a:avLst/>
            </a:prstGeom>
            <a:solidFill>
              <a:srgbClr val="FF6666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Times New Roman" panose="02020603050405020304" pitchFamily="18" charset="0"/>
                <a:buNone/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Arial Unicode MS" charset="0"/>
              </a:endParaRPr>
            </a:p>
          </p:txBody>
        </p:sp>
        <p:sp>
          <p:nvSpPr>
            <p:cNvPr id="208" name="Trapezoid 207"/>
            <p:cNvSpPr/>
            <p:nvPr/>
          </p:nvSpPr>
          <p:spPr bwMode="auto">
            <a:xfrm>
              <a:off x="4383088" y="4023597"/>
              <a:ext cx="287459" cy="288768"/>
            </a:xfrm>
            <a:prstGeom prst="trapezoid">
              <a:avLst/>
            </a:prstGeom>
            <a:solidFill>
              <a:srgbClr val="FF6666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Times New Roman" panose="02020603050405020304" pitchFamily="18" charset="0"/>
                <a:buNone/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Arial Unicode MS" charset="0"/>
              </a:endParaRPr>
            </a:p>
          </p:txBody>
        </p:sp>
        <p:sp>
          <p:nvSpPr>
            <p:cNvPr id="209" name="Trapezoid 208"/>
            <p:cNvSpPr/>
            <p:nvPr/>
          </p:nvSpPr>
          <p:spPr bwMode="auto">
            <a:xfrm>
              <a:off x="4383088" y="4385869"/>
              <a:ext cx="287459" cy="286144"/>
            </a:xfrm>
            <a:prstGeom prst="trapezoid">
              <a:avLst/>
            </a:prstGeom>
            <a:solidFill>
              <a:srgbClr val="FF6666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Times New Roman" panose="02020603050405020304" pitchFamily="18" charset="0"/>
                <a:buNone/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  <a:ea typeface="MS PGothic" panose="020B0600070205080204" pitchFamily="34" charset="-128"/>
                <a:cs typeface="Arial Unicode MS" charset="0"/>
              </a:endParaRPr>
            </a:p>
          </p:txBody>
        </p:sp>
        <p:sp>
          <p:nvSpPr>
            <p:cNvPr id="210" name="Cube 17"/>
            <p:cNvSpPr>
              <a:spLocks noChangeArrowheads="1"/>
            </p:cNvSpPr>
            <p:nvPr/>
          </p:nvSpPr>
          <p:spPr bwMode="auto">
            <a:xfrm>
              <a:off x="5031595" y="3950092"/>
              <a:ext cx="358748" cy="362273"/>
            </a:xfrm>
            <a:prstGeom prst="cube">
              <a:avLst>
                <a:gd name="adj" fmla="val 25000"/>
              </a:avLst>
            </a:prstGeom>
            <a:solidFill>
              <a:srgbClr val="FF6666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</a:endParaRPr>
            </a:p>
          </p:txBody>
        </p:sp>
        <p:sp>
          <p:nvSpPr>
            <p:cNvPr id="211" name="Can 18"/>
            <p:cNvSpPr>
              <a:spLocks noChangeArrowheads="1"/>
            </p:cNvSpPr>
            <p:nvPr/>
          </p:nvSpPr>
          <p:spPr bwMode="auto">
            <a:xfrm>
              <a:off x="5749092" y="3663950"/>
              <a:ext cx="289758" cy="286142"/>
            </a:xfrm>
            <a:prstGeom prst="can">
              <a:avLst>
                <a:gd name="adj" fmla="val 25000"/>
              </a:avLst>
            </a:prstGeom>
            <a:solidFill>
              <a:srgbClr val="FF6666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</a:endParaRPr>
            </a:p>
          </p:txBody>
        </p:sp>
        <p:sp>
          <p:nvSpPr>
            <p:cNvPr id="212" name="Can 19"/>
            <p:cNvSpPr>
              <a:spLocks noChangeArrowheads="1"/>
            </p:cNvSpPr>
            <p:nvPr/>
          </p:nvSpPr>
          <p:spPr bwMode="auto">
            <a:xfrm>
              <a:off x="5749092" y="4312365"/>
              <a:ext cx="289758" cy="288768"/>
            </a:xfrm>
            <a:prstGeom prst="can">
              <a:avLst>
                <a:gd name="adj" fmla="val 25000"/>
              </a:avLst>
            </a:prstGeom>
            <a:solidFill>
              <a:srgbClr val="FF6666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200" kern="0">
                <a:solidFill>
                  <a:srgbClr val="00B2EF"/>
                </a:solidFill>
                <a:latin typeface="Helvetica" charset="0"/>
              </a:endParaRPr>
            </a:p>
          </p:txBody>
        </p:sp>
        <p:cxnSp>
          <p:nvCxnSpPr>
            <p:cNvPr id="73796" name="Curved Connector 21"/>
            <p:cNvCxnSpPr>
              <a:cxnSpLocks noChangeShapeType="1"/>
              <a:stCxn id="207" idx="3"/>
              <a:endCxn id="210" idx="2"/>
            </p:cNvCxnSpPr>
            <p:nvPr/>
          </p:nvCxnSpPr>
          <p:spPr bwMode="auto">
            <a:xfrm>
              <a:off x="4633913" y="3808413"/>
              <a:ext cx="396875" cy="368300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797" name="Curved Connector 23"/>
            <p:cNvCxnSpPr>
              <a:cxnSpLocks noChangeShapeType="1"/>
              <a:stCxn id="209" idx="3"/>
              <a:endCxn id="210" idx="2"/>
            </p:cNvCxnSpPr>
            <p:nvPr/>
          </p:nvCxnSpPr>
          <p:spPr bwMode="auto">
            <a:xfrm flipV="1">
              <a:off x="4633913" y="4176713"/>
              <a:ext cx="396875" cy="350837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798" name="Curved Connector 25"/>
            <p:cNvCxnSpPr>
              <a:cxnSpLocks noChangeShapeType="1"/>
              <a:stCxn id="208" idx="3"/>
              <a:endCxn id="210" idx="2"/>
            </p:cNvCxnSpPr>
            <p:nvPr/>
          </p:nvCxnSpPr>
          <p:spPr bwMode="auto">
            <a:xfrm>
              <a:off x="4633913" y="4167188"/>
              <a:ext cx="396875" cy="9525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799" name="Curved Connector 27"/>
            <p:cNvCxnSpPr>
              <a:cxnSpLocks noChangeShapeType="1"/>
              <a:stCxn id="210" idx="5"/>
              <a:endCxn id="211" idx="2"/>
            </p:cNvCxnSpPr>
            <p:nvPr/>
          </p:nvCxnSpPr>
          <p:spPr bwMode="auto">
            <a:xfrm flipV="1">
              <a:off x="5391150" y="3808413"/>
              <a:ext cx="358775" cy="27781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800" name="Curved Connector 29"/>
            <p:cNvCxnSpPr>
              <a:cxnSpLocks noChangeShapeType="1"/>
              <a:stCxn id="210" idx="5"/>
              <a:endCxn id="212" idx="2"/>
            </p:cNvCxnSpPr>
            <p:nvPr/>
          </p:nvCxnSpPr>
          <p:spPr bwMode="auto">
            <a:xfrm>
              <a:off x="5391150" y="4086225"/>
              <a:ext cx="358775" cy="369888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218" name="Rectangle 217"/>
          <p:cNvSpPr/>
          <p:nvPr/>
        </p:nvSpPr>
        <p:spPr>
          <a:xfrm>
            <a:off x="3200400" y="5508625"/>
            <a:ext cx="2743200" cy="762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rPr>
              <a:t>Workload Orchestration</a:t>
            </a:r>
            <a:endParaRPr lang="en-US" sz="1200" b="1" kern="0" dirty="0">
              <a:solidFill>
                <a:srgbClr val="FFFFFF"/>
              </a:solidFill>
              <a:latin typeface="Arial" panose="020B0604020202020204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rPr>
              <a:t> Workload aware placement, optimization and operation</a:t>
            </a:r>
            <a:endParaRPr lang="en-US" sz="1400" b="1" kern="0" dirty="0">
              <a:solidFill>
                <a:srgbClr val="FFFFFF"/>
              </a:solidFill>
              <a:latin typeface="Arial" panose="020B0604020202020204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304800" y="5421313"/>
            <a:ext cx="2590800" cy="8890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0180" indent="-170180" algn="ctr" eaLnBrk="0" hangingPunct="0">
              <a:lnSpc>
                <a:spcPct val="90000"/>
              </a:lnSpc>
              <a:buClr>
                <a:srgbClr val="000000"/>
              </a:buClr>
              <a:defRPr/>
            </a:pPr>
            <a:r>
              <a:rPr lang="en-US" sz="1600" b="1" dirty="0">
                <a:solidFill>
                  <a:srgbClr val="FFFFFF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rPr>
              <a:t>Resource Orchestration</a:t>
            </a:r>
            <a:endParaRPr lang="en-US" sz="1200" b="1" dirty="0">
              <a:solidFill>
                <a:srgbClr val="FFFFFF"/>
              </a:solidFill>
              <a:latin typeface="Helvetica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170180" indent="-170180" algn="ctr" eaLnBrk="0" hangingPunct="0">
              <a:lnSpc>
                <a:spcPct val="90000"/>
              </a:lnSpc>
              <a:buClr>
                <a:srgbClr val="000000"/>
              </a:buClr>
              <a:defRPr/>
            </a:pPr>
            <a:r>
              <a:rPr lang="en-US" sz="1400" b="1" dirty="0">
                <a:solidFill>
                  <a:srgbClr val="FFFFFF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rPr>
              <a:t>Onboard, provision, manage CPU, Storage and Network</a:t>
            </a:r>
            <a:endParaRPr lang="en-US" sz="1000" b="1" kern="0" dirty="0">
              <a:solidFill>
                <a:srgbClr val="FFFFFF"/>
              </a:solidFill>
              <a:latin typeface="Arial" panose="020B0604020202020204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6324600" y="5468938"/>
            <a:ext cx="2590800" cy="762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rPr>
              <a:t>Service Orchestration</a:t>
            </a:r>
            <a:endParaRPr lang="en-US" sz="1050" b="1" kern="0" dirty="0">
              <a:solidFill>
                <a:srgbClr val="FFFFFF"/>
              </a:solidFill>
              <a:latin typeface="Arial" panose="020B0604020202020204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solidFill>
                  <a:srgbClr val="FFFFFF"/>
                </a:solidFill>
                <a:latin typeface="Arial" panose="020B0604020202020204"/>
                <a:ea typeface="MS PGothic" panose="020B0600070205080204" pitchFamily="34" charset="-128"/>
                <a:cs typeface="MS PGothic" panose="020B0600070205080204" pitchFamily="34" charset="-128"/>
              </a:rPr>
              <a:t>Manage the lifecycle of business applications</a:t>
            </a:r>
            <a:endParaRPr lang="en-US" sz="1400" b="1" kern="0" dirty="0">
              <a:solidFill>
                <a:srgbClr val="FFFFFF"/>
              </a:solidFill>
              <a:latin typeface="Arial" panose="020B0604020202020204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22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897438"/>
            <a:ext cx="1295400" cy="56673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2999"/>
              </a:srgbClr>
            </a:outerShdw>
          </a:effectLst>
        </p:spPr>
      </p:pic>
      <p:pic>
        <p:nvPicPr>
          <p:cNvPr id="73768" name="cloud"/>
          <p:cNvPicPr/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3962400" y="3916363"/>
            <a:ext cx="13604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69" name="cloud"/>
          <p:cNvPicPr/>
          <p:nvPr>
            <p:custDataLst>
              <p:tags r:id="rId8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3059113" y="3840163"/>
            <a:ext cx="136048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70" name="cloud"/>
          <p:cNvPicPr/>
          <p:nvPr>
            <p:custDataLst>
              <p:tags r:id="rId9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5638800" y="3805238"/>
            <a:ext cx="13604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3771" name="AutoShape 106"/>
          <p:cNvCxnSpPr>
            <a:cxnSpLocks noChangeShapeType="1"/>
          </p:cNvCxnSpPr>
          <p:nvPr/>
        </p:nvCxnSpPr>
        <p:spPr bwMode="auto">
          <a:xfrm>
            <a:off x="1524000" y="4006850"/>
            <a:ext cx="2157413" cy="287338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rgbClr val="000000"/>
            </a:solidFill>
            <a:prstDash val="dash"/>
            <a:miter lim="800000"/>
            <a:tailEnd type="triangle" w="med" len="med"/>
          </a:ln>
        </p:spPr>
      </p:cxnSp>
      <p:grpSp>
        <p:nvGrpSpPr>
          <p:cNvPr id="73772" name="Group 205"/>
          <p:cNvGrpSpPr/>
          <p:nvPr/>
        </p:nvGrpSpPr>
        <p:grpSpPr bwMode="auto">
          <a:xfrm>
            <a:off x="3276600" y="3230563"/>
            <a:ext cx="3200400" cy="873125"/>
            <a:chOff x="533400" y="5331813"/>
            <a:chExt cx="4868629" cy="1297587"/>
          </a:xfrm>
        </p:grpSpPr>
        <p:pic>
          <p:nvPicPr>
            <p:cNvPr id="73774" name="Picture 25" descr="SDP_Arrows_WithGlow"/>
            <p:cNvPicPr>
              <a:picLocks noChangeAspect="1" noChangeArrowheads="1"/>
            </p:cNvPicPr>
            <p:nvPr/>
          </p:nvPicPr>
          <p:blipFill>
            <a:blip r:embed="rId10"/>
            <a:srcRect l="1636" r="1636" b="77119"/>
            <a:stretch>
              <a:fillRect/>
            </a:stretch>
          </p:blipFill>
          <p:spPr bwMode="auto">
            <a:xfrm>
              <a:off x="533400" y="5331813"/>
              <a:ext cx="4868629" cy="1297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3775" name="Group 204"/>
            <p:cNvGrpSpPr/>
            <p:nvPr/>
          </p:nvGrpSpPr>
          <p:grpSpPr bwMode="auto">
            <a:xfrm>
              <a:off x="3581398" y="5562600"/>
              <a:ext cx="893269" cy="762000"/>
              <a:chOff x="4175038" y="5410200"/>
              <a:chExt cx="930693" cy="841151"/>
            </a:xfrm>
          </p:grpSpPr>
          <p:pic>
            <p:nvPicPr>
              <p:cNvPr id="73787" name="Picture 184" descr="servers.png"/>
              <p:cNvPicPr>
                <a:picLocks noChangeAspect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175038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3788" name="Picture 180" descr="servers.png"/>
              <p:cNvPicPr>
                <a:picLocks noChangeAspect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343400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3789" name="TextBox 181"/>
              <p:cNvSpPr txBox="1">
                <a:spLocks noChangeArrowheads="1"/>
              </p:cNvSpPr>
              <p:nvPr/>
            </p:nvSpPr>
            <p:spPr bwMode="auto">
              <a:xfrm>
                <a:off x="4267199" y="5632898"/>
                <a:ext cx="838532" cy="4056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100" b="1">
                    <a:solidFill>
                      <a:srgbClr val="FFFFFF"/>
                    </a:solidFill>
                    <a:latin typeface="Arial Black" panose="020B0A04020102020204" pitchFamily="34" charset="0"/>
                  </a:rPr>
                  <a:t>DB</a:t>
                </a:r>
                <a:endParaRPr lang="en-US" sz="1100" b="1">
                  <a:solidFill>
                    <a:srgbClr val="FFFFFF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73776" name="Group 202"/>
            <p:cNvGrpSpPr/>
            <p:nvPr/>
          </p:nvGrpSpPr>
          <p:grpSpPr bwMode="auto">
            <a:xfrm>
              <a:off x="2438400" y="5559649"/>
              <a:ext cx="1143000" cy="841151"/>
              <a:chOff x="2743200" y="5410200"/>
              <a:chExt cx="1143000" cy="841151"/>
            </a:xfrm>
          </p:grpSpPr>
          <p:pic>
            <p:nvPicPr>
              <p:cNvPr id="73783" name="Picture 177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2743200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3784" name="Picture 178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3032038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3785" name="Picture 179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3260638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3786" name="TextBox 183"/>
              <p:cNvSpPr txBox="1">
                <a:spLocks noChangeArrowheads="1"/>
              </p:cNvSpPr>
              <p:nvPr/>
            </p:nvSpPr>
            <p:spPr bwMode="auto">
              <a:xfrm>
                <a:off x="2971801" y="5633457"/>
                <a:ext cx="838531" cy="3675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100" b="1">
                    <a:solidFill>
                      <a:srgbClr val="FFFFFF"/>
                    </a:solidFill>
                    <a:latin typeface="Arial Black" panose="020B0A04020102020204" pitchFamily="34" charset="0"/>
                  </a:rPr>
                  <a:t>App</a:t>
                </a:r>
                <a:endParaRPr lang="en-US" sz="1100" b="1">
                  <a:solidFill>
                    <a:srgbClr val="FFFFFF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73777" name="Group 201"/>
            <p:cNvGrpSpPr/>
            <p:nvPr/>
          </p:nvGrpSpPr>
          <p:grpSpPr bwMode="auto">
            <a:xfrm>
              <a:off x="1447800" y="5632898"/>
              <a:ext cx="990930" cy="844102"/>
              <a:chOff x="1371600" y="5407249"/>
              <a:chExt cx="990930" cy="844102"/>
            </a:xfrm>
          </p:grpSpPr>
          <p:pic>
            <p:nvPicPr>
              <p:cNvPr id="73778" name="Picture 171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1524000" y="5407249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3779" name="Picture 175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1371600" y="5407249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3780" name="Picture 176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1584238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3781" name="Picture 185" descr="servers.png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1736638" y="5410200"/>
                <a:ext cx="625562" cy="84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3782" name="TextBox 182"/>
              <p:cNvSpPr txBox="1">
                <a:spLocks noChangeArrowheads="1"/>
              </p:cNvSpPr>
              <p:nvPr/>
            </p:nvSpPr>
            <p:spPr bwMode="auto">
              <a:xfrm>
                <a:off x="1524000" y="5630414"/>
                <a:ext cx="838530" cy="3675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100" b="1">
                    <a:solidFill>
                      <a:srgbClr val="FFFFFF"/>
                    </a:solidFill>
                    <a:latin typeface="Arial Black" panose="020B0A04020102020204" pitchFamily="34" charset="0"/>
                  </a:rPr>
                  <a:t>Web</a:t>
                </a:r>
                <a:endParaRPr lang="en-US" sz="1100" b="1">
                  <a:solidFill>
                    <a:srgbClr val="FFFFFF"/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120" name="Title 1"/>
          <p:cNvSpPr txBox="1"/>
          <p:nvPr/>
        </p:nvSpPr>
        <p:spPr>
          <a:xfrm>
            <a:off x="937210" y="192881"/>
            <a:ext cx="5700713" cy="7048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 cap="small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r>
              <a:rPr lang="en-US" dirty="0"/>
              <a:t>DevOps Solution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2"/>
          <p:cNvSpPr>
            <a:spLocks noGrp="1"/>
          </p:cNvSpPr>
          <p:nvPr>
            <p:ph type="title" idx="4294967295"/>
          </p:nvPr>
        </p:nvSpPr>
        <p:spPr>
          <a:xfrm>
            <a:off x="985838" y="192088"/>
            <a:ext cx="5521326" cy="403225"/>
          </a:xfrm>
        </p:spPr>
        <p:txBody>
          <a:bodyPr/>
          <a:lstStyle/>
          <a:p>
            <a:pPr eaLnBrk="1" hangingPunct="1"/>
            <a:r>
              <a:rPr lang="en-US" sz="2400" dirty="0"/>
              <a:t>Automating application deployment </a:t>
            </a:r>
            <a:br>
              <a:rPr lang="en-US" sz="2400" dirty="0"/>
            </a:br>
            <a:r>
              <a:rPr lang="en-US" sz="2400" dirty="0"/>
              <a:t>to cloud resources</a:t>
            </a:r>
            <a:endParaRPr lang="en-US" sz="2400" dirty="0"/>
          </a:p>
        </p:txBody>
      </p:sp>
      <p:sp>
        <p:nvSpPr>
          <p:cNvPr id="75778" name="CustomShape 1"/>
          <p:cNvSpPr>
            <a:spLocks noChangeArrowheads="1"/>
          </p:cNvSpPr>
          <p:nvPr/>
        </p:nvSpPr>
        <p:spPr bwMode="auto">
          <a:xfrm>
            <a:off x="990600" y="3198813"/>
            <a:ext cx="3100388" cy="144462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CE0F2"/>
              </a:gs>
              <a:gs pos="100000">
                <a:srgbClr val="61C0E0"/>
              </a:gs>
            </a:gsLst>
            <a:lin ang="5400000"/>
          </a:gradFill>
          <a:ln w="12600">
            <a:solidFill>
              <a:srgbClr val="39A5E5"/>
            </a:solidFill>
            <a:round/>
          </a:ln>
        </p:spPr>
        <p:txBody>
          <a:bodyPr lIns="81639" tIns="40820" rIns="81639" bIns="40820" anchor="b"/>
          <a:lstStyle/>
          <a:p>
            <a:pPr algn="ctr" defTabSz="457200"/>
            <a:r>
              <a:rPr lang="en-US" sz="1100">
                <a:solidFill>
                  <a:srgbClr val="000000"/>
                </a:solidFill>
                <a:latin typeface="Calibri" panose="020F0502020204030204" charset="0"/>
              </a:rPr>
              <a:t>Cloud Resources  (DEV)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79" name="CustomShape 2"/>
          <p:cNvSpPr>
            <a:spLocks noChangeArrowheads="1"/>
          </p:cNvSpPr>
          <p:nvPr/>
        </p:nvSpPr>
        <p:spPr bwMode="auto">
          <a:xfrm>
            <a:off x="4238625" y="3198813"/>
            <a:ext cx="3038475" cy="144462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CE0F2"/>
              </a:gs>
              <a:gs pos="100000">
                <a:srgbClr val="61C0E0"/>
              </a:gs>
            </a:gsLst>
            <a:lin ang="5400000"/>
          </a:gradFill>
          <a:ln w="12600">
            <a:solidFill>
              <a:srgbClr val="39A5E5"/>
            </a:solidFill>
            <a:round/>
          </a:ln>
        </p:spPr>
        <p:txBody>
          <a:bodyPr lIns="81639" tIns="40820" rIns="81639" bIns="40820" anchor="b"/>
          <a:lstStyle/>
          <a:p>
            <a:pPr algn="ctr" defTabSz="457200"/>
            <a:r>
              <a:rPr lang="en-US" sz="1100">
                <a:solidFill>
                  <a:srgbClr val="000000"/>
                </a:solidFill>
                <a:latin typeface="Calibri" panose="020F0502020204030204" charset="0"/>
              </a:rPr>
              <a:t>Cloud Resources (PROD)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0" name="CustomShape 4"/>
          <p:cNvSpPr>
            <a:spLocks noChangeArrowheads="1"/>
          </p:cNvSpPr>
          <p:nvPr/>
        </p:nvSpPr>
        <p:spPr bwMode="auto">
          <a:xfrm>
            <a:off x="1700213" y="1192213"/>
            <a:ext cx="4811712" cy="161448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D6D6D6"/>
              </a:gs>
              <a:gs pos="100000">
                <a:srgbClr val="ADADAD"/>
              </a:gs>
            </a:gsLst>
            <a:lin ang="5400000"/>
          </a:gradFill>
          <a:ln w="12600">
            <a:solidFill>
              <a:srgbClr val="A6A6A6"/>
            </a:solidFill>
            <a:round/>
          </a:ln>
        </p:spPr>
        <p:txBody>
          <a:bodyPr lIns="81639" tIns="40820" rIns="81639" bIns="40820"/>
          <a:lstStyle/>
          <a:p>
            <a:pPr algn="ctr" defTabSz="457200"/>
            <a:r>
              <a:rPr lang="en-US" dirty="0">
                <a:solidFill>
                  <a:srgbClr val="000000"/>
                </a:solidFill>
                <a:latin typeface="Calibri" panose="020F0502020204030204" charset="0"/>
              </a:rPr>
              <a:t>Deployment</a:t>
            </a:r>
            <a:endParaRPr lang="en-US" dirty="0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1" name="CustomShape 5"/>
          <p:cNvSpPr>
            <a:spLocks noChangeArrowheads="1"/>
          </p:cNvSpPr>
          <p:nvPr/>
        </p:nvSpPr>
        <p:spPr bwMode="auto">
          <a:xfrm>
            <a:off x="1828800" y="2182813"/>
            <a:ext cx="4530725" cy="53498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525252"/>
              </a:gs>
              <a:gs pos="100000">
                <a:srgbClr val="262626"/>
              </a:gs>
            </a:gsLst>
            <a:lin ang="5400000"/>
          </a:gradFill>
          <a:ln w="12600">
            <a:solidFill>
              <a:srgbClr val="666666"/>
            </a:solidFill>
            <a:round/>
          </a:ln>
        </p:spPr>
        <p:txBody>
          <a:bodyPr lIns="81639" tIns="40820" rIns="81639" bIns="40820"/>
          <a:lstStyle/>
          <a:p>
            <a:pPr defTabSz="457200"/>
            <a:r>
              <a:rPr lang="en-US" sz="1000">
                <a:solidFill>
                  <a:srgbClr val="FFFFFF"/>
                </a:solidFill>
                <a:latin typeface="Calibri" panose="020F0502020204030204" charset="0"/>
              </a:rPr>
              <a:t>Environments</a:t>
            </a:r>
            <a:endParaRPr lang="en-US" sz="1000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2" name="CustomShape 6"/>
          <p:cNvSpPr>
            <a:spLocks noChangeArrowheads="1"/>
          </p:cNvSpPr>
          <p:nvPr/>
        </p:nvSpPr>
        <p:spPr bwMode="auto">
          <a:xfrm>
            <a:off x="3030538" y="2422525"/>
            <a:ext cx="939800" cy="2111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383BD"/>
              </a:gs>
              <a:gs pos="100000">
                <a:srgbClr val="037BB1"/>
              </a:gs>
            </a:gsLst>
            <a:lin ang="5400000"/>
          </a:gradFill>
          <a:ln w="12600">
            <a:solidFill>
              <a:srgbClr val="00709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</a:rPr>
              <a:t>QA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3" name="CustomShape 7"/>
          <p:cNvSpPr>
            <a:spLocks noChangeArrowheads="1"/>
          </p:cNvSpPr>
          <p:nvPr/>
        </p:nvSpPr>
        <p:spPr bwMode="auto">
          <a:xfrm>
            <a:off x="4086225" y="2422525"/>
            <a:ext cx="998538" cy="2111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383BD"/>
              </a:gs>
              <a:gs pos="100000">
                <a:srgbClr val="037BB1"/>
              </a:gs>
            </a:gsLst>
            <a:lin ang="5400000"/>
          </a:gradFill>
          <a:ln w="12600">
            <a:solidFill>
              <a:srgbClr val="00709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</a:rPr>
              <a:t>...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4" name="CustomShape 8"/>
          <p:cNvSpPr>
            <a:spLocks noChangeArrowheads="1"/>
          </p:cNvSpPr>
          <p:nvPr/>
        </p:nvSpPr>
        <p:spPr bwMode="auto">
          <a:xfrm>
            <a:off x="5213350" y="2422525"/>
            <a:ext cx="1047750" cy="2111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383BD"/>
              </a:gs>
              <a:gs pos="100000">
                <a:srgbClr val="037BB1"/>
              </a:gs>
            </a:gsLst>
            <a:lin ang="5400000"/>
          </a:gradFill>
          <a:ln w="12600">
            <a:solidFill>
              <a:srgbClr val="00709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</a:rPr>
              <a:t>PROD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pic>
        <p:nvPicPr>
          <p:cNvPr id="75785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06500" y="2717800"/>
            <a:ext cx="255905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86" name="CustomShape 9"/>
          <p:cNvSpPr>
            <a:spLocks noChangeArrowheads="1"/>
          </p:cNvSpPr>
          <p:nvPr/>
        </p:nvSpPr>
        <p:spPr bwMode="auto">
          <a:xfrm>
            <a:off x="1087438" y="3317875"/>
            <a:ext cx="2884487" cy="45878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564AB">
                  <a:alpha val="62000"/>
                </a:srgbClr>
              </a:gs>
              <a:gs pos="100000">
                <a:srgbClr val="0F388A">
                  <a:alpha val="62000"/>
                </a:srgbClr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/>
          <a:lstStyle/>
          <a:p>
            <a:pPr algn="ctr" defTabSz="457200"/>
            <a:r>
              <a:rPr lang="en-US" sz="1000">
                <a:solidFill>
                  <a:srgbClr val="FFFFFF"/>
                </a:solidFill>
              </a:rPr>
              <a:t>World-Wide Banking Application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7" name="CustomShape 10"/>
          <p:cNvSpPr>
            <a:spLocks noChangeArrowheads="1"/>
          </p:cNvSpPr>
          <p:nvPr/>
        </p:nvSpPr>
        <p:spPr bwMode="auto">
          <a:xfrm>
            <a:off x="1138238" y="3540125"/>
            <a:ext cx="608012" cy="177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7893F">
                  <a:alpha val="60999"/>
                </a:srgbClr>
              </a:gs>
              <a:gs pos="100000">
                <a:srgbClr val="C34B1B">
                  <a:alpha val="60999"/>
                </a:srgbClr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war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8" name="CustomShape 11"/>
          <p:cNvSpPr>
            <a:spLocks noChangeArrowheads="1"/>
          </p:cNvSpPr>
          <p:nvPr/>
        </p:nvSpPr>
        <p:spPr bwMode="auto">
          <a:xfrm>
            <a:off x="2036763" y="3540125"/>
            <a:ext cx="609600" cy="177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7893F">
                  <a:alpha val="60999"/>
                </a:srgbClr>
              </a:gs>
              <a:gs pos="100000">
                <a:srgbClr val="C34B1B">
                  <a:alpha val="60999"/>
                </a:srgbClr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ddl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89" name="CustomShape 12"/>
          <p:cNvSpPr>
            <a:spLocks noChangeArrowheads="1"/>
          </p:cNvSpPr>
          <p:nvPr/>
        </p:nvSpPr>
        <p:spPr bwMode="auto">
          <a:xfrm>
            <a:off x="3021013" y="3540125"/>
            <a:ext cx="608012" cy="177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7893F">
                  <a:alpha val="60999"/>
                </a:srgbClr>
              </a:gs>
              <a:gs pos="100000">
                <a:srgbClr val="C34B1B">
                  <a:alpha val="60999"/>
                </a:srgbClr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mq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pic>
        <p:nvPicPr>
          <p:cNvPr id="75790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452938" y="2717800"/>
            <a:ext cx="255905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91" name="CustomShape 13"/>
          <p:cNvSpPr>
            <a:spLocks noChangeArrowheads="1"/>
          </p:cNvSpPr>
          <p:nvPr/>
        </p:nvSpPr>
        <p:spPr bwMode="auto">
          <a:xfrm>
            <a:off x="4303713" y="3317875"/>
            <a:ext cx="2884487" cy="469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564AB">
                  <a:alpha val="62000"/>
                </a:srgbClr>
              </a:gs>
              <a:gs pos="100000">
                <a:srgbClr val="0F388A">
                  <a:alpha val="62000"/>
                </a:srgbClr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/>
          <a:lstStyle/>
          <a:p>
            <a:pPr algn="ctr" defTabSz="457200"/>
            <a:r>
              <a:rPr lang="en-US" sz="1000">
                <a:solidFill>
                  <a:srgbClr val="FFFFFF"/>
                </a:solidFill>
              </a:rPr>
              <a:t>World-Wide Banking Application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92" name="CustomShape 14"/>
          <p:cNvSpPr>
            <a:spLocks noChangeArrowheads="1"/>
          </p:cNvSpPr>
          <p:nvPr/>
        </p:nvSpPr>
        <p:spPr bwMode="auto">
          <a:xfrm>
            <a:off x="4354513" y="3551238"/>
            <a:ext cx="608012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7893F">
                  <a:alpha val="60999"/>
                </a:srgbClr>
              </a:gs>
              <a:gs pos="100000">
                <a:srgbClr val="C34B1B">
                  <a:alpha val="60999"/>
                </a:srgbClr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war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93" name="CustomShape 15"/>
          <p:cNvSpPr>
            <a:spLocks noChangeArrowheads="1"/>
          </p:cNvSpPr>
          <p:nvPr/>
        </p:nvSpPr>
        <p:spPr bwMode="auto">
          <a:xfrm>
            <a:off x="5795963" y="3551238"/>
            <a:ext cx="608012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7893F">
                  <a:alpha val="60999"/>
                </a:srgbClr>
              </a:gs>
              <a:gs pos="100000">
                <a:srgbClr val="C34B1B">
                  <a:alpha val="60999"/>
                </a:srgbClr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ddl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94" name="CustomShape 16"/>
          <p:cNvSpPr>
            <a:spLocks noChangeArrowheads="1"/>
          </p:cNvSpPr>
          <p:nvPr/>
        </p:nvSpPr>
        <p:spPr bwMode="auto">
          <a:xfrm>
            <a:off x="6507163" y="3551238"/>
            <a:ext cx="608012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7893F">
                  <a:alpha val="60999"/>
                </a:srgbClr>
              </a:gs>
              <a:gs pos="100000">
                <a:srgbClr val="C34B1B">
                  <a:alpha val="60999"/>
                </a:srgbClr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mq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pic>
        <p:nvPicPr>
          <p:cNvPr id="75795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7363" y="4159250"/>
            <a:ext cx="14351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96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0563" y="4159250"/>
            <a:ext cx="14351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9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46913" y="4379913"/>
            <a:ext cx="379412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98" name="CustomShape 18"/>
          <p:cNvSpPr>
            <a:spLocks noChangeArrowheads="1"/>
          </p:cNvSpPr>
          <p:nvPr/>
        </p:nvSpPr>
        <p:spPr bwMode="auto">
          <a:xfrm>
            <a:off x="7223125" y="3640138"/>
            <a:ext cx="1296988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/>
          <a:lstStyle/>
          <a:p>
            <a:pPr algn="ctr" defTabSz="457200"/>
            <a:r>
              <a:rPr lang="en-US" sz="900">
                <a:solidFill>
                  <a:srgbClr val="000000"/>
                </a:solidFill>
                <a:latin typeface="Calibri" panose="020F0502020204030204" charset="0"/>
              </a:rPr>
              <a:t>Pattern Parameters 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  <a:p>
            <a:pPr algn="ctr" defTabSz="457200"/>
            <a:r>
              <a:rPr lang="en-US" sz="900">
                <a:solidFill>
                  <a:srgbClr val="000000"/>
                </a:solidFill>
                <a:latin typeface="Calibri" panose="020F0502020204030204" charset="0"/>
              </a:rPr>
              <a:t>can be supplied by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  <a:p>
            <a:pPr algn="ctr" defTabSz="457200"/>
            <a:r>
              <a:rPr lang="en-US" sz="900">
                <a:solidFill>
                  <a:srgbClr val="000000"/>
                </a:solidFill>
                <a:latin typeface="Calibri" panose="020F0502020204030204" charset="0"/>
              </a:rPr>
              <a:t>Properties from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  <a:p>
            <a:pPr algn="ctr" defTabSz="457200"/>
            <a:r>
              <a:rPr lang="en-US" sz="900">
                <a:solidFill>
                  <a:srgbClr val="000000"/>
                </a:solidFill>
                <a:latin typeface="Calibri" panose="020F0502020204030204" charset="0"/>
              </a:rPr>
              <a:t>UC Deploy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799" name="CustomShape 19"/>
          <p:cNvSpPr>
            <a:spLocks noChangeArrowheads="1"/>
          </p:cNvSpPr>
          <p:nvPr/>
        </p:nvSpPr>
        <p:spPr bwMode="auto">
          <a:xfrm flipH="1">
            <a:off x="7472363" y="4425950"/>
            <a:ext cx="303212" cy="227013"/>
          </a:xfrm>
          <a:prstGeom prst="rightArrow">
            <a:avLst>
              <a:gd name="adj1" fmla="val 50000"/>
              <a:gd name="adj2" fmla="val 50013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pic>
        <p:nvPicPr>
          <p:cNvPr id="758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93800" y="4703763"/>
            <a:ext cx="27432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801" name="CustomShape 22"/>
          <p:cNvSpPr>
            <a:spLocks noChangeArrowheads="1"/>
          </p:cNvSpPr>
          <p:nvPr/>
        </p:nvSpPr>
        <p:spPr bwMode="auto">
          <a:xfrm>
            <a:off x="1854200" y="1624013"/>
            <a:ext cx="4505325" cy="46355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Ctr="1"/>
          <a:lstStyle/>
          <a:p>
            <a:pPr algn="ctr" defTabSz="457200"/>
            <a:r>
              <a:rPr lang="en-US" sz="1000">
                <a:solidFill>
                  <a:srgbClr val="FFFFFF"/>
                </a:solidFill>
              </a:rPr>
              <a:t>World-Wide Banking Application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02" name="CustomShape 23"/>
          <p:cNvSpPr>
            <a:spLocks noChangeArrowheads="1"/>
          </p:cNvSpPr>
          <p:nvPr/>
        </p:nvSpPr>
        <p:spPr bwMode="auto">
          <a:xfrm>
            <a:off x="3122613" y="1846263"/>
            <a:ext cx="608012" cy="176212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7893F"/>
              </a:gs>
              <a:gs pos="100000">
                <a:srgbClr val="C34B1B"/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war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03" name="CustomShape 24"/>
          <p:cNvSpPr>
            <a:spLocks noChangeArrowheads="1"/>
          </p:cNvSpPr>
          <p:nvPr/>
        </p:nvSpPr>
        <p:spPr bwMode="auto">
          <a:xfrm>
            <a:off x="3811588" y="1846263"/>
            <a:ext cx="608012" cy="176212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7893F"/>
              </a:gs>
              <a:gs pos="100000">
                <a:srgbClr val="C34B1B"/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ddl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04" name="CustomShape 25"/>
          <p:cNvSpPr>
            <a:spLocks noChangeArrowheads="1"/>
          </p:cNvSpPr>
          <p:nvPr/>
        </p:nvSpPr>
        <p:spPr bwMode="auto">
          <a:xfrm>
            <a:off x="4494213" y="1846263"/>
            <a:ext cx="608012" cy="176212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7893F"/>
              </a:gs>
              <a:gs pos="100000">
                <a:srgbClr val="C34B1B"/>
              </a:gs>
            </a:gsLst>
            <a:lin ang="5400000"/>
          </a:gradFill>
          <a:ln w="12600">
            <a:solidFill>
              <a:srgbClr val="D9541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900">
                <a:solidFill>
                  <a:srgbClr val="FFFFFF"/>
                </a:solidFill>
              </a:rPr>
              <a:t>mq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05" name="CustomShape 26"/>
          <p:cNvSpPr>
            <a:spLocks noChangeArrowheads="1"/>
          </p:cNvSpPr>
          <p:nvPr/>
        </p:nvSpPr>
        <p:spPr bwMode="auto">
          <a:xfrm>
            <a:off x="1978025" y="2422525"/>
            <a:ext cx="939800" cy="2111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383BD"/>
              </a:gs>
              <a:gs pos="100000">
                <a:srgbClr val="037BB1"/>
              </a:gs>
            </a:gsLst>
            <a:lin ang="5400000"/>
          </a:gradFill>
          <a:ln w="12600">
            <a:solidFill>
              <a:srgbClr val="00709E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</a:rPr>
              <a:t>DEV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grpSp>
        <p:nvGrpSpPr>
          <p:cNvPr id="75806" name="Group 1"/>
          <p:cNvGrpSpPr/>
          <p:nvPr/>
        </p:nvGrpSpPr>
        <p:grpSpPr bwMode="auto">
          <a:xfrm>
            <a:off x="7010400" y="1953442"/>
            <a:ext cx="1757231" cy="407171"/>
            <a:chOff x="7099876" y="580343"/>
            <a:chExt cx="1908691" cy="441869"/>
          </a:xfrm>
        </p:grpSpPr>
        <p:sp>
          <p:nvSpPr>
            <p:cNvPr id="75842" name="CustomShape 35"/>
            <p:cNvSpPr>
              <a:spLocks noChangeArrowheads="1"/>
            </p:cNvSpPr>
            <p:nvPr/>
          </p:nvSpPr>
          <p:spPr bwMode="auto">
            <a:xfrm>
              <a:off x="8045894" y="607449"/>
              <a:ext cx="962673" cy="165905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1564AB"/>
                </a:gs>
                <a:gs pos="100000">
                  <a:srgbClr val="0F388A"/>
                </a:gs>
              </a:gsLst>
              <a:lin ang="5400000"/>
            </a:gradFill>
            <a:ln w="12600">
              <a:solidFill>
                <a:srgbClr val="1A448A"/>
              </a:solidFill>
              <a:round/>
            </a:ln>
          </p:spPr>
          <p:txBody>
            <a:bodyPr/>
            <a:lstStyle/>
            <a:p>
              <a:pPr defTabSz="457200"/>
              <a:endParaRPr lang="en-US">
                <a:solidFill>
                  <a:srgbClr val="000000"/>
                </a:solidFill>
                <a:latin typeface="Calibri" panose="020F0502020204030204" charset="0"/>
              </a:endParaRPr>
            </a:p>
          </p:txBody>
        </p:sp>
        <p:sp>
          <p:nvSpPr>
            <p:cNvPr id="75843" name="CustomShape 36"/>
            <p:cNvSpPr>
              <a:spLocks noChangeArrowheads="1"/>
            </p:cNvSpPr>
            <p:nvPr/>
          </p:nvSpPr>
          <p:spPr bwMode="auto">
            <a:xfrm>
              <a:off x="7099876" y="580343"/>
              <a:ext cx="838583" cy="1737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ctr"/>
            <a:lstStyle/>
            <a:p>
              <a:pPr algn="r" defTabSz="457200"/>
              <a:r>
                <a:rPr lang="en-US" sz="900" b="1">
                  <a:solidFill>
                    <a:srgbClr val="000000"/>
                  </a:solidFill>
                  <a:latin typeface="Calibri" panose="020F0502020204030204" charset="0"/>
                </a:rPr>
                <a:t>Application</a:t>
              </a:r>
              <a:endParaRPr lang="en-US">
                <a:solidFill>
                  <a:srgbClr val="000000"/>
                </a:solidFill>
                <a:latin typeface="Calibri" panose="020F0502020204030204" charset="0"/>
              </a:endParaRPr>
            </a:p>
          </p:txBody>
        </p:sp>
        <p:sp>
          <p:nvSpPr>
            <p:cNvPr id="75844" name="CustomShape 37"/>
            <p:cNvSpPr>
              <a:spLocks noChangeArrowheads="1"/>
            </p:cNvSpPr>
            <p:nvPr/>
          </p:nvSpPr>
          <p:spPr bwMode="auto">
            <a:xfrm>
              <a:off x="8042629" y="856307"/>
              <a:ext cx="965938" cy="165905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E7893F"/>
                </a:gs>
                <a:gs pos="100000">
                  <a:srgbClr val="C34B1B"/>
                </a:gs>
              </a:gsLst>
              <a:lin ang="5400000"/>
            </a:gradFill>
            <a:ln w="12600">
              <a:solidFill>
                <a:srgbClr val="D9541E"/>
              </a:solidFill>
              <a:round/>
            </a:ln>
          </p:spPr>
          <p:txBody>
            <a:bodyPr/>
            <a:lstStyle/>
            <a:p>
              <a:pPr defTabSz="457200"/>
              <a:endParaRPr lang="en-US">
                <a:solidFill>
                  <a:srgbClr val="000000"/>
                </a:solidFill>
                <a:latin typeface="Calibri" panose="020F0502020204030204" charset="0"/>
              </a:endParaRPr>
            </a:p>
          </p:txBody>
        </p:sp>
        <p:sp>
          <p:nvSpPr>
            <p:cNvPr id="75845" name="CustomShape 38"/>
            <p:cNvSpPr>
              <a:spLocks noChangeArrowheads="1"/>
            </p:cNvSpPr>
            <p:nvPr/>
          </p:nvSpPr>
          <p:spPr bwMode="auto">
            <a:xfrm>
              <a:off x="7099876" y="841611"/>
              <a:ext cx="838583" cy="1737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ctr"/>
            <a:lstStyle/>
            <a:p>
              <a:pPr algn="r" defTabSz="457200"/>
              <a:r>
                <a:rPr lang="en-US" sz="900" b="1">
                  <a:solidFill>
                    <a:srgbClr val="000000"/>
                  </a:solidFill>
                  <a:latin typeface="Calibri" panose="020F0502020204030204" charset="0"/>
                </a:rPr>
                <a:t>Component</a:t>
              </a:r>
              <a:endParaRPr lang="en-US">
                <a:solidFill>
                  <a:srgbClr val="000000"/>
                </a:solidFill>
                <a:latin typeface="Calibri" panose="020F0502020204030204" charset="0"/>
              </a:endParaRPr>
            </a:p>
          </p:txBody>
        </p:sp>
      </p:grpSp>
      <p:pic>
        <p:nvPicPr>
          <p:cNvPr id="75807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50" y="4160838"/>
            <a:ext cx="2881313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808" name="CustomShape 39"/>
          <p:cNvSpPr>
            <a:spLocks noChangeArrowheads="1"/>
          </p:cNvSpPr>
          <p:nvPr/>
        </p:nvSpPr>
        <p:spPr bwMode="auto">
          <a:xfrm>
            <a:off x="1111250" y="3894138"/>
            <a:ext cx="895350" cy="21113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  <a:latin typeface="Calibri" panose="020F0502020204030204" charset="0"/>
              </a:rPr>
              <a:t>Tomcat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09" name="CustomShape 40"/>
          <p:cNvSpPr>
            <a:spLocks noChangeArrowheads="1"/>
          </p:cNvSpPr>
          <p:nvPr/>
        </p:nvSpPr>
        <p:spPr bwMode="auto">
          <a:xfrm rot="16200000" flipH="1">
            <a:off x="1375569" y="3706019"/>
            <a:ext cx="184150" cy="227012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 vert="eaVert"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0" name="CustomShape 41"/>
          <p:cNvSpPr>
            <a:spLocks noChangeArrowheads="1"/>
          </p:cNvSpPr>
          <p:nvPr/>
        </p:nvSpPr>
        <p:spPr bwMode="auto">
          <a:xfrm>
            <a:off x="2044700" y="3894138"/>
            <a:ext cx="925513" cy="21113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  <a:latin typeface="Calibri" panose="020F0502020204030204" charset="0"/>
              </a:rPr>
              <a:t>MySQL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1" name="CustomShape 42"/>
          <p:cNvSpPr>
            <a:spLocks noChangeArrowheads="1"/>
          </p:cNvSpPr>
          <p:nvPr/>
        </p:nvSpPr>
        <p:spPr bwMode="auto">
          <a:xfrm rot="16200000" flipH="1">
            <a:off x="2277269" y="3706019"/>
            <a:ext cx="184150" cy="227012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 vert="eaVert"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2" name="CustomShape 43"/>
          <p:cNvSpPr>
            <a:spLocks noChangeArrowheads="1"/>
          </p:cNvSpPr>
          <p:nvPr/>
        </p:nvSpPr>
        <p:spPr bwMode="auto">
          <a:xfrm>
            <a:off x="3006725" y="3894138"/>
            <a:ext cx="909638" cy="21113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  <a:latin typeface="Calibri" panose="020F0502020204030204" charset="0"/>
              </a:rPr>
              <a:t>JMS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3" name="CustomShape 44"/>
          <p:cNvSpPr>
            <a:spLocks noChangeArrowheads="1"/>
          </p:cNvSpPr>
          <p:nvPr/>
        </p:nvSpPr>
        <p:spPr bwMode="auto">
          <a:xfrm rot="16200000" flipH="1">
            <a:off x="3270250" y="3705225"/>
            <a:ext cx="18415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 vert="eaVert"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4" name="CustomShape 45"/>
          <p:cNvSpPr>
            <a:spLocks noChangeArrowheads="1"/>
          </p:cNvSpPr>
          <p:nvPr/>
        </p:nvSpPr>
        <p:spPr bwMode="auto">
          <a:xfrm>
            <a:off x="4297363" y="3894138"/>
            <a:ext cx="1420812" cy="21113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  <a:latin typeface="Calibri" panose="020F0502020204030204" charset="0"/>
              </a:rPr>
              <a:t>WebSphere Liberty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5" name="CustomShape 46"/>
          <p:cNvSpPr>
            <a:spLocks noChangeArrowheads="1"/>
          </p:cNvSpPr>
          <p:nvPr/>
        </p:nvSpPr>
        <p:spPr bwMode="auto">
          <a:xfrm rot="16200000" flipH="1">
            <a:off x="4592638" y="3705225"/>
            <a:ext cx="18415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 vert="eaVert"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6" name="CustomShape 47"/>
          <p:cNvSpPr>
            <a:spLocks noChangeArrowheads="1"/>
          </p:cNvSpPr>
          <p:nvPr/>
        </p:nvSpPr>
        <p:spPr bwMode="auto">
          <a:xfrm>
            <a:off x="5770563" y="3894138"/>
            <a:ext cx="665162" cy="21272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  <a:latin typeface="Calibri" panose="020F0502020204030204" charset="0"/>
              </a:rPr>
              <a:t>DB2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7" name="CustomShape 48"/>
          <p:cNvSpPr>
            <a:spLocks noChangeArrowheads="1"/>
          </p:cNvSpPr>
          <p:nvPr/>
        </p:nvSpPr>
        <p:spPr bwMode="auto">
          <a:xfrm rot="16200000" flipH="1">
            <a:off x="6035675" y="3705226"/>
            <a:ext cx="185737" cy="227012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 vert="eaVert"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8" name="CustomShape 49"/>
          <p:cNvSpPr>
            <a:spLocks noChangeArrowheads="1"/>
          </p:cNvSpPr>
          <p:nvPr/>
        </p:nvSpPr>
        <p:spPr bwMode="auto">
          <a:xfrm>
            <a:off x="6492875" y="3894138"/>
            <a:ext cx="663575" cy="21272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564AB"/>
              </a:gs>
              <a:gs pos="100000">
                <a:srgbClr val="0F388A"/>
              </a:gs>
            </a:gsLst>
            <a:lin ang="5400000"/>
          </a:gradFill>
          <a:ln w="12600">
            <a:solidFill>
              <a:srgbClr val="1A448A"/>
            </a:solidFill>
            <a:round/>
          </a:ln>
        </p:spPr>
        <p:txBody>
          <a:bodyPr lIns="81639" tIns="40820" rIns="81639" bIns="40820" anchor="ctr"/>
          <a:lstStyle/>
          <a:p>
            <a:pPr algn="ctr" defTabSz="457200"/>
            <a:r>
              <a:rPr lang="en-US" sz="1100">
                <a:solidFill>
                  <a:srgbClr val="FFFFFF"/>
                </a:solidFill>
                <a:latin typeface="Calibri" panose="020F0502020204030204" charset="0"/>
              </a:rPr>
              <a:t>WSMB</a:t>
            </a:r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75819" name="CustomShape 50"/>
          <p:cNvSpPr>
            <a:spLocks noChangeArrowheads="1"/>
          </p:cNvSpPr>
          <p:nvPr/>
        </p:nvSpPr>
        <p:spPr bwMode="auto">
          <a:xfrm rot="16200000" flipH="1">
            <a:off x="6756400" y="3705225"/>
            <a:ext cx="18415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FBFBF"/>
              </a:gs>
              <a:gs pos="100000">
                <a:srgbClr val="7A7A7A"/>
              </a:gs>
            </a:gsLst>
            <a:lin ang="5400000"/>
          </a:gradFill>
          <a:ln w="9360">
            <a:solidFill>
              <a:srgbClr val="858585"/>
            </a:solidFill>
            <a:round/>
          </a:ln>
        </p:spPr>
        <p:txBody>
          <a:bodyPr vert="eaVert"/>
          <a:lstStyle/>
          <a:p>
            <a:pPr defTabSz="457200"/>
            <a:endParaRPr 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pic>
        <p:nvPicPr>
          <p:cNvPr id="7582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32725" y="4346575"/>
            <a:ext cx="449263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821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81500" y="4703763"/>
            <a:ext cx="27432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 idx="4294967295"/>
          </p:nvPr>
        </p:nvSpPr>
        <p:spPr>
          <a:xfrm>
            <a:off x="1089025" y="213657"/>
            <a:ext cx="5067151" cy="707886"/>
          </a:xfrm>
        </p:spPr>
        <p:txBody>
          <a:bodyPr wrap="square" lIns="0" rIns="0" anchor="t">
            <a:spAutoFit/>
          </a:bodyPr>
          <a:lstStyle/>
          <a:p>
            <a:pPr eaLnBrk="1" hangingPunct="1">
              <a:buClr>
                <a:srgbClr val="000000"/>
              </a:buClr>
            </a:pPr>
            <a:r>
              <a:rPr lang="en-US" sz="2000" dirty="0"/>
              <a:t>Improve Delivery Lifecycle with Software </a:t>
            </a:r>
            <a:br>
              <a:rPr lang="en-US" sz="2000" dirty="0"/>
            </a:br>
            <a:r>
              <a:rPr lang="en-US" sz="2000" dirty="0"/>
              <a:t>Defined Environments</a:t>
            </a:r>
            <a:endParaRPr lang="en-US" sz="2000" dirty="0"/>
          </a:p>
        </p:txBody>
      </p:sp>
      <p:sp>
        <p:nvSpPr>
          <p:cNvPr id="4" name="Can 3"/>
          <p:cNvSpPr>
            <a:spLocks noChangeArrowheads="1"/>
          </p:cNvSpPr>
          <p:nvPr/>
        </p:nvSpPr>
        <p:spPr bwMode="auto">
          <a:xfrm>
            <a:off x="533400" y="990600"/>
            <a:ext cx="606425" cy="560388"/>
          </a:xfrm>
          <a:prstGeom prst="can">
            <a:avLst>
              <a:gd name="adj" fmla="val 25000"/>
            </a:avLst>
          </a:prstGeom>
          <a:solidFill>
            <a:srgbClr val="A6A6A6"/>
          </a:solidFill>
          <a:ln>
            <a:noFill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</a:rPr>
              <a:t>SCM</a:t>
            </a:r>
            <a:endParaRPr lang="en-US" sz="12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" name="Rounded Rectangle 4"/>
          <p:cNvSpPr>
            <a:spLocks noChangeArrowheads="1"/>
          </p:cNvSpPr>
          <p:nvPr/>
        </p:nvSpPr>
        <p:spPr bwMode="auto">
          <a:xfrm>
            <a:off x="1911350" y="1054100"/>
            <a:ext cx="1600200" cy="441325"/>
          </a:xfrm>
          <a:prstGeom prst="roundRect">
            <a:avLst>
              <a:gd name="adj" fmla="val 16667"/>
            </a:avLst>
          </a:prstGeom>
          <a:solidFill>
            <a:srgbClr val="A6A6A6"/>
          </a:solidFill>
          <a:ln>
            <a:noFill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</a:rPr>
              <a:t>Build Automation</a:t>
            </a:r>
            <a:endParaRPr lang="en-US" sz="12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pic>
        <p:nvPicPr>
          <p:cNvPr id="77828" name="Picture 1" descr="Cloud4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417763" y="2870200"/>
            <a:ext cx="463867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252913" y="3694113"/>
            <a:ext cx="787400" cy="779462"/>
          </a:xfrm>
          <a:prstGeom prst="rect">
            <a:avLst/>
          </a:prstGeom>
          <a:solidFill>
            <a:srgbClr val="BFBFBF"/>
          </a:solidFill>
          <a:ln w="9525">
            <a:solidFill>
              <a:srgbClr val="7183FB"/>
            </a:solidFill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QA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508625" y="3694113"/>
            <a:ext cx="785813" cy="779462"/>
          </a:xfrm>
          <a:prstGeom prst="rect">
            <a:avLst/>
          </a:prstGeom>
          <a:solidFill>
            <a:srgbClr val="BFBFBF"/>
          </a:solidFill>
          <a:ln w="9525">
            <a:solidFill>
              <a:srgbClr val="7183FB"/>
            </a:solidFill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PROD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3109913" y="3749675"/>
            <a:ext cx="792162" cy="182563"/>
          </a:xfrm>
          <a:prstGeom prst="rect">
            <a:avLst/>
          </a:prstGeom>
          <a:gradFill rotWithShape="1">
            <a:gsLst>
              <a:gs pos="0">
                <a:srgbClr val="F4FFE0"/>
              </a:gs>
              <a:gs pos="64999">
                <a:srgbClr val="E3FFB2"/>
              </a:gs>
              <a:gs pos="100000">
                <a:srgbClr val="DAFF90"/>
              </a:gs>
            </a:gsLst>
            <a:lin ang="5400000" scaled="1"/>
          </a:gradFill>
          <a:ln w="9525">
            <a:solidFill>
              <a:srgbClr val="98CC00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buFont typeface="Webdings" panose="05030102010509060703" pitchFamily="18" charset="2"/>
              <a:buNone/>
              <a:defRPr/>
            </a:pPr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4244975" y="3749675"/>
            <a:ext cx="793750" cy="182563"/>
          </a:xfrm>
          <a:prstGeom prst="rect">
            <a:avLst/>
          </a:prstGeom>
          <a:gradFill rotWithShape="1">
            <a:gsLst>
              <a:gs pos="0">
                <a:srgbClr val="F4FFE0"/>
              </a:gs>
              <a:gs pos="64999">
                <a:srgbClr val="E3FFB2"/>
              </a:gs>
              <a:gs pos="100000">
                <a:srgbClr val="DAFF90"/>
              </a:gs>
            </a:gsLst>
            <a:lin ang="5400000" scaled="1"/>
          </a:gradFill>
          <a:ln w="9525">
            <a:solidFill>
              <a:srgbClr val="98CC00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buFont typeface="Webdings" panose="05030102010509060703" pitchFamily="18" charset="2"/>
              <a:buNone/>
              <a:defRPr/>
            </a:pPr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5508625" y="3749675"/>
            <a:ext cx="792163" cy="182563"/>
          </a:xfrm>
          <a:prstGeom prst="rect">
            <a:avLst/>
          </a:prstGeom>
          <a:gradFill rotWithShape="1">
            <a:gsLst>
              <a:gs pos="0">
                <a:srgbClr val="F4FFE0"/>
              </a:gs>
              <a:gs pos="64999">
                <a:srgbClr val="E3FFB2"/>
              </a:gs>
              <a:gs pos="100000">
                <a:srgbClr val="DAFF90"/>
              </a:gs>
            </a:gsLst>
            <a:lin ang="5400000" scaled="1"/>
          </a:gradFill>
          <a:ln w="9525">
            <a:solidFill>
              <a:srgbClr val="98CC00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buFont typeface="Webdings" panose="05030102010509060703" pitchFamily="18" charset="2"/>
              <a:buNone/>
              <a:defRPr/>
            </a:pPr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7839" name="TextBox 37"/>
          <p:cNvSpPr txBox="1">
            <a:spLocks noChangeArrowheads="1"/>
          </p:cNvSpPr>
          <p:nvPr/>
        </p:nvSpPr>
        <p:spPr bwMode="auto">
          <a:xfrm>
            <a:off x="1089025" y="2843213"/>
            <a:ext cx="1635125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 i="1">
                <a:solidFill>
                  <a:srgbClr val="FF0000"/>
                </a:solidFill>
              </a:rPr>
              <a:t>Execute application deployment and manage settings across environments</a:t>
            </a:r>
            <a:endParaRPr lang="en-US" sz="1200" i="1">
              <a:solidFill>
                <a:srgbClr val="FF0000"/>
              </a:solidFill>
            </a:endParaRPr>
          </a:p>
        </p:txBody>
      </p:sp>
      <p:cxnSp>
        <p:nvCxnSpPr>
          <p:cNvPr id="54" name="Straight Arrow Connector 53"/>
          <p:cNvCxnSpPr>
            <a:cxnSpLocks noChangeShapeType="1"/>
            <a:stCxn id="4" idx="4"/>
            <a:endCxn id="5" idx="1"/>
          </p:cNvCxnSpPr>
          <p:nvPr/>
        </p:nvCxnSpPr>
        <p:spPr bwMode="auto">
          <a:xfrm>
            <a:off x="1139825" y="1271588"/>
            <a:ext cx="771525" cy="3175"/>
          </a:xfrm>
          <a:prstGeom prst="straightConnector1">
            <a:avLst/>
          </a:prstGeom>
          <a:noFill/>
          <a:ln w="38100">
            <a:solidFill>
              <a:srgbClr val="F46405"/>
            </a:solidFill>
            <a:rou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</p:cxnSp>
      <p:cxnSp>
        <p:nvCxnSpPr>
          <p:cNvPr id="56" name="Straight Arrow Connector 55"/>
          <p:cNvCxnSpPr>
            <a:cxnSpLocks noChangeShapeType="1"/>
            <a:stCxn id="5" idx="2"/>
          </p:cNvCxnSpPr>
          <p:nvPr/>
        </p:nvCxnSpPr>
        <p:spPr bwMode="auto">
          <a:xfrm flipH="1">
            <a:off x="2709863" y="1495425"/>
            <a:ext cx="1587" cy="677863"/>
          </a:xfrm>
          <a:prstGeom prst="straightConnector1">
            <a:avLst/>
          </a:prstGeom>
          <a:noFill/>
          <a:ln w="38100">
            <a:solidFill>
              <a:srgbClr val="F46405"/>
            </a:solidFill>
            <a:rou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</p:cxnSp>
      <p:sp>
        <p:nvSpPr>
          <p:cNvPr id="77846" name="TextBox 58"/>
          <p:cNvSpPr txBox="1">
            <a:spLocks noChangeArrowheads="1"/>
          </p:cNvSpPr>
          <p:nvPr/>
        </p:nvSpPr>
        <p:spPr bwMode="auto">
          <a:xfrm>
            <a:off x="2787650" y="1666875"/>
            <a:ext cx="153670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 i="1">
                <a:solidFill>
                  <a:schemeClr val="bg2"/>
                </a:solidFill>
              </a:rPr>
              <a:t>Publish build</a:t>
            </a:r>
            <a:endParaRPr lang="en-US" sz="1200" i="1">
              <a:solidFill>
                <a:schemeClr val="bg2"/>
              </a:solidFill>
            </a:endParaRPr>
          </a:p>
        </p:txBody>
      </p:sp>
      <p:sp>
        <p:nvSpPr>
          <p:cNvPr id="77847" name="TextBox 59"/>
          <p:cNvSpPr txBox="1">
            <a:spLocks noChangeArrowheads="1"/>
          </p:cNvSpPr>
          <p:nvPr/>
        </p:nvSpPr>
        <p:spPr bwMode="auto">
          <a:xfrm>
            <a:off x="544132" y="1676400"/>
            <a:ext cx="9128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 i="1" dirty="0">
                <a:solidFill>
                  <a:srgbClr val="FF0000"/>
                </a:solidFill>
              </a:rPr>
              <a:t>Pull changes</a:t>
            </a:r>
            <a:endParaRPr lang="en-US" sz="1200" i="1" dirty="0">
              <a:solidFill>
                <a:srgbClr val="FF0000"/>
              </a:solidFill>
            </a:endParaRPr>
          </a:p>
        </p:txBody>
      </p:sp>
      <p:sp>
        <p:nvSpPr>
          <p:cNvPr id="77851" name="TextBox 30735"/>
          <p:cNvSpPr txBox="1">
            <a:spLocks noChangeArrowheads="1"/>
          </p:cNvSpPr>
          <p:nvPr/>
        </p:nvSpPr>
        <p:spPr bwMode="auto">
          <a:xfrm>
            <a:off x="939800" y="3932238"/>
            <a:ext cx="1747838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/>
              <a:t>Environments</a:t>
            </a:r>
            <a:endParaRPr lang="en-US"/>
          </a:p>
        </p:txBody>
      </p:sp>
      <p:sp>
        <p:nvSpPr>
          <p:cNvPr id="57" name="Round Diagonal Corner Rectangle 56"/>
          <p:cNvSpPr/>
          <p:nvPr/>
        </p:nvSpPr>
        <p:spPr bwMode="auto">
          <a:xfrm>
            <a:off x="7056438" y="2955925"/>
            <a:ext cx="1706562" cy="2130425"/>
          </a:xfrm>
          <a:custGeom>
            <a:avLst/>
            <a:gdLst>
              <a:gd name="T0" fmla="*/ 298720 w 1792287"/>
              <a:gd name="T1" fmla="*/ 0 h 2236787"/>
              <a:gd name="T2" fmla="*/ 1792287 w 1792287"/>
              <a:gd name="T3" fmla="*/ 0 h 2236787"/>
              <a:gd name="T4" fmla="*/ 1792287 w 1792287"/>
              <a:gd name="T5" fmla="*/ 0 h 2236787"/>
              <a:gd name="T6" fmla="*/ 1792287 w 1792287"/>
              <a:gd name="T7" fmla="*/ 1938068 h 2236787"/>
              <a:gd name="T8" fmla="*/ 1493567 w 1792287"/>
              <a:gd name="T9" fmla="*/ 2236787 h 2236787"/>
              <a:gd name="T10" fmla="*/ 0 w 1792287"/>
              <a:gd name="T11" fmla="*/ 2236787 h 2236787"/>
              <a:gd name="T12" fmla="*/ 0 w 1792287"/>
              <a:gd name="T13" fmla="*/ 2236787 h 2236787"/>
              <a:gd name="T14" fmla="*/ 0 w 1792287"/>
              <a:gd name="T15" fmla="*/ 298720 h 2236787"/>
              <a:gd name="T16" fmla="*/ 298720 w 1792287"/>
              <a:gd name="T17" fmla="*/ 0 h 22367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792287"/>
              <a:gd name="T28" fmla="*/ 0 h 2236787"/>
              <a:gd name="T29" fmla="*/ 1792287 w 1792287"/>
              <a:gd name="T30" fmla="*/ 2236787 h 22367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792287" h="2236787">
                <a:moveTo>
                  <a:pt x="298720" y="0"/>
                </a:moveTo>
                <a:lnTo>
                  <a:pt x="1792287" y="0"/>
                </a:lnTo>
                <a:lnTo>
                  <a:pt x="1792287" y="1938067"/>
                </a:lnTo>
                <a:cubicBezTo>
                  <a:pt x="1792287" y="2103046"/>
                  <a:pt x="1658546" y="2236787"/>
                  <a:pt x="1493567" y="2236787"/>
                </a:cubicBezTo>
                <a:lnTo>
                  <a:pt x="0" y="2236787"/>
                </a:lnTo>
                <a:lnTo>
                  <a:pt x="0" y="298720"/>
                </a:lnTo>
                <a:cubicBezTo>
                  <a:pt x="0" y="133741"/>
                  <a:pt x="133741" y="0"/>
                  <a:pt x="298720" y="0"/>
                </a:cubicBezTo>
                <a:close/>
              </a:path>
            </a:pathLst>
          </a:custGeom>
          <a:solidFill>
            <a:srgbClr val="F2F2F2"/>
          </a:solidFill>
          <a:ln w="9525">
            <a:solidFill>
              <a:srgbClr val="F9F9F9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300" b="1">
                <a:solidFill>
                  <a:srgbClr val="90909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Deploy early and often to ensure higher quality and faster releases using repeatable, reliable, and managed automation</a:t>
            </a:r>
            <a:endParaRPr lang="en-US" sz="1300" b="1">
              <a:solidFill>
                <a:srgbClr val="90909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3340100" y="3813175"/>
            <a:ext cx="785813" cy="777875"/>
          </a:xfrm>
          <a:prstGeom prst="rect">
            <a:avLst/>
          </a:prstGeom>
          <a:solidFill>
            <a:srgbClr val="BFBFBF"/>
          </a:solidFill>
          <a:ln w="9525">
            <a:solidFill>
              <a:srgbClr val="7183FB"/>
            </a:solidFill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DEV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3267075" y="3813175"/>
            <a:ext cx="785813" cy="777875"/>
          </a:xfrm>
          <a:prstGeom prst="rect">
            <a:avLst/>
          </a:prstGeom>
          <a:solidFill>
            <a:srgbClr val="BFBFBF"/>
          </a:solidFill>
          <a:ln w="9525">
            <a:solidFill>
              <a:srgbClr val="7183FB"/>
            </a:solidFill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DEV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3195638" y="3759200"/>
            <a:ext cx="785812" cy="779463"/>
          </a:xfrm>
          <a:prstGeom prst="rect">
            <a:avLst/>
          </a:prstGeom>
          <a:solidFill>
            <a:srgbClr val="BFBFBF"/>
          </a:solidFill>
          <a:ln w="9525">
            <a:solidFill>
              <a:srgbClr val="7183FB"/>
            </a:solidFill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DEV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124200" y="3667125"/>
            <a:ext cx="785813" cy="779463"/>
          </a:xfrm>
          <a:prstGeom prst="rect">
            <a:avLst/>
          </a:prstGeom>
          <a:solidFill>
            <a:srgbClr val="BFBFBF"/>
          </a:solidFill>
          <a:ln w="9525">
            <a:solidFill>
              <a:srgbClr val="7183FB"/>
            </a:solidFill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buFont typeface="Webdings" panose="05030102010509060703" pitchFamily="18" charset="2"/>
              <a:buNone/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DEV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cxnSp>
        <p:nvCxnSpPr>
          <p:cNvPr id="33" name="Curved Connector 32"/>
          <p:cNvCxnSpPr>
            <a:cxnSpLocks noChangeShapeType="1"/>
            <a:endCxn id="29" idx="1"/>
          </p:cNvCxnSpPr>
          <p:nvPr/>
        </p:nvCxnSpPr>
        <p:spPr bwMode="auto">
          <a:xfrm rot="16200000" flipH="1">
            <a:off x="2489994" y="3221831"/>
            <a:ext cx="1139825" cy="100013"/>
          </a:xfrm>
          <a:prstGeom prst="curvedConnector2">
            <a:avLst/>
          </a:prstGeom>
          <a:noFill/>
          <a:ln w="38100">
            <a:solidFill>
              <a:srgbClr val="99CC00"/>
            </a:solidFill>
            <a:rou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</p:cxnSp>
      <p:cxnSp>
        <p:nvCxnSpPr>
          <p:cNvPr id="37" name="Curved Connector 36"/>
          <p:cNvCxnSpPr>
            <a:cxnSpLocks noChangeShapeType="1"/>
            <a:endCxn id="31" idx="1"/>
          </p:cNvCxnSpPr>
          <p:nvPr/>
        </p:nvCxnSpPr>
        <p:spPr bwMode="auto">
          <a:xfrm rot="16200000" flipH="1">
            <a:off x="3649663" y="1982788"/>
            <a:ext cx="1214437" cy="2503487"/>
          </a:xfrm>
          <a:prstGeom prst="curvedConnector2">
            <a:avLst/>
          </a:prstGeom>
          <a:noFill/>
          <a:ln w="38100">
            <a:solidFill>
              <a:srgbClr val="99CC00"/>
            </a:solidFill>
            <a:rou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</p:cxn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3127375" y="3740150"/>
            <a:ext cx="793750" cy="185738"/>
          </a:xfrm>
          <a:prstGeom prst="rect">
            <a:avLst/>
          </a:prstGeom>
          <a:gradFill rotWithShape="1">
            <a:gsLst>
              <a:gs pos="0">
                <a:srgbClr val="F4FFE0"/>
              </a:gs>
              <a:gs pos="64999">
                <a:srgbClr val="E3FFB2"/>
              </a:gs>
              <a:gs pos="100000">
                <a:srgbClr val="DAFF90"/>
              </a:gs>
            </a:gsLst>
            <a:lin ang="5400000" scaled="1"/>
          </a:gradFill>
          <a:ln w="9525">
            <a:solidFill>
              <a:srgbClr val="98CC00"/>
            </a:solidFill>
            <a:miter lim="800000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buFont typeface="Webdings" panose="05030102010509060703" pitchFamily="18" charset="2"/>
              <a:buNone/>
              <a:defRPr/>
            </a:pPr>
            <a:endParaRPr 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cxnSp>
        <p:nvCxnSpPr>
          <p:cNvPr id="35" name="Curved Connector 34"/>
          <p:cNvCxnSpPr>
            <a:cxnSpLocks noChangeShapeType="1"/>
            <a:endCxn id="30" idx="1"/>
          </p:cNvCxnSpPr>
          <p:nvPr/>
        </p:nvCxnSpPr>
        <p:spPr bwMode="auto">
          <a:xfrm rot="16200000" flipH="1">
            <a:off x="3056731" y="2653507"/>
            <a:ext cx="1139825" cy="1236662"/>
          </a:xfrm>
          <a:prstGeom prst="curvedConnector2">
            <a:avLst/>
          </a:prstGeom>
          <a:noFill/>
          <a:ln w="38100">
            <a:solidFill>
              <a:srgbClr val="99CC00"/>
            </a:solidFill>
            <a:rou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</p:cxnSp>
      <p:pic>
        <p:nvPicPr>
          <p:cNvPr id="46" name="Picture 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9992" y="2173288"/>
            <a:ext cx="879475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7" name="Group 38"/>
          <p:cNvGrpSpPr/>
          <p:nvPr/>
        </p:nvGrpSpPr>
        <p:grpSpPr bwMode="auto">
          <a:xfrm>
            <a:off x="2264568" y="2166937"/>
            <a:ext cx="919163" cy="401637"/>
            <a:chOff x="1128" y="2080"/>
            <a:chExt cx="579" cy="253"/>
          </a:xfrm>
        </p:grpSpPr>
        <p:sp>
          <p:nvSpPr>
            <p:cNvPr id="48" name="Text Box 39"/>
            <p:cNvSpPr txBox="1">
              <a:spLocks noChangeArrowheads="1"/>
            </p:cNvSpPr>
            <p:nvPr/>
          </p:nvSpPr>
          <p:spPr bwMode="auto">
            <a:xfrm>
              <a:off x="1272" y="2136"/>
              <a:ext cx="435" cy="162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</a:ln>
          </p:spPr>
          <p:txBody>
            <a:bodyPr lIns="90000" tIns="46800" rIns="90000" bIns="46800">
              <a:spAutoFit/>
            </a:bodyPr>
            <a:lstStyle/>
            <a:p>
              <a:pPr>
                <a:buSzPct val="10000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>
                  <a:solidFill>
                    <a:srgbClr val="000000"/>
                  </a:solidFill>
                  <a:latin typeface="Calibri" panose="020F0502020204030204" charset="0"/>
                  <a:ea typeface="MS PGothic" panose="020B0600070205080204" pitchFamily="34" charset="-128"/>
                  <a:cs typeface="MS PGothic" panose="020B0600070205080204" pitchFamily="34" charset="-128"/>
                </a:rPr>
                <a:t>Jenkins</a:t>
              </a:r>
              <a:endParaRPr lang="en-US" sz="1000">
                <a:solidFill>
                  <a:srgbClr val="000000"/>
                </a:solidFill>
                <a:latin typeface="Calibri" panose="020F0502020204030204" charset="0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pic>
          <p:nvPicPr>
            <p:cNvPr id="49" name="Picture 40" descr="jenkins_logo"/>
            <p:cNvPicPr>
              <a:picLocks noChangeAspect="1" noChangeArrowheads="1"/>
            </p:cNvPicPr>
            <p:nvPr/>
          </p:nvPicPr>
          <p:blipFill>
            <a:blip r:embed="rId3"/>
            <a:srcRect r="75900"/>
            <a:stretch>
              <a:fillRect/>
            </a:stretch>
          </p:blipFill>
          <p:spPr bwMode="auto">
            <a:xfrm>
              <a:off x="1128" y="2080"/>
              <a:ext cx="188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" name="Straight Arrow Connector 2"/>
          <p:cNvCxnSpPr>
            <a:stCxn id="48" idx="3"/>
            <a:endCxn id="46" idx="1"/>
          </p:cNvCxnSpPr>
          <p:nvPr/>
        </p:nvCxnSpPr>
        <p:spPr>
          <a:xfrm flipV="1">
            <a:off x="3183731" y="2378870"/>
            <a:ext cx="1316261" cy="5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ight Arrow 81"/>
          <p:cNvSpPr>
            <a:spLocks noChangeArrowheads="1"/>
          </p:cNvSpPr>
          <p:nvPr/>
        </p:nvSpPr>
        <p:spPr bwMode="auto">
          <a:xfrm>
            <a:off x="2894013" y="4984750"/>
            <a:ext cx="1928812" cy="1087438"/>
          </a:xfrm>
          <a:prstGeom prst="rightArrow">
            <a:avLst>
              <a:gd name="adj1" fmla="val 50000"/>
              <a:gd name="adj2" fmla="val 27493"/>
            </a:avLst>
          </a:prstGeom>
          <a:gradFill rotWithShape="1">
            <a:gsLst>
              <a:gs pos="0">
                <a:srgbClr val="92D050"/>
              </a:gs>
              <a:gs pos="100000">
                <a:srgbClr val="00B050"/>
              </a:gs>
            </a:gsLst>
            <a:lin ang="5400000"/>
          </a:gradFill>
          <a:ln w="9525">
            <a:solidFill>
              <a:srgbClr val="7DCDF2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b="1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81" name="Right Arrow 80"/>
          <p:cNvSpPr>
            <a:spLocks noChangeArrowheads="1"/>
          </p:cNvSpPr>
          <p:nvPr/>
        </p:nvSpPr>
        <p:spPr bwMode="auto">
          <a:xfrm>
            <a:off x="2881313" y="3851275"/>
            <a:ext cx="1941512" cy="1087438"/>
          </a:xfrm>
          <a:prstGeom prst="rightArrow">
            <a:avLst>
              <a:gd name="adj1" fmla="val 50000"/>
              <a:gd name="adj2" fmla="val 27492"/>
            </a:avLst>
          </a:prstGeom>
          <a:gradFill rotWithShape="1">
            <a:gsLst>
              <a:gs pos="0">
                <a:srgbClr val="92D050"/>
              </a:gs>
              <a:gs pos="100000">
                <a:srgbClr val="00B050"/>
              </a:gs>
            </a:gsLst>
            <a:lin ang="5400000"/>
          </a:gradFill>
          <a:ln w="9525">
            <a:solidFill>
              <a:srgbClr val="7DCDF2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5" name="Right Arrow 54"/>
          <p:cNvSpPr>
            <a:spLocks noChangeArrowheads="1"/>
          </p:cNvSpPr>
          <p:nvPr/>
        </p:nvSpPr>
        <p:spPr bwMode="auto">
          <a:xfrm>
            <a:off x="2909888" y="2693988"/>
            <a:ext cx="1925637" cy="1087437"/>
          </a:xfrm>
          <a:prstGeom prst="rightArrow">
            <a:avLst>
              <a:gd name="adj1" fmla="val 50000"/>
              <a:gd name="adj2" fmla="val 29866"/>
            </a:avLst>
          </a:prstGeom>
          <a:gradFill rotWithShape="1">
            <a:gsLst>
              <a:gs pos="0">
                <a:srgbClr val="92D050"/>
              </a:gs>
              <a:gs pos="100000">
                <a:srgbClr val="00B050"/>
              </a:gs>
            </a:gsLst>
            <a:lin ang="5400000"/>
          </a:gradFill>
          <a:ln w="9525">
            <a:solidFill>
              <a:srgbClr val="7DCDF2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899025" y="1841500"/>
            <a:ext cx="4008438" cy="3946525"/>
          </a:xfrm>
          <a:prstGeom prst="roundRect">
            <a:avLst>
              <a:gd name="adj" fmla="val 8891"/>
            </a:avLst>
          </a:prstGeom>
          <a:gradFill>
            <a:gsLst>
              <a:gs pos="0">
                <a:srgbClr val="18ABE2"/>
              </a:gs>
              <a:gs pos="19000">
                <a:srgbClr val="D8F1FC"/>
              </a:gs>
              <a:gs pos="100000">
                <a:schemeClr val="bg1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0901" name="Rectangle 6"/>
          <p:cNvSpPr>
            <a:spLocks noChangeArrowheads="1"/>
          </p:cNvSpPr>
          <p:nvPr/>
        </p:nvSpPr>
        <p:spPr bwMode="auto">
          <a:xfrm>
            <a:off x="228600" y="838200"/>
            <a:ext cx="8239125" cy="70802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547726">
                <a:alpha val="74997"/>
              </a:srgbClr>
            </a:prst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/>
              <a:t>Deployment automation and service virtualization for reducing time to market and improving quality</a:t>
            </a:r>
            <a:endParaRPr lang="en-US" sz="2000"/>
          </a:p>
        </p:txBody>
      </p:sp>
      <p:grpSp>
        <p:nvGrpSpPr>
          <p:cNvPr id="80902" name="Group 5"/>
          <p:cNvGrpSpPr/>
          <p:nvPr/>
        </p:nvGrpSpPr>
        <p:grpSpPr bwMode="auto">
          <a:xfrm>
            <a:off x="5265738" y="1901825"/>
            <a:ext cx="3295650" cy="2054225"/>
            <a:chOff x="8927340" y="6851805"/>
            <a:chExt cx="3295650" cy="2054225"/>
          </a:xfrm>
        </p:grpSpPr>
        <p:grpSp>
          <p:nvGrpSpPr>
            <p:cNvPr id="80952" name="Rounded Rectangle 73"/>
            <p:cNvGrpSpPr/>
            <p:nvPr/>
          </p:nvGrpSpPr>
          <p:grpSpPr bwMode="auto">
            <a:xfrm>
              <a:off x="8927340" y="6851805"/>
              <a:ext cx="3295650" cy="2054225"/>
              <a:chOff x="1569" y="2131"/>
              <a:chExt cx="2230" cy="1142"/>
            </a:xfrm>
          </p:grpSpPr>
          <p:pic>
            <p:nvPicPr>
              <p:cNvPr id="80960" name="Rounded Rectangle 73"/>
              <p:cNvPicPr>
                <a:picLocks noChangeArrowheads="1"/>
              </p:cNvPicPr>
              <p:nvPr/>
            </p:nvPicPr>
            <p:blipFill>
              <a:blip r:embed="rId1">
                <a:lum bright="12000"/>
              </a:blip>
              <a:srcRect/>
              <a:stretch>
                <a:fillRect/>
              </a:stretch>
            </p:blipFill>
            <p:spPr bwMode="auto">
              <a:xfrm>
                <a:off x="1569" y="2131"/>
                <a:ext cx="2230" cy="11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0961" name="Text Box 253"/>
              <p:cNvSpPr txBox="1">
                <a:spLocks noChangeArrowheads="1"/>
              </p:cNvSpPr>
              <p:nvPr/>
            </p:nvSpPr>
            <p:spPr bwMode="auto">
              <a:xfrm>
                <a:off x="1569" y="2265"/>
                <a:ext cx="2165" cy="6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marL="400050" indent="-400050" eaLnBrk="0" hangingPunct="0"/>
                <a:endParaRPr lang="en-US" sz="900">
                  <a:solidFill>
                    <a:srgbClr val="808080"/>
                  </a:solidFill>
                </a:endParaRPr>
              </a:p>
            </p:txBody>
          </p:sp>
        </p:grpSp>
        <p:pic>
          <p:nvPicPr>
            <p:cNvPr id="80953" name="Picture 2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589328" y="7834467"/>
              <a:ext cx="463550" cy="50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0954" name="TextBox 28"/>
            <p:cNvSpPr txBox="1">
              <a:spLocks noChangeArrowheads="1"/>
            </p:cNvSpPr>
            <p:nvPr/>
          </p:nvSpPr>
          <p:spPr bwMode="auto">
            <a:xfrm>
              <a:off x="9343265" y="7574117"/>
              <a:ext cx="846138" cy="1952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>
              <a:spAutoFit/>
            </a:bodyPr>
            <a:lstStyle/>
            <a:p>
              <a:pPr algn="ctr" eaLnBrk="0" hangingPunct="0">
                <a:lnSpc>
                  <a:spcPts val="800"/>
                </a:lnSpc>
              </a:pPr>
              <a:r>
                <a:rPr lang="en-US" sz="900">
                  <a:solidFill>
                    <a:srgbClr val="000000"/>
                  </a:solidFill>
                </a:rPr>
                <a:t>Databases</a:t>
              </a:r>
              <a:endParaRPr lang="en-US" sz="900">
                <a:solidFill>
                  <a:srgbClr val="000000"/>
                </a:solidFill>
              </a:endParaRPr>
            </a:p>
          </p:txBody>
        </p:sp>
        <p:pic>
          <p:nvPicPr>
            <p:cNvPr id="80955" name="Picture 7_8_1"/>
            <p:cNvPicPr>
              <a:picLocks noChangeAspect="1"/>
            </p:cNvPicPr>
            <p:nvPr/>
          </p:nvPicPr>
          <p:blipFill>
            <a:blip r:embed="rId3"/>
            <a:srcRect b="32446"/>
            <a:stretch>
              <a:fillRect/>
            </a:stretch>
          </p:blipFill>
          <p:spPr bwMode="auto">
            <a:xfrm>
              <a:off x="10410065" y="7821767"/>
              <a:ext cx="366713" cy="64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0956" name="TextBox 59"/>
            <p:cNvSpPr txBox="1">
              <a:spLocks noChangeArrowheads="1"/>
            </p:cNvSpPr>
            <p:nvPr/>
          </p:nvSpPr>
          <p:spPr bwMode="auto">
            <a:xfrm>
              <a:off x="10189403" y="7526492"/>
              <a:ext cx="822325" cy="29751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>
              <a:spAutoFit/>
            </a:bodyPr>
            <a:lstStyle/>
            <a:p>
              <a:pPr algn="ctr" eaLnBrk="0" hangingPunct="0">
                <a:lnSpc>
                  <a:spcPts val="800"/>
                </a:lnSpc>
              </a:pPr>
              <a:r>
                <a:rPr lang="en-US" sz="900">
                  <a:solidFill>
                    <a:srgbClr val="000000"/>
                  </a:solidFill>
                </a:rPr>
                <a:t>Internal</a:t>
              </a:r>
              <a:endParaRPr lang="en-US" sz="900">
                <a:solidFill>
                  <a:srgbClr val="000000"/>
                </a:solidFill>
              </a:endParaRPr>
            </a:p>
            <a:p>
              <a:pPr algn="ctr" eaLnBrk="0" hangingPunct="0">
                <a:lnSpc>
                  <a:spcPts val="800"/>
                </a:lnSpc>
              </a:pPr>
              <a:r>
                <a:rPr lang="en-US" sz="900">
                  <a:solidFill>
                    <a:srgbClr val="000000"/>
                  </a:solidFill>
                </a:rPr>
                <a:t>Messages</a:t>
              </a:r>
              <a:endParaRPr lang="en-US" sz="900">
                <a:solidFill>
                  <a:srgbClr val="000000"/>
                </a:solidFill>
              </a:endParaRPr>
            </a:p>
          </p:txBody>
        </p:sp>
        <p:pic>
          <p:nvPicPr>
            <p:cNvPr id="80957" name="Picture 42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249853" y="7790017"/>
              <a:ext cx="395287" cy="788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0958" name="TextBox 43"/>
            <p:cNvSpPr txBox="1">
              <a:spLocks noChangeArrowheads="1"/>
            </p:cNvSpPr>
            <p:nvPr/>
          </p:nvSpPr>
          <p:spPr bwMode="auto">
            <a:xfrm>
              <a:off x="11081578" y="7537605"/>
              <a:ext cx="715962" cy="2952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rIns="0">
              <a:spAutoFit/>
            </a:bodyPr>
            <a:lstStyle/>
            <a:p>
              <a:pPr algn="ctr" eaLnBrk="0" hangingPunct="0">
                <a:lnSpc>
                  <a:spcPts val="800"/>
                </a:lnSpc>
              </a:pPr>
              <a:r>
                <a:rPr lang="en-US" sz="900">
                  <a:solidFill>
                    <a:srgbClr val="000000"/>
                  </a:solidFill>
                </a:rPr>
                <a:t>Third-party</a:t>
              </a:r>
              <a:br>
                <a:rPr lang="en-US" sz="900">
                  <a:solidFill>
                    <a:srgbClr val="00000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Services</a:t>
              </a:r>
              <a:endParaRPr lang="en-US" sz="900">
                <a:solidFill>
                  <a:srgbClr val="000000"/>
                </a:solidFill>
              </a:endParaRPr>
            </a:p>
          </p:txBody>
        </p:sp>
        <p:sp>
          <p:nvSpPr>
            <p:cNvPr id="80959" name="TextBox 11"/>
            <p:cNvSpPr txBox="1">
              <a:spLocks noChangeArrowheads="1"/>
            </p:cNvSpPr>
            <p:nvPr/>
          </p:nvSpPr>
          <p:spPr bwMode="auto">
            <a:xfrm>
              <a:off x="9456203" y="7132076"/>
              <a:ext cx="2182813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virtual components</a:t>
              </a: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80903" name="Group 14"/>
          <p:cNvGrpSpPr/>
          <p:nvPr/>
        </p:nvGrpSpPr>
        <p:grpSpPr bwMode="auto">
          <a:xfrm>
            <a:off x="4858544" y="3803650"/>
            <a:ext cx="4116388" cy="1746250"/>
            <a:chOff x="4673600" y="1511935"/>
            <a:chExt cx="4670572" cy="1639888"/>
          </a:xfrm>
        </p:grpSpPr>
        <p:pic>
          <p:nvPicPr>
            <p:cNvPr id="80945" name="Picture 2" descr="Cloud4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73600" y="1511935"/>
              <a:ext cx="4670572" cy="163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0946" name="TextBox 7"/>
            <p:cNvSpPr txBox="1">
              <a:spLocks noChangeArrowheads="1"/>
            </p:cNvSpPr>
            <p:nvPr/>
          </p:nvSpPr>
          <p:spPr bwMode="auto">
            <a:xfrm>
              <a:off x="7685245" y="1874201"/>
              <a:ext cx="1478805" cy="7722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>
                  <a:solidFill>
                    <a:srgbClr val="000000"/>
                  </a:solidFill>
                </a:rPr>
                <a:t>Simultaneously test across multiple  test stages </a:t>
              </a: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5222974" y="1804133"/>
              <a:ext cx="1123963" cy="818454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rgbClr val="89C53A"/>
              </a:solidFill>
              <a:miter lim="800000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Dev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80948" name="Picture 37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544865" y="2055394"/>
              <a:ext cx="506412" cy="506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627928" y="1804133"/>
              <a:ext cx="1123963" cy="818454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rgbClr val="89C53A"/>
              </a:solidFill>
              <a:miter lim="800000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QA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80950" name="Picture 37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49802" y="2040578"/>
              <a:ext cx="506413" cy="506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24" name="Straight Arrow Connector 23"/>
          <p:cNvCxnSpPr>
            <a:cxnSpLocks noChangeShapeType="1"/>
            <a:stCxn id="18" idx="0"/>
          </p:cNvCxnSpPr>
          <p:nvPr/>
        </p:nvCxnSpPr>
        <p:spPr bwMode="auto">
          <a:xfrm flipV="1">
            <a:off x="5838032" y="3398838"/>
            <a:ext cx="200025" cy="7159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grpSp>
        <p:nvGrpSpPr>
          <p:cNvPr id="80905" name="Group 13"/>
          <p:cNvGrpSpPr/>
          <p:nvPr/>
        </p:nvGrpSpPr>
        <p:grpSpPr bwMode="auto">
          <a:xfrm>
            <a:off x="1092200" y="2657472"/>
            <a:ext cx="1801813" cy="976313"/>
            <a:chOff x="9878732" y="6036880"/>
            <a:chExt cx="1802921" cy="976617"/>
          </a:xfrm>
        </p:grpSpPr>
        <p:sp>
          <p:nvSpPr>
            <p:cNvPr id="2" name="Rectangle 1"/>
            <p:cNvSpPr/>
            <p:nvPr/>
          </p:nvSpPr>
          <p:spPr>
            <a:xfrm>
              <a:off x="10115415" y="6287783"/>
              <a:ext cx="1497933" cy="7257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10047110" y="6321131"/>
              <a:ext cx="1634543" cy="285424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marL="116205" indent="-11620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+mj-lt"/>
                  <a:ea typeface="MS PGothic" panose="020B0600070205080204" pitchFamily="34" charset="-128"/>
                  <a:cs typeface="MS PGothic" panose="020B0600070205080204" pitchFamily="34" charset="-128"/>
                </a:rPr>
                <a:t>Test Tools</a:t>
              </a:r>
              <a:endParaRPr lang="en-US" sz="1200" b="1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pic>
          <p:nvPicPr>
            <p:cNvPr id="80944" name="Picture 32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9878732" y="6036880"/>
              <a:ext cx="401637" cy="393700"/>
            </a:xfrm>
            <a:prstGeom prst="rect">
              <a:avLst/>
            </a:prstGeom>
            <a:noFill/>
            <a:ln w="21600">
              <a:noFill/>
              <a:round/>
            </a:ln>
          </p:spPr>
        </p:pic>
      </p:grpSp>
      <p:sp>
        <p:nvSpPr>
          <p:cNvPr id="30" name="Right Arrow 29"/>
          <p:cNvSpPr>
            <a:spLocks noChangeArrowheads="1"/>
          </p:cNvSpPr>
          <p:nvPr/>
        </p:nvSpPr>
        <p:spPr bwMode="auto">
          <a:xfrm>
            <a:off x="7643813" y="8429625"/>
            <a:ext cx="1371600" cy="274638"/>
          </a:xfrm>
          <a:prstGeom prst="rightArrow">
            <a:avLst>
              <a:gd name="adj1" fmla="val 100000"/>
              <a:gd name="adj2" fmla="val 62358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noFill/>
            <a:miter lim="800000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7F7F7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Deploy</a:t>
            </a:r>
            <a:endParaRPr lang="en-US" dirty="0">
              <a:solidFill>
                <a:srgbClr val="7F7F7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Right Arrow 30"/>
          <p:cNvSpPr>
            <a:spLocks noChangeArrowheads="1"/>
          </p:cNvSpPr>
          <p:nvPr/>
        </p:nvSpPr>
        <p:spPr bwMode="auto">
          <a:xfrm>
            <a:off x="7640638" y="8074025"/>
            <a:ext cx="1371600" cy="273050"/>
          </a:xfrm>
          <a:prstGeom prst="rightArrow">
            <a:avLst>
              <a:gd name="adj1" fmla="val 10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noFill/>
            <a:miter lim="800000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7F7F7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Provision</a:t>
            </a:r>
            <a:endParaRPr lang="en-US" dirty="0">
              <a:solidFill>
                <a:srgbClr val="7F7F7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" name="Right Arrow 31"/>
          <p:cNvSpPr>
            <a:spLocks noChangeArrowheads="1"/>
          </p:cNvSpPr>
          <p:nvPr/>
        </p:nvSpPr>
        <p:spPr bwMode="auto">
          <a:xfrm>
            <a:off x="7640638" y="8793163"/>
            <a:ext cx="1371600" cy="274637"/>
          </a:xfrm>
          <a:prstGeom prst="rightArrow">
            <a:avLst>
              <a:gd name="adj1" fmla="val 100000"/>
              <a:gd name="adj2" fmla="val 62358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noFill/>
            <a:miter lim="800000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7F7F7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Test</a:t>
            </a:r>
            <a:endParaRPr lang="en-US" dirty="0">
              <a:solidFill>
                <a:srgbClr val="7F7F7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34" name="Straight Arrow Connector 33"/>
          <p:cNvCxnSpPr>
            <a:cxnSpLocks noChangeShapeType="1"/>
            <a:stCxn id="20" idx="0"/>
          </p:cNvCxnSpPr>
          <p:nvPr/>
        </p:nvCxnSpPr>
        <p:spPr bwMode="auto">
          <a:xfrm flipH="1" flipV="1">
            <a:off x="6163469" y="3443288"/>
            <a:ext cx="912813" cy="67151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5" name="Straight Arrow Connector 34"/>
          <p:cNvCxnSpPr>
            <a:cxnSpLocks noChangeShapeType="1"/>
            <a:stCxn id="18" idx="0"/>
          </p:cNvCxnSpPr>
          <p:nvPr/>
        </p:nvCxnSpPr>
        <p:spPr bwMode="auto">
          <a:xfrm flipV="1">
            <a:off x="5838032" y="3443288"/>
            <a:ext cx="985837" cy="67151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6" name="Straight Arrow Connector 35"/>
          <p:cNvCxnSpPr>
            <a:cxnSpLocks noChangeShapeType="1"/>
            <a:stCxn id="20" idx="0"/>
          </p:cNvCxnSpPr>
          <p:nvPr/>
        </p:nvCxnSpPr>
        <p:spPr bwMode="auto">
          <a:xfrm flipH="1" flipV="1">
            <a:off x="6949282" y="3443288"/>
            <a:ext cx="127000" cy="67151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8" name="Straight Arrow Connector 37"/>
          <p:cNvCxnSpPr>
            <a:cxnSpLocks noChangeShapeType="1"/>
            <a:stCxn id="18" idx="0"/>
          </p:cNvCxnSpPr>
          <p:nvPr/>
        </p:nvCxnSpPr>
        <p:spPr bwMode="auto">
          <a:xfrm flipV="1">
            <a:off x="5838032" y="3398838"/>
            <a:ext cx="1674812" cy="7159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9" name="Straight Arrow Connector 38"/>
          <p:cNvCxnSpPr>
            <a:cxnSpLocks noChangeShapeType="1"/>
            <a:stCxn id="20" idx="0"/>
          </p:cNvCxnSpPr>
          <p:nvPr/>
        </p:nvCxnSpPr>
        <p:spPr bwMode="auto">
          <a:xfrm flipV="1">
            <a:off x="7076282" y="3443288"/>
            <a:ext cx="660400" cy="67151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41" name="Rectangle 35"/>
          <p:cNvSpPr txBox="1">
            <a:spLocks noChangeArrowheads="1"/>
          </p:cNvSpPr>
          <p:nvPr/>
        </p:nvSpPr>
        <p:spPr bwMode="auto">
          <a:xfrm>
            <a:off x="282575" y="292100"/>
            <a:ext cx="8620125" cy="461963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kern="0" dirty="0">
                <a:solidFill>
                  <a:schemeClr val="bg1"/>
                </a:solidFill>
              </a:rPr>
              <a:t>Combining continuous testing with</a:t>
            </a:r>
            <a:endParaRPr lang="en-US" altLang="en-US" sz="2400" b="1" kern="0" dirty="0"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335088" y="1885950"/>
            <a:ext cx="1533525" cy="59372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66"/>
            </a:solidFill>
            <a:round/>
          </a:ln>
        </p:spPr>
        <p:txBody>
          <a:bodyPr anchor="ctr"/>
          <a:lstStyle/>
          <a:p>
            <a:pPr marL="400050" indent="-400050" algn="ctr" eaLnBrk="0" hangingPunct="0">
              <a:defRPr/>
            </a:pPr>
            <a:r>
              <a:rPr lang="en-US" sz="1200" b="1" kern="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Jenkins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80917" name="Picture 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54113" y="1616075"/>
            <a:ext cx="5207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18" name="Picture 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46063" y="1874838"/>
            <a:ext cx="598487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0919" name="Group 49"/>
          <p:cNvGrpSpPr/>
          <p:nvPr/>
        </p:nvGrpSpPr>
        <p:grpSpPr bwMode="auto">
          <a:xfrm>
            <a:off x="1096963" y="3762375"/>
            <a:ext cx="1760537" cy="979486"/>
            <a:chOff x="529894" y="3961723"/>
            <a:chExt cx="1760092" cy="980567"/>
          </a:xfrm>
        </p:grpSpPr>
        <p:grpSp>
          <p:nvGrpSpPr>
            <p:cNvPr id="80938" name="Group 12"/>
            <p:cNvGrpSpPr/>
            <p:nvPr/>
          </p:nvGrpSpPr>
          <p:grpSpPr bwMode="auto">
            <a:xfrm>
              <a:off x="690191" y="4225537"/>
              <a:ext cx="1599795" cy="716753"/>
              <a:chOff x="7293854" y="7133374"/>
              <a:chExt cx="1599795" cy="569464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7352577" y="7133374"/>
                <a:ext cx="1483936" cy="5694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Text Box 10"/>
              <p:cNvSpPr txBox="1">
                <a:spLocks noChangeArrowheads="1"/>
              </p:cNvSpPr>
              <p:nvPr/>
            </p:nvSpPr>
            <p:spPr bwMode="auto">
              <a:xfrm>
                <a:off x="7293854" y="7221761"/>
                <a:ext cx="1599795" cy="22695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marL="116205" indent="-116205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rgbClr val="000000"/>
                    </a:solidFill>
                    <a:latin typeface="+mj-lt"/>
                    <a:ea typeface="MS PGothic" panose="020B0600070205080204" pitchFamily="34" charset="-128"/>
                    <a:cs typeface="MS PGothic" panose="020B0600070205080204" pitchFamily="34" charset="-128"/>
                  </a:rPr>
                  <a:t>Test Tools</a:t>
                </a:r>
                <a:endParaRPr lang="en-US" sz="1200" b="1" dirty="0">
                  <a:solidFill>
                    <a:srgbClr val="000000"/>
                  </a:solidFill>
                  <a:latin typeface="+mj-lt"/>
                  <a:ea typeface="MS PGothic" panose="020B0600070205080204" pitchFamily="34" charset="-128"/>
                  <a:cs typeface="MS PGothic" panose="020B0600070205080204" pitchFamily="34" charset="-128"/>
                </a:endParaRPr>
              </a:p>
            </p:txBody>
          </p:sp>
        </p:grpSp>
        <p:pic>
          <p:nvPicPr>
            <p:cNvPr id="80939" name="Picture 32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29894" y="3961723"/>
              <a:ext cx="401637" cy="393700"/>
            </a:xfrm>
            <a:prstGeom prst="rect">
              <a:avLst/>
            </a:prstGeom>
            <a:noFill/>
            <a:ln w="21600">
              <a:noFill/>
              <a:round/>
            </a:ln>
          </p:spPr>
        </p:pic>
      </p:grpSp>
      <p:pic>
        <p:nvPicPr>
          <p:cNvPr id="80920" name="Picture 27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28600" y="1811338"/>
            <a:ext cx="3429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0921" name="Group 48"/>
          <p:cNvGrpSpPr/>
          <p:nvPr/>
        </p:nvGrpSpPr>
        <p:grpSpPr bwMode="auto">
          <a:xfrm>
            <a:off x="1533525" y="2276475"/>
            <a:ext cx="1555750" cy="769938"/>
            <a:chOff x="2024049" y="3621229"/>
            <a:chExt cx="1556950" cy="769826"/>
          </a:xfrm>
        </p:grpSpPr>
        <p:sp>
          <p:nvSpPr>
            <p:cNvPr id="80936" name="TextBox 28"/>
            <p:cNvSpPr txBox="1">
              <a:spLocks noChangeArrowheads="1"/>
            </p:cNvSpPr>
            <p:nvPr/>
          </p:nvSpPr>
          <p:spPr bwMode="auto">
            <a:xfrm rot="5400000">
              <a:off x="2417611" y="3227667"/>
              <a:ext cx="769826" cy="15569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9600">
                  <a:sym typeface="Symbol" panose="05050102010706020507" pitchFamily="18" charset="2"/>
                </a:rPr>
                <a:t></a:t>
              </a:r>
              <a:endParaRPr lang="en-US" sz="9600"/>
            </a:p>
          </p:txBody>
        </p:sp>
        <p:sp>
          <p:nvSpPr>
            <p:cNvPr id="80937" name="TextBox 36"/>
            <p:cNvSpPr txBox="1">
              <a:spLocks noChangeArrowheads="1"/>
            </p:cNvSpPr>
            <p:nvPr/>
          </p:nvSpPr>
          <p:spPr bwMode="auto">
            <a:xfrm>
              <a:off x="2086009" y="4010110"/>
              <a:ext cx="1121640" cy="2444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solidFill>
                    <a:schemeClr val="tx2"/>
                  </a:solidFill>
                </a:rPr>
                <a:t>integrated with </a:t>
              </a:r>
              <a:endParaRPr lang="en-US" sz="1000" b="1">
                <a:solidFill>
                  <a:schemeClr val="tx2"/>
                </a:solidFill>
              </a:endParaRPr>
            </a:p>
          </p:txBody>
        </p:sp>
      </p:grpSp>
      <p:sp>
        <p:nvSpPr>
          <p:cNvPr id="45" name="Right Arrow 44"/>
          <p:cNvSpPr>
            <a:spLocks noChangeArrowheads="1"/>
          </p:cNvSpPr>
          <p:nvPr/>
        </p:nvSpPr>
        <p:spPr bwMode="auto">
          <a:xfrm>
            <a:off x="876300" y="2114550"/>
            <a:ext cx="354013" cy="123825"/>
          </a:xfrm>
          <a:prstGeom prst="rightArrow">
            <a:avLst>
              <a:gd name="adj1" fmla="val 50000"/>
              <a:gd name="adj2" fmla="val 50006"/>
            </a:avLst>
          </a:prstGeom>
          <a:solidFill>
            <a:srgbClr val="92D050"/>
          </a:solidFill>
          <a:ln w="9525">
            <a:solidFill>
              <a:srgbClr val="00B050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70" name="Right Arrow 69"/>
          <p:cNvSpPr>
            <a:spLocks noChangeArrowheads="1"/>
          </p:cNvSpPr>
          <p:nvPr/>
        </p:nvSpPr>
        <p:spPr bwMode="auto">
          <a:xfrm>
            <a:off x="3165475" y="1957388"/>
            <a:ext cx="1657350" cy="434975"/>
          </a:xfrm>
          <a:prstGeom prst="rightArrow">
            <a:avLst>
              <a:gd name="adj1" fmla="val 50000"/>
              <a:gd name="adj2" fmla="val 49991"/>
            </a:avLst>
          </a:prstGeom>
          <a:solidFill>
            <a:srgbClr val="92D050"/>
          </a:solidFill>
          <a:ln w="9525">
            <a:solidFill>
              <a:srgbClr val="00B050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80924" name="TextBox 50"/>
          <p:cNvSpPr txBox="1">
            <a:spLocks noChangeArrowheads="1"/>
          </p:cNvSpPr>
          <p:nvPr/>
        </p:nvSpPr>
        <p:spPr bwMode="auto">
          <a:xfrm>
            <a:off x="5880100" y="1782763"/>
            <a:ext cx="20891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Test Environments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0925" name="TextBox 51"/>
          <p:cNvSpPr txBox="1">
            <a:spLocks noChangeArrowheads="1"/>
          </p:cNvSpPr>
          <p:nvPr/>
        </p:nvSpPr>
        <p:spPr bwMode="auto">
          <a:xfrm>
            <a:off x="5676900" y="5419725"/>
            <a:ext cx="24828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Dynamic Infrastructure</a:t>
            </a:r>
            <a:endParaRPr lang="en-US"/>
          </a:p>
        </p:txBody>
      </p:sp>
      <p:sp>
        <p:nvSpPr>
          <p:cNvPr id="80926" name="TextBox 52"/>
          <p:cNvSpPr txBox="1">
            <a:spLocks noChangeArrowheads="1"/>
          </p:cNvSpPr>
          <p:nvPr/>
        </p:nvSpPr>
        <p:spPr bwMode="auto">
          <a:xfrm>
            <a:off x="2840038" y="2997200"/>
            <a:ext cx="2058987" cy="517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sz="1400">
                <a:solidFill>
                  <a:srgbClr val="000000"/>
                </a:solidFill>
              </a:rPr>
              <a:t>Deploy what is ready, virtualize the rest</a:t>
            </a: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80927" name="TextBox 53"/>
          <p:cNvSpPr txBox="1">
            <a:spLocks noChangeArrowheads="1"/>
          </p:cNvSpPr>
          <p:nvPr/>
        </p:nvSpPr>
        <p:spPr bwMode="auto">
          <a:xfrm>
            <a:off x="2811463" y="4124325"/>
            <a:ext cx="2100262" cy="517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Continuously test in   production-like env.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0928" name="TextBox 77"/>
          <p:cNvSpPr txBox="1">
            <a:spLocks noChangeArrowheads="1"/>
          </p:cNvSpPr>
          <p:nvPr/>
        </p:nvSpPr>
        <p:spPr bwMode="auto">
          <a:xfrm>
            <a:off x="2836863" y="5260975"/>
            <a:ext cx="2089150" cy="517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sz="1400">
                <a:solidFill>
                  <a:srgbClr val="000000"/>
                </a:solidFill>
              </a:rPr>
              <a:t>Test using real world network conditions</a:t>
            </a:r>
            <a:endParaRPr lang="en-GB" sz="1400">
              <a:solidFill>
                <a:srgbClr val="000000"/>
              </a:solidFill>
            </a:endParaRPr>
          </a:p>
        </p:txBody>
      </p:sp>
      <p:grpSp>
        <p:nvGrpSpPr>
          <p:cNvPr id="80929" name="Group 57"/>
          <p:cNvGrpSpPr/>
          <p:nvPr/>
        </p:nvGrpSpPr>
        <p:grpSpPr bwMode="auto">
          <a:xfrm>
            <a:off x="520700" y="4908550"/>
            <a:ext cx="2508250" cy="928688"/>
            <a:chOff x="526675" y="5207191"/>
            <a:chExt cx="2507857" cy="929177"/>
          </a:xfrm>
        </p:grpSpPr>
        <p:sp>
          <p:nvSpPr>
            <p:cNvPr id="44" name="Rectangle 43"/>
            <p:cNvSpPr/>
            <p:nvPr/>
          </p:nvSpPr>
          <p:spPr>
            <a:xfrm>
              <a:off x="1328237" y="5561390"/>
              <a:ext cx="1485667" cy="57497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FFFF"/>
                  </a:solidFill>
                </a:rPr>
                <a:t>n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1120307" y="5607452"/>
              <a:ext cx="1914225" cy="28548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marL="116205" indent="-11620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+mj-lt"/>
                  <a:ea typeface="MS PGothic" panose="020B0600070205080204" pitchFamily="34" charset="-128"/>
                  <a:cs typeface="MS PGothic" panose="020B0600070205080204" pitchFamily="34" charset="-128"/>
                </a:rPr>
                <a:t>Test Tools</a:t>
              </a:r>
              <a:endParaRPr lang="en-US" sz="1200" b="1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526675" y="5207191"/>
              <a:ext cx="1504714" cy="4574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80930" name="Picture 8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897188" y="1846263"/>
            <a:ext cx="5969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3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73175" y="5000967"/>
            <a:ext cx="401739" cy="393266"/>
          </a:xfrm>
          <a:prstGeom prst="rect">
            <a:avLst/>
          </a:prstGeom>
          <a:noFill/>
          <a:ln w="21600">
            <a:noFill/>
            <a:round/>
          </a:ln>
        </p:spPr>
      </p:pic>
      <p:sp>
        <p:nvSpPr>
          <p:cNvPr id="68" name="Title 1"/>
          <p:cNvSpPr txBox="1"/>
          <p:nvPr/>
        </p:nvSpPr>
        <p:spPr>
          <a:xfrm>
            <a:off x="937210" y="192881"/>
            <a:ext cx="5700713" cy="7048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 cap="small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r>
              <a:rPr lang="en-US" dirty="0"/>
              <a:t>Continuous testing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5989" y="202293"/>
            <a:ext cx="3033135" cy="523220"/>
          </a:xfrm>
        </p:spPr>
        <p:txBody>
          <a:bodyPr wrap="square" lIns="0" rIns="0" anchor="t">
            <a:spAutoFit/>
          </a:bodyPr>
          <a:lstStyle/>
          <a:p>
            <a:pPr eaLnBrk="1" hangingPunct="1"/>
            <a:r>
              <a:rPr lang="en-US" dirty="0">
                <a:ea typeface="ヒラギノ角ゴ Pro W3" charset="-128"/>
              </a:rPr>
              <a:t>Quality Assessment</a:t>
            </a:r>
            <a:endParaRPr lang="en-US" i="1" dirty="0">
              <a:ea typeface="ヒラギノ角ゴ Pro W3" charset="-128"/>
            </a:endParaRPr>
          </a:p>
        </p:txBody>
      </p:sp>
      <p:grpSp>
        <p:nvGrpSpPr>
          <p:cNvPr id="84994" name="Group 86"/>
          <p:cNvGrpSpPr/>
          <p:nvPr/>
        </p:nvGrpSpPr>
        <p:grpSpPr bwMode="auto">
          <a:xfrm>
            <a:off x="228600" y="1652588"/>
            <a:ext cx="8505825" cy="4519612"/>
            <a:chOff x="48" y="1010"/>
            <a:chExt cx="5756" cy="3058"/>
          </a:xfrm>
        </p:grpSpPr>
        <p:grpSp>
          <p:nvGrpSpPr>
            <p:cNvPr id="84996" name="Group 366"/>
            <p:cNvGrpSpPr/>
            <p:nvPr/>
          </p:nvGrpSpPr>
          <p:grpSpPr bwMode="auto">
            <a:xfrm>
              <a:off x="1872" y="2469"/>
              <a:ext cx="528" cy="411"/>
              <a:chOff x="561976" y="3018040"/>
              <a:chExt cx="1682750" cy="1375241"/>
            </a:xfrm>
          </p:grpSpPr>
          <p:grpSp>
            <p:nvGrpSpPr>
              <p:cNvPr id="85055" name="Group 180"/>
              <p:cNvGrpSpPr/>
              <p:nvPr/>
            </p:nvGrpSpPr>
            <p:grpSpPr bwMode="auto">
              <a:xfrm>
                <a:off x="737220" y="3018040"/>
                <a:ext cx="1507506" cy="1375241"/>
                <a:chOff x="304800" y="3120559"/>
                <a:chExt cx="1507506" cy="1375241"/>
              </a:xfrm>
            </p:grpSpPr>
            <p:sp>
              <p:nvSpPr>
                <p:cNvPr id="127" name="Oval 126"/>
                <p:cNvSpPr>
                  <a:spLocks noChangeAspect="1"/>
                </p:cNvSpPr>
                <p:nvPr/>
              </p:nvSpPr>
              <p:spPr>
                <a:xfrm>
                  <a:off x="304800" y="3120559"/>
                  <a:ext cx="1373515" cy="137524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  <a:effectLst>
                  <a:innerShdw blurRad="25400" dist="12700" dir="18900000">
                    <a:prstClr val="black">
                      <a:alpha val="45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sz="1200">
                    <a:solidFill>
                      <a:srgbClr val="1F497D"/>
                    </a:solidFill>
                    <a:latin typeface="Calibri" panose="020F0502020204030204" charset="0"/>
                    <a:ea typeface="MS PGothic" panose="020B0600070205080204" pitchFamily="34" charset="-128"/>
                    <a:cs typeface="MS PGothic" panose="020B0600070205080204" pitchFamily="34" charset="-128"/>
                  </a:endParaRPr>
                </a:p>
              </p:txBody>
            </p:sp>
            <p:grpSp>
              <p:nvGrpSpPr>
                <p:cNvPr id="85060" name="Group 91"/>
                <p:cNvGrpSpPr>
                  <a:grpSpLocks noChangeAspect="1"/>
                </p:cNvGrpSpPr>
                <p:nvPr/>
              </p:nvGrpSpPr>
              <p:grpSpPr bwMode="auto">
                <a:xfrm>
                  <a:off x="1171091" y="3707403"/>
                  <a:ext cx="641215" cy="590933"/>
                  <a:chOff x="4265612" y="1880441"/>
                  <a:chExt cx="971536" cy="895353"/>
                </a:xfrm>
              </p:grpSpPr>
              <p:grpSp>
                <p:nvGrpSpPr>
                  <p:cNvPr id="85061" name="Group 71"/>
                  <p:cNvGrpSpPr/>
                  <p:nvPr/>
                </p:nvGrpSpPr>
                <p:grpSpPr bwMode="auto">
                  <a:xfrm>
                    <a:off x="4265612" y="1880441"/>
                    <a:ext cx="971536" cy="665114"/>
                    <a:chOff x="4343398" y="1880441"/>
                    <a:chExt cx="971536" cy="665114"/>
                  </a:xfrm>
                </p:grpSpPr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4503762" y="1833546"/>
                      <a:ext cx="648439" cy="45198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  <a:latin typeface="Calibri" panose="020F0502020204030204" charset="0"/>
                        <a:cs typeface="MS PGothic" panose="020B0600070205080204" pitchFamily="34" charset="-128"/>
                      </a:endParaRPr>
                    </a:p>
                  </p:txBody>
                </p:sp>
                <p:sp>
                  <p:nvSpPr>
                    <p:cNvPr id="106" name="Trapezoid 105"/>
                    <p:cNvSpPr/>
                    <p:nvPr/>
                  </p:nvSpPr>
                  <p:spPr>
                    <a:xfrm>
                      <a:off x="4342947" y="2290973"/>
                      <a:ext cx="970069" cy="147032"/>
                    </a:xfrm>
                    <a:prstGeom prst="trapezoid">
                      <a:avLst>
                        <a:gd name="adj" fmla="val 71342"/>
                      </a:avLst>
                    </a:prstGeom>
                    <a:solidFill>
                      <a:schemeClr val="accent1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</a:endParaRPr>
                    </a:p>
                  </p:txBody>
                </p:sp>
              </p:grpSp>
              <p:grpSp>
                <p:nvGrpSpPr>
                  <p:cNvPr id="85062" name="Group 70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362759" y="2479528"/>
                    <a:ext cx="777243" cy="296266"/>
                    <a:chOff x="614037" y="3317724"/>
                    <a:chExt cx="1295400" cy="493776"/>
                  </a:xfrm>
                </p:grpSpPr>
                <p:sp>
                  <p:nvSpPr>
                    <p:cNvPr id="95" name="Rounded Rectangle 94"/>
                    <p:cNvSpPr/>
                    <p:nvPr/>
                  </p:nvSpPr>
                  <p:spPr>
                    <a:xfrm>
                      <a:off x="615649" y="3711388"/>
                      <a:ext cx="1219061" cy="63534"/>
                    </a:xfrm>
                    <a:prstGeom prst="roundRect">
                      <a:avLst/>
                    </a:prstGeom>
                    <a:solidFill>
                      <a:schemeClr val="accent1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  <a:latin typeface="Calibri" panose="020F0502020204030204" charset="0"/>
                        <a:cs typeface="MS PGothic" panose="020B0600070205080204" pitchFamily="34" charset="-128"/>
                      </a:endParaRPr>
                    </a:p>
                  </p:txBody>
                </p:sp>
                <p:sp>
                  <p:nvSpPr>
                    <p:cNvPr id="85064" name="Rounded Rectangle 98"/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1079101" y="3470022"/>
                      <a:ext cx="364929" cy="64141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1"/>
                    </a:solidFill>
                    <a:ln w="9525">
                      <a:noFill/>
                      <a:round/>
                    </a:ln>
                  </p:spPr>
                  <p:txBody>
                    <a:bodyPr tIns="0" anchor="ctr" anchorCtr="1"/>
                    <a:lstStyle/>
                    <a:p>
                      <a:endParaRPr lang="en-US">
                        <a:solidFill>
                          <a:srgbClr val="1F497D"/>
                        </a:solidFill>
                      </a:endParaRPr>
                    </a:p>
                  </p:txBody>
                </p:sp>
                <p:sp>
                  <p:nvSpPr>
                    <p:cNvPr id="101" name="Rounded Rectangle 100"/>
                    <p:cNvSpPr/>
                    <p:nvPr/>
                  </p:nvSpPr>
                  <p:spPr>
                    <a:xfrm>
                      <a:off x="1082524" y="3675084"/>
                      <a:ext cx="354477" cy="13614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  <a:latin typeface="Calibri" panose="020F0502020204030204" charset="0"/>
                        <a:cs typeface="MS PGothic" panose="020B0600070205080204" pitchFamily="34" charset="-128"/>
                      </a:endParaRPr>
                    </a:p>
                  </p:txBody>
                </p:sp>
              </p:grpSp>
            </p:grpSp>
          </p:grpSp>
          <p:pic>
            <p:nvPicPr>
              <p:cNvPr id="85056" name="Picture 6" descr="http://cdn1.iconfinder.com/data/icons/humano2/128x128/emblems/emblem-people.png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561976" y="3141662"/>
                <a:ext cx="1118510" cy="1118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84997" name="Text Box 30"/>
            <p:cNvSpPr txBox="1">
              <a:spLocks noChangeArrowheads="1"/>
            </p:cNvSpPr>
            <p:nvPr/>
          </p:nvSpPr>
          <p:spPr bwMode="auto">
            <a:xfrm>
              <a:off x="3442" y="2880"/>
              <a:ext cx="588" cy="24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Tester</a:t>
              </a:r>
              <a:endParaRPr lang="en-US" b="1"/>
            </a:p>
          </p:txBody>
        </p:sp>
        <p:sp>
          <p:nvSpPr>
            <p:cNvPr id="84998" name="Text Box 31"/>
            <p:cNvSpPr txBox="1">
              <a:spLocks noChangeArrowheads="1"/>
            </p:cNvSpPr>
            <p:nvPr/>
          </p:nvSpPr>
          <p:spPr bwMode="auto">
            <a:xfrm>
              <a:off x="4738" y="2832"/>
              <a:ext cx="890" cy="24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End Users</a:t>
              </a:r>
              <a:endParaRPr lang="en-US" b="1"/>
            </a:p>
          </p:txBody>
        </p:sp>
        <p:sp>
          <p:nvSpPr>
            <p:cNvPr id="84999" name="AutoShape 32"/>
            <p:cNvSpPr>
              <a:spLocks noChangeArrowheads="1"/>
            </p:cNvSpPr>
            <p:nvPr/>
          </p:nvSpPr>
          <p:spPr bwMode="auto">
            <a:xfrm>
              <a:off x="2674" y="2578"/>
              <a:ext cx="576" cy="206"/>
            </a:xfrm>
            <a:prstGeom prst="rightArrow">
              <a:avLst>
                <a:gd name="adj1" fmla="val 73213"/>
                <a:gd name="adj2" fmla="val 106964"/>
              </a:avLst>
            </a:prstGeom>
            <a:solidFill>
              <a:srgbClr val="66CCFF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5000" name="AutoShape 34"/>
            <p:cNvCxnSpPr>
              <a:cxnSpLocks noChangeShapeType="1"/>
            </p:cNvCxnSpPr>
            <p:nvPr/>
          </p:nvCxnSpPr>
          <p:spPr bwMode="auto">
            <a:xfrm rot="-5400000" flipH="1" flipV="1">
              <a:off x="2741" y="1650"/>
              <a:ext cx="79" cy="1625"/>
            </a:xfrm>
            <a:prstGeom prst="curvedConnector3">
              <a:avLst>
                <a:gd name="adj1" fmla="val -491000"/>
              </a:avLst>
            </a:prstGeom>
            <a:noFill/>
            <a:ln w="57150">
              <a:solidFill>
                <a:srgbClr val="66CCFF"/>
              </a:solidFill>
              <a:round/>
              <a:tailEnd type="triangle" w="med" len="med"/>
            </a:ln>
          </p:spPr>
        </p:cxnSp>
        <p:sp>
          <p:nvSpPr>
            <p:cNvPr id="85001" name="Text Box 29"/>
            <p:cNvSpPr txBox="1">
              <a:spLocks noChangeArrowheads="1"/>
            </p:cNvSpPr>
            <p:nvPr/>
          </p:nvSpPr>
          <p:spPr bwMode="auto">
            <a:xfrm>
              <a:off x="1714" y="2832"/>
              <a:ext cx="873" cy="24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Developer</a:t>
              </a:r>
              <a:endParaRPr lang="en-US" b="1"/>
            </a:p>
          </p:txBody>
        </p:sp>
        <p:sp>
          <p:nvSpPr>
            <p:cNvPr id="5130" name="Text Box 33"/>
            <p:cNvSpPr txBox="1">
              <a:spLocks noChangeArrowheads="1"/>
            </p:cNvSpPr>
            <p:nvPr/>
          </p:nvSpPr>
          <p:spPr bwMode="auto">
            <a:xfrm>
              <a:off x="1798" y="3221"/>
              <a:ext cx="1433" cy="1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dirty="0"/>
                <a:t>Over the air build distribution</a:t>
              </a:r>
              <a:endParaRPr lang="en-US" sz="1200" dirty="0"/>
            </a:p>
          </p:txBody>
        </p:sp>
        <p:sp>
          <p:nvSpPr>
            <p:cNvPr id="5132" name="Oval 35"/>
            <p:cNvSpPr>
              <a:spLocks noChangeArrowheads="1"/>
            </p:cNvSpPr>
            <p:nvPr/>
          </p:nvSpPr>
          <p:spPr bwMode="auto">
            <a:xfrm>
              <a:off x="1570" y="3168"/>
              <a:ext cx="240" cy="24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r">
                <a:defRPr/>
              </a:pPr>
              <a:r>
                <a:rPr lang="fr-FR" dirty="0">
                  <a:latin typeface="Arial" panose="020B0604020202020204" pitchFamily="34" charset="0"/>
                  <a:ea typeface="MS PGothic" panose="020B0600070205080204" pitchFamily="34" charset="-128"/>
                </a:rPr>
                <a:t>     1</a:t>
              </a:r>
              <a:endParaRPr lang="en-US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5133" name="Text Box 36"/>
            <p:cNvSpPr txBox="1">
              <a:spLocks noChangeArrowheads="1"/>
            </p:cNvSpPr>
            <p:nvPr/>
          </p:nvSpPr>
          <p:spPr bwMode="auto">
            <a:xfrm>
              <a:off x="3360" y="3186"/>
              <a:ext cx="1133" cy="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dirty="0"/>
                <a:t>In app bug reporting  </a:t>
              </a:r>
              <a:endParaRPr lang="en-US" sz="1200" dirty="0"/>
            </a:p>
          </p:txBody>
        </p:sp>
        <p:sp>
          <p:nvSpPr>
            <p:cNvPr id="5134" name="Oval 37"/>
            <p:cNvSpPr>
              <a:spLocks noChangeArrowheads="1"/>
            </p:cNvSpPr>
            <p:nvPr/>
          </p:nvSpPr>
          <p:spPr bwMode="auto">
            <a:xfrm>
              <a:off x="3154" y="3040"/>
              <a:ext cx="240" cy="24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r>
                <a:rPr lang="en-US" dirty="0">
                  <a:latin typeface="Arial" panose="020B0604020202020204" pitchFamily="34" charset="0"/>
                  <a:ea typeface="MS PGothic" panose="020B0600070205080204" pitchFamily="34" charset="-128"/>
                </a:rPr>
                <a:t>2</a:t>
              </a:r>
              <a:endParaRPr lang="en-US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5137" name="Text Box 40"/>
            <p:cNvSpPr txBox="1">
              <a:spLocks noChangeArrowheads="1"/>
            </p:cNvSpPr>
            <p:nvPr/>
          </p:nvSpPr>
          <p:spPr bwMode="auto">
            <a:xfrm>
              <a:off x="3154" y="1633"/>
              <a:ext cx="1027" cy="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dirty="0"/>
                <a:t>Crash log reporting </a:t>
              </a:r>
              <a:endParaRPr lang="en-US" sz="1200" dirty="0"/>
            </a:p>
          </p:txBody>
        </p:sp>
        <p:sp>
          <p:nvSpPr>
            <p:cNvPr id="5138" name="Oval 41"/>
            <p:cNvSpPr>
              <a:spLocks noChangeArrowheads="1"/>
            </p:cNvSpPr>
            <p:nvPr/>
          </p:nvSpPr>
          <p:spPr bwMode="auto">
            <a:xfrm>
              <a:off x="3442" y="1392"/>
              <a:ext cx="244" cy="24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r>
                <a:rPr lang="fr-FR" dirty="0">
                  <a:latin typeface="Arial" panose="020B0604020202020204" pitchFamily="34" charset="0"/>
                  <a:ea typeface="MS PGothic" panose="020B0600070205080204" pitchFamily="34" charset="-128"/>
                </a:rPr>
                <a:t>4</a:t>
              </a:r>
              <a:endParaRPr lang="en-US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5139" name="Text Box 42"/>
            <p:cNvSpPr txBox="1">
              <a:spLocks noChangeArrowheads="1"/>
            </p:cNvSpPr>
            <p:nvPr/>
          </p:nvSpPr>
          <p:spPr bwMode="auto">
            <a:xfrm>
              <a:off x="4690" y="3216"/>
              <a:ext cx="1114" cy="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dirty="0"/>
                <a:t>In app user feedback </a:t>
              </a:r>
              <a:endParaRPr lang="en-US" sz="1200" dirty="0"/>
            </a:p>
          </p:txBody>
        </p:sp>
        <p:sp>
          <p:nvSpPr>
            <p:cNvPr id="5140" name="Oval 43"/>
            <p:cNvSpPr>
              <a:spLocks noChangeArrowheads="1"/>
            </p:cNvSpPr>
            <p:nvPr/>
          </p:nvSpPr>
          <p:spPr bwMode="auto">
            <a:xfrm>
              <a:off x="4450" y="3168"/>
              <a:ext cx="240" cy="24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r>
                <a:rPr lang="fr-FR" dirty="0">
                  <a:latin typeface="Arial" panose="020B0604020202020204" pitchFamily="34" charset="0"/>
                  <a:ea typeface="MS PGothic" panose="020B0600070205080204" pitchFamily="34" charset="-128"/>
                </a:rPr>
                <a:t>3</a:t>
              </a:r>
              <a:endParaRPr lang="en-US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85010" name="Group 19"/>
            <p:cNvGrpSpPr/>
            <p:nvPr/>
          </p:nvGrpSpPr>
          <p:grpSpPr bwMode="auto">
            <a:xfrm>
              <a:off x="3490" y="2472"/>
              <a:ext cx="479" cy="456"/>
              <a:chOff x="3216" y="3453"/>
              <a:chExt cx="911" cy="867"/>
            </a:xfrm>
          </p:grpSpPr>
          <p:grpSp>
            <p:nvGrpSpPr>
              <p:cNvPr id="85051" name="Oval 127"/>
              <p:cNvGrpSpPr>
                <a:grpSpLocks noChangeAspect="1"/>
              </p:cNvGrpSpPr>
              <p:nvPr/>
            </p:nvGrpSpPr>
            <p:grpSpPr bwMode="auto">
              <a:xfrm>
                <a:off x="3254" y="3448"/>
                <a:ext cx="876" cy="876"/>
                <a:chOff x="5571744" y="3919728"/>
                <a:chExt cx="731520" cy="731520"/>
              </a:xfrm>
            </p:grpSpPr>
            <p:pic>
              <p:nvPicPr>
                <p:cNvPr id="85053" name="Oval 127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5571744" y="3919728"/>
                  <a:ext cx="731520" cy="7315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5054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5682004" y="4031025"/>
                  <a:ext cx="510543" cy="5112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tIns="0" anchor="ctr" anchorCtr="1"/>
                <a:lstStyle/>
                <a:p>
                  <a:endParaRPr lang="en-US" sz="1200">
                    <a:solidFill>
                      <a:srgbClr val="1F497D"/>
                    </a:solidFill>
                    <a:latin typeface="Calibri" panose="020F0502020204030204" charset="0"/>
                  </a:endParaRPr>
                </a:p>
              </p:txBody>
            </p:sp>
          </p:grpSp>
          <p:pic>
            <p:nvPicPr>
              <p:cNvPr id="85052" name="Picture 10" descr="Female User Icon Clip Art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16" y="3595"/>
                <a:ext cx="538" cy="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85011" name="AutoShape 34"/>
            <p:cNvCxnSpPr>
              <a:cxnSpLocks noChangeShapeType="1"/>
            </p:cNvCxnSpPr>
            <p:nvPr/>
          </p:nvCxnSpPr>
          <p:spPr bwMode="auto">
            <a:xfrm rot="-5400000" flipH="1" flipV="1">
              <a:off x="3489" y="913"/>
              <a:ext cx="45" cy="3116"/>
            </a:xfrm>
            <a:prstGeom prst="curvedConnector3">
              <a:avLst>
                <a:gd name="adj1" fmla="val -2504778"/>
              </a:avLst>
            </a:prstGeom>
            <a:noFill/>
            <a:ln w="57150">
              <a:solidFill>
                <a:srgbClr val="66CCFF"/>
              </a:solidFill>
              <a:round/>
              <a:tailEnd type="triangle" w="med" len="med"/>
            </a:ln>
          </p:spPr>
        </p:cxnSp>
        <p:sp>
          <p:nvSpPr>
            <p:cNvPr id="85012" name="AutoShape 32"/>
            <p:cNvSpPr>
              <a:spLocks noChangeArrowheads="1"/>
            </p:cNvSpPr>
            <p:nvPr/>
          </p:nvSpPr>
          <p:spPr bwMode="auto">
            <a:xfrm>
              <a:off x="4176" y="2578"/>
              <a:ext cx="576" cy="206"/>
            </a:xfrm>
            <a:prstGeom prst="rightArrow">
              <a:avLst>
                <a:gd name="adj1" fmla="val 73213"/>
                <a:gd name="adj2" fmla="val 106964"/>
              </a:avLst>
            </a:prstGeom>
            <a:solidFill>
              <a:srgbClr val="66CCFF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5013" name="Group 366"/>
            <p:cNvGrpSpPr/>
            <p:nvPr/>
          </p:nvGrpSpPr>
          <p:grpSpPr bwMode="auto">
            <a:xfrm>
              <a:off x="4848" y="2469"/>
              <a:ext cx="528" cy="411"/>
              <a:chOff x="561976" y="3018040"/>
              <a:chExt cx="1682750" cy="1375241"/>
            </a:xfrm>
          </p:grpSpPr>
          <p:grpSp>
            <p:nvGrpSpPr>
              <p:cNvPr id="85038" name="Group 180"/>
              <p:cNvGrpSpPr/>
              <p:nvPr/>
            </p:nvGrpSpPr>
            <p:grpSpPr bwMode="auto">
              <a:xfrm>
                <a:off x="737220" y="3018040"/>
                <a:ext cx="1507506" cy="1375241"/>
                <a:chOff x="304800" y="3120559"/>
                <a:chExt cx="1507506" cy="1375241"/>
              </a:xfrm>
            </p:grpSpPr>
            <p:sp>
              <p:nvSpPr>
                <p:cNvPr id="82" name="Oval 81"/>
                <p:cNvSpPr>
                  <a:spLocks noChangeAspect="1"/>
                </p:cNvSpPr>
                <p:nvPr/>
              </p:nvSpPr>
              <p:spPr>
                <a:xfrm>
                  <a:off x="304800" y="3120559"/>
                  <a:ext cx="1373515" cy="137524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  <a:effectLst>
                  <a:innerShdw blurRad="25400" dist="12700" dir="18900000">
                    <a:prstClr val="black">
                      <a:alpha val="45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sz="1200">
                    <a:solidFill>
                      <a:srgbClr val="1F497D"/>
                    </a:solidFill>
                    <a:latin typeface="Calibri" panose="020F0502020204030204" charset="0"/>
                    <a:ea typeface="MS PGothic" panose="020B0600070205080204" pitchFamily="34" charset="-128"/>
                    <a:cs typeface="MS PGothic" panose="020B0600070205080204" pitchFamily="34" charset="-128"/>
                  </a:endParaRPr>
                </a:p>
              </p:txBody>
            </p:sp>
            <p:grpSp>
              <p:nvGrpSpPr>
                <p:cNvPr id="85043" name="Group 91"/>
                <p:cNvGrpSpPr>
                  <a:grpSpLocks noChangeAspect="1"/>
                </p:cNvGrpSpPr>
                <p:nvPr/>
              </p:nvGrpSpPr>
              <p:grpSpPr bwMode="auto">
                <a:xfrm>
                  <a:off x="1171091" y="3707403"/>
                  <a:ext cx="641215" cy="590933"/>
                  <a:chOff x="4265612" y="1880441"/>
                  <a:chExt cx="971536" cy="895353"/>
                </a:xfrm>
              </p:grpSpPr>
              <p:grpSp>
                <p:nvGrpSpPr>
                  <p:cNvPr id="85044" name="Group 71"/>
                  <p:cNvGrpSpPr/>
                  <p:nvPr/>
                </p:nvGrpSpPr>
                <p:grpSpPr bwMode="auto">
                  <a:xfrm>
                    <a:off x="4265612" y="1880441"/>
                    <a:ext cx="971536" cy="665114"/>
                    <a:chOff x="4343398" y="1880441"/>
                    <a:chExt cx="971536" cy="665114"/>
                  </a:xfrm>
                </p:grpSpPr>
                <p:sp>
                  <p:nvSpPr>
                    <p:cNvPr id="90" name="Rectangle 89"/>
                    <p:cNvSpPr/>
                    <p:nvPr/>
                  </p:nvSpPr>
                  <p:spPr>
                    <a:xfrm>
                      <a:off x="4502602" y="1833546"/>
                      <a:ext cx="653628" cy="45198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  <a:latin typeface="Calibri" panose="020F0502020204030204" charset="0"/>
                        <a:cs typeface="MS PGothic" panose="020B0600070205080204" pitchFamily="34" charset="-128"/>
                      </a:endParaRPr>
                    </a:p>
                  </p:txBody>
                </p:sp>
                <p:sp>
                  <p:nvSpPr>
                    <p:cNvPr id="91" name="Trapezoid 90"/>
                    <p:cNvSpPr/>
                    <p:nvPr/>
                  </p:nvSpPr>
                  <p:spPr>
                    <a:xfrm>
                      <a:off x="4341787" y="2290973"/>
                      <a:ext cx="975255" cy="147032"/>
                    </a:xfrm>
                    <a:prstGeom prst="trapezoid">
                      <a:avLst>
                        <a:gd name="adj" fmla="val 71342"/>
                      </a:avLst>
                    </a:prstGeom>
                    <a:solidFill>
                      <a:schemeClr val="accent1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</a:endParaRPr>
                    </a:p>
                  </p:txBody>
                </p:sp>
              </p:grpSp>
              <p:grpSp>
                <p:nvGrpSpPr>
                  <p:cNvPr id="85045" name="Group 70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362759" y="2479528"/>
                    <a:ext cx="777243" cy="296266"/>
                    <a:chOff x="614037" y="3317724"/>
                    <a:chExt cx="1295400" cy="493776"/>
                  </a:xfrm>
                </p:grpSpPr>
                <p:sp>
                  <p:nvSpPr>
                    <p:cNvPr id="86" name="Rounded Rectangle 85"/>
                    <p:cNvSpPr/>
                    <p:nvPr/>
                  </p:nvSpPr>
                  <p:spPr>
                    <a:xfrm>
                      <a:off x="613716" y="3711388"/>
                      <a:ext cx="1296876" cy="63534"/>
                    </a:xfrm>
                    <a:prstGeom prst="roundRect">
                      <a:avLst/>
                    </a:prstGeom>
                    <a:solidFill>
                      <a:schemeClr val="accent1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  <a:latin typeface="Calibri" panose="020F0502020204030204" charset="0"/>
                        <a:cs typeface="MS PGothic" panose="020B0600070205080204" pitchFamily="34" charset="-128"/>
                      </a:endParaRPr>
                    </a:p>
                  </p:txBody>
                </p:sp>
                <p:sp>
                  <p:nvSpPr>
                    <p:cNvPr id="85047" name="Rounded Rectangle 98"/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1079101" y="3470022"/>
                      <a:ext cx="364929" cy="64141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1"/>
                    </a:solidFill>
                    <a:ln w="9525">
                      <a:noFill/>
                      <a:round/>
                    </a:ln>
                  </p:spPr>
                  <p:txBody>
                    <a:bodyPr tIns="0" anchor="ctr" anchorCtr="1"/>
                    <a:lstStyle/>
                    <a:p>
                      <a:endParaRPr lang="en-US">
                        <a:solidFill>
                          <a:srgbClr val="1F497D"/>
                        </a:solidFill>
                      </a:endParaRPr>
                    </a:p>
                  </p:txBody>
                </p:sp>
                <p:sp>
                  <p:nvSpPr>
                    <p:cNvPr id="89" name="Rounded Rectangle 88"/>
                    <p:cNvSpPr/>
                    <p:nvPr/>
                  </p:nvSpPr>
                  <p:spPr>
                    <a:xfrm>
                      <a:off x="1080591" y="3675084"/>
                      <a:ext cx="363125" cy="13614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tIns="0" anchor="ctr" anchorCtr="1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1F497D"/>
                        </a:solidFill>
                        <a:latin typeface="Calibri" panose="020F0502020204030204" charset="0"/>
                        <a:cs typeface="MS PGothic" panose="020B0600070205080204" pitchFamily="34" charset="-128"/>
                      </a:endParaRPr>
                    </a:p>
                  </p:txBody>
                </p:sp>
              </p:grpSp>
            </p:grpSp>
          </p:grpSp>
          <p:pic>
            <p:nvPicPr>
              <p:cNvPr id="85039" name="Picture 6" descr="http://cdn1.iconfinder.com/data/icons/humano2/128x128/emblems/emblem-people.png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561976" y="3141662"/>
                <a:ext cx="1118510" cy="1118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85014" name="Picture 4" descr="Screen Shot 2013-07-24 at 7.24.52 PM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56" y="1778"/>
              <a:ext cx="1336" cy="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015" name="Picture 5" descr="Screen Shot 2013-07-25 at 5.40.22 PM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404" y="1751"/>
              <a:ext cx="760" cy="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016" name="Picture 6" descr="Screen Shot 2013-07-25 at 5.44.16 PM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354" y="1106"/>
              <a:ext cx="772" cy="7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017" name="Picture 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600" y="3408"/>
              <a:ext cx="396" cy="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018" name="Picture 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992" y="3408"/>
              <a:ext cx="396" cy="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5019" name="Group 19"/>
            <p:cNvGrpSpPr/>
            <p:nvPr/>
          </p:nvGrpSpPr>
          <p:grpSpPr bwMode="auto">
            <a:xfrm>
              <a:off x="480" y="2400"/>
              <a:ext cx="479" cy="456"/>
              <a:chOff x="3216" y="3453"/>
              <a:chExt cx="911" cy="867"/>
            </a:xfrm>
          </p:grpSpPr>
          <p:grpSp>
            <p:nvGrpSpPr>
              <p:cNvPr id="85034" name="Oval 127"/>
              <p:cNvGrpSpPr>
                <a:grpSpLocks noChangeAspect="1"/>
              </p:cNvGrpSpPr>
              <p:nvPr/>
            </p:nvGrpSpPr>
            <p:grpSpPr bwMode="auto">
              <a:xfrm>
                <a:off x="3253" y="3453"/>
                <a:ext cx="876" cy="869"/>
                <a:chOff x="792480" y="3810000"/>
                <a:chExt cx="731520" cy="725424"/>
              </a:xfrm>
            </p:grpSpPr>
            <p:pic>
              <p:nvPicPr>
                <p:cNvPr id="85036" name="Oval 127"/>
                <p:cNvPicPr>
                  <a:picLocks noChangeAspect="1" noChangeArrowheads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792480" y="3810000"/>
                  <a:ext cx="731520" cy="7254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5037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903629" y="3916725"/>
                  <a:ext cx="510543" cy="5112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tIns="0" anchor="ctr" anchorCtr="1"/>
                <a:lstStyle/>
                <a:p>
                  <a:endParaRPr lang="en-US" sz="1200">
                    <a:solidFill>
                      <a:srgbClr val="1F497D"/>
                    </a:solidFill>
                    <a:latin typeface="Calibri" panose="020F0502020204030204" charset="0"/>
                  </a:endParaRPr>
                </a:p>
              </p:txBody>
            </p:sp>
          </p:grpSp>
          <p:pic>
            <p:nvPicPr>
              <p:cNvPr id="85035" name="Picture 10" descr="Female User Icon Clip Art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16" y="3595"/>
                <a:ext cx="538" cy="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85020" name="AutoShape 39"/>
            <p:cNvCxnSpPr>
              <a:cxnSpLocks noChangeShapeType="1"/>
            </p:cNvCxnSpPr>
            <p:nvPr/>
          </p:nvCxnSpPr>
          <p:spPr bwMode="auto">
            <a:xfrm rot="-5400000" flipH="1" flipV="1">
              <a:off x="2867" y="207"/>
              <a:ext cx="75" cy="4320"/>
            </a:xfrm>
            <a:prstGeom prst="curvedConnector3">
              <a:avLst>
                <a:gd name="adj1" fmla="val -1651120"/>
              </a:avLst>
            </a:prstGeom>
            <a:noFill/>
            <a:ln w="57150">
              <a:solidFill>
                <a:srgbClr val="66CCFF"/>
              </a:solidFill>
              <a:round/>
              <a:tailEnd type="triangle" w="med" len="med"/>
            </a:ln>
          </p:spPr>
        </p:cxnSp>
        <p:sp>
          <p:nvSpPr>
            <p:cNvPr id="85021" name="Text Box 31"/>
            <p:cNvSpPr txBox="1">
              <a:spLocks noChangeArrowheads="1"/>
            </p:cNvSpPr>
            <p:nvPr/>
          </p:nvSpPr>
          <p:spPr bwMode="auto">
            <a:xfrm>
              <a:off x="167" y="2827"/>
              <a:ext cx="1655" cy="2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LOB/Digital Marketer</a:t>
              </a:r>
              <a:endParaRPr lang="en-US" b="1"/>
            </a:p>
          </p:txBody>
        </p:sp>
        <p:sp>
          <p:nvSpPr>
            <p:cNvPr id="29724" name="Text Box 44"/>
            <p:cNvSpPr txBox="1">
              <a:spLocks noChangeArrowheads="1"/>
            </p:cNvSpPr>
            <p:nvPr/>
          </p:nvSpPr>
          <p:spPr bwMode="auto">
            <a:xfrm>
              <a:off x="288" y="3216"/>
              <a:ext cx="999" cy="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US" sz="1200" dirty="0"/>
                <a:t>Sentiment Analysis</a:t>
              </a:r>
              <a:endParaRPr lang="en-US" sz="1200" dirty="0"/>
            </a:p>
          </p:txBody>
        </p:sp>
        <p:sp>
          <p:nvSpPr>
            <p:cNvPr id="74" name="Oval 45"/>
            <p:cNvSpPr>
              <a:spLocks noChangeArrowheads="1"/>
            </p:cNvSpPr>
            <p:nvPr/>
          </p:nvSpPr>
          <p:spPr bwMode="auto">
            <a:xfrm>
              <a:off x="48" y="3168"/>
              <a:ext cx="240" cy="24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r>
                <a:rPr lang="en-US" dirty="0">
                  <a:latin typeface="Arial" panose="020B0604020202020204" pitchFamily="34" charset="0"/>
                  <a:ea typeface="MS PGothic" panose="020B0600070205080204" pitchFamily="34" charset="-128"/>
                </a:rPr>
                <a:t>5</a:t>
              </a:r>
              <a:endParaRPr lang="en-US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75" name="AutoShape 32"/>
            <p:cNvSpPr>
              <a:spLocks noChangeArrowheads="1"/>
            </p:cNvSpPr>
            <p:nvPr/>
          </p:nvSpPr>
          <p:spPr bwMode="auto">
            <a:xfrm>
              <a:off x="1104" y="2578"/>
              <a:ext cx="576" cy="206"/>
            </a:xfrm>
            <a:prstGeom prst="rightArrow">
              <a:avLst>
                <a:gd name="adj1" fmla="val 73213"/>
                <a:gd name="adj2" fmla="val 106841"/>
              </a:avLst>
            </a:prstGeom>
            <a:solidFill>
              <a:srgbClr val="66CCFF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85025" name="Picture 76" descr="Screen Shot 2013-07-25 at 5.47.41 PM.pn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964" y="1010"/>
              <a:ext cx="1336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026" name="Picture 61" descr="Screen Shot 2013-07-25 at 5.51.09 PM.png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1636" y="3410"/>
              <a:ext cx="1609" cy="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" name="TextBox 68"/>
            <p:cNvSpPr txBox="1"/>
            <p:nvPr/>
          </p:nvSpPr>
          <p:spPr>
            <a:xfrm>
              <a:off x="1706" y="3464"/>
              <a:ext cx="410" cy="16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Builds 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25" y="1056"/>
              <a:ext cx="756" cy="164"/>
            </a:xfrm>
            <a:prstGeom prst="rect">
              <a:avLst/>
            </a:prstGeom>
            <a:solidFill>
              <a:schemeClr val="accent3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User Feedback 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400" y="1152"/>
              <a:ext cx="592" cy="165"/>
            </a:xfrm>
            <a:prstGeom prst="rect">
              <a:avLst/>
            </a:prstGeom>
            <a:solidFill>
              <a:schemeClr val="accent3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Crash logs 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479" y="1824"/>
              <a:ext cx="338" cy="164"/>
            </a:xfrm>
            <a:prstGeom prst="rect">
              <a:avLst/>
            </a:prstGeom>
            <a:solidFill>
              <a:schemeClr val="accent3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Bugs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44" y="1873"/>
              <a:ext cx="842" cy="165"/>
            </a:xfrm>
            <a:prstGeom prst="rect">
              <a:avLst/>
            </a:prstGeom>
            <a:solidFill>
              <a:schemeClr val="accent3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Bugs vs. Crashes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92" y="3505"/>
              <a:ext cx="1104" cy="269"/>
            </a:xfrm>
            <a:prstGeom prst="rect">
              <a:avLst/>
            </a:prstGeom>
            <a:solidFill>
              <a:srgbClr val="FFFFFF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Quality Dashboard  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  <a:p>
              <a:pPr>
                <a:defRPr/>
              </a:pPr>
              <a:r>
                <a:rPr lang="en-US" sz="1050" dirty="0">
                  <a:latin typeface="Arial" panose="020B0604020202020204" pitchFamily="34" charset="0"/>
                  <a:ea typeface="MS PGothic" panose="020B0600070205080204" pitchFamily="34" charset="-128"/>
                </a:rPr>
                <a:t>with Sentiment Analysis</a:t>
              </a:r>
              <a:r>
                <a:rPr lang="en-US" sz="1050" b="1" dirty="0">
                  <a:latin typeface="Arial" panose="020B0604020202020204" pitchFamily="34" charset="0"/>
                  <a:ea typeface="MS PGothic" panose="020B0600070205080204" pitchFamily="34" charset="-128"/>
                </a:rPr>
                <a:t> </a:t>
              </a:r>
              <a:endParaRPr lang="en-US" sz="1050" b="1" dirty="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85033" name="Picture 67" descr="Screen Shot 2013-07-24 at 7.42.19 PM.png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127" y="3437"/>
              <a:ext cx="1574" cy="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89" name="Group 1"/>
          <p:cNvGrpSpPr/>
          <p:nvPr/>
        </p:nvGrpSpPr>
        <p:grpSpPr bwMode="auto">
          <a:xfrm>
            <a:off x="1450975" y="1371600"/>
            <a:ext cx="6896100" cy="4079875"/>
            <a:chOff x="1479130" y="1286843"/>
            <a:chExt cx="6979070" cy="4128139"/>
          </a:xfrm>
        </p:grpSpPr>
        <p:pic>
          <p:nvPicPr>
            <p:cNvPr id="89125" name="Picture 4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 flipV="1">
              <a:off x="1981200" y="2461260"/>
              <a:ext cx="2778624" cy="575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9126" name="Picture 4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 flipV="1">
              <a:off x="5374776" y="2476624"/>
              <a:ext cx="2778624" cy="575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ounded Rectangle 4"/>
            <p:cNvSpPr>
              <a:spLocks noChangeArrowheads="1"/>
            </p:cNvSpPr>
            <p:nvPr/>
          </p:nvSpPr>
          <p:spPr bwMode="gray">
            <a:xfrm>
              <a:off x="2590897" y="1410527"/>
              <a:ext cx="5105775" cy="1117971"/>
            </a:xfrm>
            <a:prstGeom prst="roundRect">
              <a:avLst>
                <a:gd name="adj" fmla="val 7403"/>
              </a:avLst>
            </a:prstGeom>
            <a:solidFill>
              <a:srgbClr val="F2F2F2"/>
            </a:solidFill>
            <a:ln w="6350">
              <a:solidFill>
                <a:srgbClr val="FFFFFF"/>
              </a:solidFill>
              <a:rou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 sz="1400" kern="0" dirty="0">
                <a:ln w="28575">
                  <a:solidFill>
                    <a:srgbClr val="003D66"/>
                  </a:solidFill>
                </a:ln>
                <a:solidFill>
                  <a:srgbClr val="00000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" name="CustomShape 1"/>
            <p:cNvSpPr>
              <a:spLocks noChangeArrowheads="1"/>
            </p:cNvSpPr>
            <p:nvPr/>
          </p:nvSpPr>
          <p:spPr bwMode="auto">
            <a:xfrm>
              <a:off x="1578739" y="2979862"/>
              <a:ext cx="6879461" cy="1256111"/>
            </a:xfrm>
            <a:prstGeom prst="roundRect">
              <a:avLst>
                <a:gd name="adj" fmla="val 1852"/>
              </a:avLst>
            </a:prstGeom>
            <a:solidFill>
              <a:srgbClr val="F2F2F2"/>
            </a:solidFill>
            <a:ln w="6350">
              <a:solidFill>
                <a:srgbClr val="FFFFFF"/>
              </a:solidFill>
              <a:rou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sz="1400" kern="0" dirty="0">
                <a:ln w="28575">
                  <a:solidFill>
                    <a:srgbClr val="003D66"/>
                  </a:solidFill>
                </a:ln>
                <a:solidFill>
                  <a:srgbClr val="000000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7" name="CustomShape 5"/>
            <p:cNvSpPr/>
            <p:nvPr/>
          </p:nvSpPr>
          <p:spPr>
            <a:xfrm>
              <a:off x="2658374" y="1953450"/>
              <a:ext cx="4922622" cy="48349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/>
            </a:gradFill>
            <a:ln w="12600">
              <a:solidFill>
                <a:srgbClr val="666666"/>
              </a:solidFill>
              <a:round/>
            </a:ln>
          </p:spPr>
          <p:txBody>
            <a:bodyPr lIns="75807" tIns="9144" rIns="75807" bIns="37904"/>
            <a:lstStyle/>
            <a:p>
              <a:pPr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Lubalin Demi for IBM" pitchFamily="18" charset="0"/>
                  <a:ea typeface="MS PGothic" panose="020B0600070205080204" pitchFamily="34" charset="-128"/>
                </a:rPr>
                <a:t>Environments</a:t>
              </a:r>
              <a:endParaRPr sz="1200" b="1" dirty="0">
                <a:solidFill>
                  <a:prstClr val="black"/>
                </a:solidFill>
                <a:latin typeface="Lubalin Demi for IBM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89130" name="CustomShape 7"/>
            <p:cNvSpPr>
              <a:spLocks noChangeArrowheads="1"/>
            </p:cNvSpPr>
            <p:nvPr/>
          </p:nvSpPr>
          <p:spPr bwMode="auto">
            <a:xfrm>
              <a:off x="5111265" y="2193927"/>
              <a:ext cx="1084476" cy="192685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0383BD"/>
                </a:gs>
                <a:gs pos="100000">
                  <a:srgbClr val="037BB1"/>
                </a:gs>
              </a:gsLst>
              <a:lin ang="5400000"/>
            </a:gradFill>
            <a:ln w="12600">
              <a:solidFill>
                <a:srgbClr val="00709E"/>
              </a:solidFill>
              <a:round/>
            </a:ln>
          </p:spPr>
          <p:txBody>
            <a:bodyPr lIns="75807" tIns="37904" rIns="75807" bIns="37904" anchor="ctr"/>
            <a:lstStyle/>
            <a:p>
              <a:pPr algn="ctr"/>
              <a:r>
                <a:rPr lang="en-US" sz="1000">
                  <a:solidFill>
                    <a:srgbClr val="FFFFFF"/>
                  </a:solidFill>
                </a:rPr>
                <a:t>QA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9131" name="CustomShape 8"/>
            <p:cNvSpPr>
              <a:spLocks noChangeArrowheads="1"/>
            </p:cNvSpPr>
            <p:nvPr/>
          </p:nvSpPr>
          <p:spPr bwMode="auto">
            <a:xfrm>
              <a:off x="6335179" y="2193927"/>
              <a:ext cx="1138357" cy="192685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0383BD"/>
                </a:gs>
                <a:gs pos="100000">
                  <a:srgbClr val="037BB1"/>
                </a:gs>
              </a:gsLst>
              <a:lin ang="5400000"/>
            </a:gradFill>
            <a:ln w="12600">
              <a:solidFill>
                <a:srgbClr val="00709E"/>
              </a:solidFill>
              <a:round/>
            </a:ln>
          </p:spPr>
          <p:txBody>
            <a:bodyPr lIns="75807" tIns="37904" rIns="75807" bIns="37904" anchor="ctr"/>
            <a:lstStyle/>
            <a:p>
              <a:pPr algn="ctr"/>
              <a:r>
                <a:rPr lang="en-US" sz="1000">
                  <a:solidFill>
                    <a:srgbClr val="FFFFFF"/>
                  </a:solidFill>
                </a:rPr>
                <a:t>PROD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" name="CustomShape 9"/>
            <p:cNvSpPr/>
            <p:nvPr/>
          </p:nvSpPr>
          <p:spPr>
            <a:xfrm>
              <a:off x="1742612" y="3029657"/>
              <a:ext cx="3134477" cy="2666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600">
              <a:solidFill>
                <a:srgbClr val="1A448A"/>
              </a:solidFill>
              <a:custDash>
                <a:ds d="197000" sp="197000"/>
              </a:custDash>
              <a:round/>
            </a:ln>
          </p:spPr>
          <p:txBody>
            <a:bodyPr lIns="75807" tIns="37904" rIns="75807" bIns="37904" anchor="ctr"/>
            <a:lstStyle/>
            <a:p>
              <a:pPr algn="ctr">
                <a:defRPr/>
              </a:pPr>
              <a:r>
                <a:rPr lang="en-US" sz="1000" dirty="0">
                  <a:solidFill>
                    <a:srgbClr val="FFFFFF"/>
                  </a:solidFill>
                  <a:ea typeface="MS PGothic" panose="020B0600070205080204" pitchFamily="34" charset="-128"/>
                </a:rPr>
                <a:t> Banking Application</a:t>
              </a:r>
              <a:endParaRPr sz="1000" dirty="0">
                <a:solidFill>
                  <a:prstClr val="black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1" name="CustomShape 13"/>
            <p:cNvSpPr/>
            <p:nvPr/>
          </p:nvSpPr>
          <p:spPr>
            <a:xfrm>
              <a:off x="5177523" y="3031263"/>
              <a:ext cx="3134477" cy="27146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600">
              <a:solidFill>
                <a:srgbClr val="1A448A"/>
              </a:solidFill>
              <a:custDash>
                <a:ds d="197000" sp="197000"/>
              </a:custDash>
              <a:round/>
            </a:ln>
          </p:spPr>
          <p:txBody>
            <a:bodyPr lIns="75807" tIns="37904" rIns="75807" bIns="37904" anchor="ctr"/>
            <a:lstStyle/>
            <a:p>
              <a:pPr algn="ctr">
                <a:defRPr/>
              </a:pPr>
              <a:r>
                <a:rPr lang="en-US" sz="1000" dirty="0">
                  <a:solidFill>
                    <a:srgbClr val="FFFFFF"/>
                  </a:solidFill>
                  <a:ea typeface="MS PGothic" panose="020B0600070205080204" pitchFamily="34" charset="-128"/>
                </a:rPr>
                <a:t>Banking Application</a:t>
              </a:r>
              <a:endParaRPr sz="1000" dirty="0">
                <a:solidFill>
                  <a:prstClr val="black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3" name="CustomShape 22"/>
            <p:cNvSpPr/>
            <p:nvPr/>
          </p:nvSpPr>
          <p:spPr>
            <a:xfrm>
              <a:off x="2687293" y="1646650"/>
              <a:ext cx="4893703" cy="269855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600">
              <a:solidFill>
                <a:srgbClr val="1A448A"/>
              </a:solidFill>
              <a:round/>
            </a:ln>
          </p:spPr>
          <p:txBody>
            <a:bodyPr lIns="75807" tIns="37904" rIns="75807" bIns="37904" anchor="ctr" anchorCtr="1"/>
            <a:lstStyle/>
            <a:p>
              <a:pPr algn="ctr">
                <a:defRPr/>
              </a:pPr>
              <a:r>
                <a:rPr lang="en-US" sz="1000" dirty="0">
                  <a:solidFill>
                    <a:srgbClr val="FFFFFF"/>
                  </a:solidFill>
                  <a:ea typeface="MS PGothic" panose="020B0600070205080204" pitchFamily="34" charset="-128"/>
                </a:rPr>
                <a:t> Banking Application</a:t>
              </a:r>
              <a:endParaRPr sz="1000" dirty="0">
                <a:solidFill>
                  <a:prstClr val="black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89135" name="CustomShape 26"/>
            <p:cNvSpPr>
              <a:spLocks noChangeArrowheads="1"/>
            </p:cNvSpPr>
            <p:nvPr/>
          </p:nvSpPr>
          <p:spPr bwMode="auto">
            <a:xfrm>
              <a:off x="2822467" y="2193927"/>
              <a:ext cx="1020146" cy="192685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0383BD"/>
                </a:gs>
                <a:gs pos="100000">
                  <a:srgbClr val="037BB1"/>
                </a:gs>
              </a:gsLst>
              <a:lin ang="5400000"/>
            </a:gradFill>
            <a:ln w="12600">
              <a:solidFill>
                <a:srgbClr val="00709E"/>
              </a:solidFill>
              <a:round/>
            </a:ln>
          </p:spPr>
          <p:txBody>
            <a:bodyPr lIns="75807" tIns="37904" rIns="75807" bIns="37904" anchor="ctr"/>
            <a:lstStyle/>
            <a:p>
              <a:pPr algn="ctr"/>
              <a:r>
                <a:rPr lang="en-US" sz="1000">
                  <a:solidFill>
                    <a:srgbClr val="FFFFFF"/>
                  </a:solidFill>
                </a:rPr>
                <a:t>DEV</a:t>
              </a:r>
              <a:endParaRPr lang="en-US">
                <a:solidFill>
                  <a:srgbClr val="000000"/>
                </a:solidFill>
              </a:endParaRPr>
            </a:p>
          </p:txBody>
        </p:sp>
        <p:pic>
          <p:nvPicPr>
            <p:cNvPr id="89137" name="Picture 4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604847" y="4229100"/>
              <a:ext cx="3424353" cy="51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9138" name="Picture 4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5029200" y="4229100"/>
              <a:ext cx="3424353" cy="51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9142" name="Group 21"/>
            <p:cNvGrpSpPr/>
            <p:nvPr/>
          </p:nvGrpSpPr>
          <p:grpSpPr bwMode="auto">
            <a:xfrm>
              <a:off x="2409054" y="4731772"/>
              <a:ext cx="1796996" cy="683210"/>
              <a:chOff x="2095731" y="4587688"/>
              <a:chExt cx="2257962" cy="858466"/>
            </a:xfrm>
          </p:grpSpPr>
          <p:pic>
            <p:nvPicPr>
              <p:cNvPr id="89220" name="Picture 27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714138" y="4587688"/>
                <a:ext cx="973776" cy="491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21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80704" y="4766493"/>
                <a:ext cx="132580" cy="87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22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22980" y="4766493"/>
                <a:ext cx="133233" cy="87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23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965582" y="4766493"/>
                <a:ext cx="133233" cy="87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24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80704" y="4865558"/>
                <a:ext cx="132580" cy="87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25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22980" y="4865558"/>
                <a:ext cx="133233" cy="87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26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965582" y="4865558"/>
                <a:ext cx="133233" cy="87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89227" name="Group 6"/>
              <p:cNvGrpSpPr/>
              <p:nvPr/>
            </p:nvGrpSpPr>
            <p:grpSpPr bwMode="auto">
              <a:xfrm>
                <a:off x="2916873" y="4961559"/>
                <a:ext cx="667106" cy="484576"/>
                <a:chOff x="2868933" y="5364164"/>
                <a:chExt cx="735474" cy="770533"/>
              </a:xfrm>
            </p:grpSpPr>
            <p:grpSp>
              <p:nvGrpSpPr>
                <p:cNvPr id="89242" name="Group 9"/>
                <p:cNvGrpSpPr/>
                <p:nvPr/>
              </p:nvGrpSpPr>
              <p:grpSpPr bwMode="auto">
                <a:xfrm>
                  <a:off x="2971800" y="5364164"/>
                  <a:ext cx="412817" cy="381674"/>
                  <a:chOff x="2590800" y="1801612"/>
                  <a:chExt cx="803571" cy="631622"/>
                </a:xfrm>
              </p:grpSpPr>
              <p:pic>
                <p:nvPicPr>
                  <p:cNvPr id="89244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2590800" y="1981200"/>
                    <a:ext cx="271663" cy="37980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45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2862463" y="1801612"/>
                    <a:ext cx="270170" cy="37980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46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2862463" y="2054817"/>
                    <a:ext cx="270170" cy="37841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47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3124200" y="1905000"/>
                    <a:ext cx="270171" cy="37841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sp>
              <p:nvSpPr>
                <p:cNvPr id="89243" name="TextBox 25"/>
                <p:cNvSpPr txBox="1">
                  <a:spLocks noChangeArrowheads="1"/>
                </p:cNvSpPr>
                <p:nvPr/>
              </p:nvSpPr>
              <p:spPr bwMode="auto">
                <a:xfrm>
                  <a:off x="2868933" y="5714999"/>
                  <a:ext cx="735474" cy="4196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defTabSz="815975">
                    <a:lnSpc>
                      <a:spcPct val="85000"/>
                    </a:lnSpc>
                    <a:buClr>
                      <a:srgbClr val="000000"/>
                    </a:buClr>
                  </a:pPr>
                  <a:r>
                    <a:rPr lang="en-US" sz="900" b="1">
                      <a:solidFill>
                        <a:srgbClr val="000000"/>
                      </a:solidFill>
                      <a:latin typeface="Lubalin Demi for IBM" pitchFamily="18" charset="0"/>
                    </a:rPr>
                    <a:t>Server</a:t>
                  </a:r>
                  <a:endParaRPr lang="en-US" sz="900" b="1">
                    <a:solidFill>
                      <a:srgbClr val="000000"/>
                    </a:solidFill>
                    <a:latin typeface="Lubalin Demi for IBM" pitchFamily="18" charset="0"/>
                  </a:endParaRPr>
                </a:p>
              </p:txBody>
            </p:sp>
          </p:grpSp>
          <p:grpSp>
            <p:nvGrpSpPr>
              <p:cNvPr id="89228" name="Group 7"/>
              <p:cNvGrpSpPr/>
              <p:nvPr/>
            </p:nvGrpSpPr>
            <p:grpSpPr bwMode="auto">
              <a:xfrm>
                <a:off x="3495462" y="4942552"/>
                <a:ext cx="858231" cy="503572"/>
                <a:chOff x="3505200" y="5334000"/>
                <a:chExt cx="947169" cy="800655"/>
              </a:xfrm>
            </p:grpSpPr>
            <p:sp>
              <p:nvSpPr>
                <p:cNvPr id="89236" name="TextBox 26"/>
                <p:cNvSpPr txBox="1">
                  <a:spLocks noChangeArrowheads="1"/>
                </p:cNvSpPr>
                <p:nvPr/>
              </p:nvSpPr>
              <p:spPr bwMode="auto">
                <a:xfrm>
                  <a:off x="3607208" y="5715001"/>
                  <a:ext cx="845161" cy="4196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defTabSz="815975">
                    <a:lnSpc>
                      <a:spcPct val="85000"/>
                    </a:lnSpc>
                    <a:buClr>
                      <a:srgbClr val="000000"/>
                    </a:buClr>
                  </a:pPr>
                  <a:r>
                    <a:rPr lang="en-US" sz="900" b="1">
                      <a:solidFill>
                        <a:srgbClr val="000000"/>
                      </a:solidFill>
                      <a:latin typeface="Lubalin Demi for IBM" pitchFamily="18" charset="0"/>
                    </a:rPr>
                    <a:t>Storage</a:t>
                  </a:r>
                  <a:endParaRPr lang="en-US" sz="900" b="1">
                    <a:solidFill>
                      <a:srgbClr val="000000"/>
                    </a:solidFill>
                    <a:latin typeface="Lubalin Demi for IBM" pitchFamily="18" charset="0"/>
                  </a:endParaRPr>
                </a:p>
              </p:txBody>
            </p:sp>
            <p:grpSp>
              <p:nvGrpSpPr>
                <p:cNvPr id="89237" name="Group 7"/>
                <p:cNvGrpSpPr/>
                <p:nvPr/>
              </p:nvGrpSpPr>
              <p:grpSpPr bwMode="auto">
                <a:xfrm>
                  <a:off x="3505200" y="5334000"/>
                  <a:ext cx="400511" cy="404667"/>
                  <a:chOff x="3657600" y="1828800"/>
                  <a:chExt cx="779331" cy="669234"/>
                </a:xfrm>
              </p:grpSpPr>
              <p:pic>
                <p:nvPicPr>
                  <p:cNvPr id="89238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3657600" y="2057400"/>
                    <a:ext cx="322131" cy="36443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39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3886200" y="1828800"/>
                    <a:ext cx="322131" cy="36617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40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4114800" y="1905000"/>
                    <a:ext cx="322131" cy="36443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41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3886200" y="2133600"/>
                    <a:ext cx="322131" cy="36443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  <p:grpSp>
            <p:nvGrpSpPr>
              <p:cNvPr id="89229" name="Group 10"/>
              <p:cNvGrpSpPr/>
              <p:nvPr/>
            </p:nvGrpSpPr>
            <p:grpSpPr bwMode="auto">
              <a:xfrm>
                <a:off x="2095731" y="4990567"/>
                <a:ext cx="830256" cy="455587"/>
                <a:chOff x="3954969" y="1905000"/>
                <a:chExt cx="1776578" cy="1199079"/>
              </a:xfrm>
            </p:grpSpPr>
            <p:sp>
              <p:nvSpPr>
                <p:cNvPr id="89230" name="TextBox 27"/>
                <p:cNvSpPr txBox="1">
                  <a:spLocks noChangeArrowheads="1"/>
                </p:cNvSpPr>
                <p:nvPr/>
              </p:nvSpPr>
              <p:spPr bwMode="auto">
                <a:xfrm>
                  <a:off x="3954969" y="2409400"/>
                  <a:ext cx="1776578" cy="69467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defTabSz="815975">
                    <a:lnSpc>
                      <a:spcPct val="85000"/>
                    </a:lnSpc>
                    <a:buClr>
                      <a:srgbClr val="000000"/>
                    </a:buClr>
                  </a:pPr>
                  <a:r>
                    <a:rPr lang="en-US" sz="900" b="1">
                      <a:solidFill>
                        <a:srgbClr val="000000"/>
                      </a:solidFill>
                      <a:latin typeface="Lubalin Demi for IBM" pitchFamily="18" charset="0"/>
                    </a:rPr>
                    <a:t>Network</a:t>
                  </a:r>
                  <a:endParaRPr lang="en-US" sz="900" b="1">
                    <a:solidFill>
                      <a:srgbClr val="000000"/>
                    </a:solidFill>
                    <a:latin typeface="Lubalin Demi for IBM" pitchFamily="18" charset="0"/>
                  </a:endParaRPr>
                </a:p>
              </p:txBody>
            </p:sp>
            <p:grpSp>
              <p:nvGrpSpPr>
                <p:cNvPr id="89231" name="Group 3"/>
                <p:cNvGrpSpPr/>
                <p:nvPr/>
              </p:nvGrpSpPr>
              <p:grpSpPr bwMode="auto">
                <a:xfrm>
                  <a:off x="4876800" y="1905000"/>
                  <a:ext cx="679648" cy="533400"/>
                  <a:chOff x="4876800" y="1981200"/>
                  <a:chExt cx="679648" cy="533400"/>
                </a:xfrm>
              </p:grpSpPr>
              <p:pic>
                <p:nvPicPr>
                  <p:cNvPr id="89232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4876800" y="22098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33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5029200" y="19812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34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5105400" y="22860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235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5257800" y="20574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</p:grpSp>
        <p:sp>
          <p:nvSpPr>
            <p:cNvPr id="89143" name="TextBox 22"/>
            <p:cNvSpPr txBox="1">
              <a:spLocks noChangeArrowheads="1"/>
            </p:cNvSpPr>
            <p:nvPr/>
          </p:nvSpPr>
          <p:spPr bwMode="auto">
            <a:xfrm>
              <a:off x="1479130" y="2135124"/>
              <a:ext cx="918767" cy="3239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77020" tIns="38510" rIns="77020" bIns="38510">
              <a:spAutoFit/>
            </a:bodyPr>
            <a:lstStyle/>
            <a:p>
              <a:pPr algn="ctr"/>
              <a:r>
                <a:rPr lang="en-US" sz="800" b="1">
                  <a:solidFill>
                    <a:srgbClr val="7F7F7F"/>
                  </a:solidFill>
                </a:rPr>
                <a:t>Application </a:t>
              </a:r>
              <a:br>
                <a:rPr lang="en-US" sz="800" b="1">
                  <a:solidFill>
                    <a:srgbClr val="7F7F7F"/>
                  </a:solidFill>
                </a:rPr>
              </a:br>
              <a:r>
                <a:rPr lang="en-US" sz="800" b="1">
                  <a:solidFill>
                    <a:srgbClr val="7F7F7F"/>
                  </a:solidFill>
                </a:rPr>
                <a:t>Lifecycle</a:t>
              </a:r>
              <a:endParaRPr lang="en-US" sz="800" b="1">
                <a:solidFill>
                  <a:srgbClr val="7F7F7F"/>
                </a:solidFill>
              </a:endParaRPr>
            </a:p>
          </p:txBody>
        </p:sp>
        <p:grpSp>
          <p:nvGrpSpPr>
            <p:cNvPr id="89144" name="Group 23"/>
            <p:cNvGrpSpPr/>
            <p:nvPr/>
          </p:nvGrpSpPr>
          <p:grpSpPr bwMode="auto">
            <a:xfrm>
              <a:off x="2437020" y="3408546"/>
              <a:ext cx="5160959" cy="564522"/>
              <a:chOff x="2449212" y="3508050"/>
              <a:chExt cx="5160959" cy="511055"/>
            </a:xfrm>
          </p:grpSpPr>
          <p:pic>
            <p:nvPicPr>
              <p:cNvPr id="89186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2676731" y="3522052"/>
                <a:ext cx="162720" cy="159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87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3419772" y="3508050"/>
                <a:ext cx="164160" cy="159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88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2958972" y="3517052"/>
                <a:ext cx="164160" cy="159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89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3189372" y="3517052"/>
                <a:ext cx="164160" cy="159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90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3683292" y="3508050"/>
                <a:ext cx="162720" cy="159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91" name="Picture 123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930171" y="3890090"/>
                <a:ext cx="180000" cy="960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92" name="Picture 123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3455772" y="3881089"/>
                <a:ext cx="181440" cy="960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93" name="Picture 149" descr="databas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90651" y="3843086"/>
                <a:ext cx="194400" cy="153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94" name="Picture 149" descr="databas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449212" y="3866088"/>
                <a:ext cx="194400" cy="153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76" name="Straight Connector 75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2545252" y="3681268"/>
                <a:ext cx="212071" cy="1846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77" name="Straight Connector 76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>
                <a:off x="2757323" y="3681268"/>
                <a:ext cx="261876" cy="2079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78" name="Straight Connector 77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2545252" y="3675451"/>
                <a:ext cx="494833" cy="1904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79" name="Straight Connector 78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3019199" y="3675451"/>
                <a:ext cx="20885" cy="2137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80" name="Straight Connector 79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3019199" y="3666726"/>
                <a:ext cx="481980" cy="2224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81" name="Straight Connector 80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>
                <a:off x="3501179" y="3666726"/>
                <a:ext cx="486799" cy="1759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82" name="Straight Connector 81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>
                <a:off x="3271435" y="3675451"/>
                <a:ext cx="274729" cy="2050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83" name="Straight Connector 82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3546164" y="3666726"/>
                <a:ext cx="218498" cy="2137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pic>
            <p:nvPicPr>
              <p:cNvPr id="89203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6201851" y="3522052"/>
                <a:ext cx="162720" cy="159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04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6944892" y="3508050"/>
                <a:ext cx="164160" cy="159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05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6484092" y="3517052"/>
                <a:ext cx="164160" cy="159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06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6714492" y="3517052"/>
                <a:ext cx="164160" cy="159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07" name="Picture 9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15178"/>
              <a:stretch>
                <a:fillRect/>
              </a:stretch>
            </p:blipFill>
            <p:spPr bwMode="auto">
              <a:xfrm>
                <a:off x="7208412" y="3508050"/>
                <a:ext cx="162720" cy="159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08" name="Picture 123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6455291" y="3890090"/>
                <a:ext cx="180000" cy="960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09" name="Picture 123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6980892" y="3881089"/>
                <a:ext cx="181440" cy="960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10" name="Picture 149" descr="databas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7415771" y="3843086"/>
                <a:ext cx="194400" cy="153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211" name="Picture 149" descr="databas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974332" y="3866088"/>
                <a:ext cx="194400" cy="153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3" name="Straight Connector 92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6071739" y="3681268"/>
                <a:ext cx="210464" cy="1846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94" name="Straight Connector 93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>
                <a:off x="6282203" y="3681268"/>
                <a:ext cx="263482" cy="2079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95" name="Straight Connector 94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6071739" y="3675451"/>
                <a:ext cx="494833" cy="1904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96" name="Straight Connector 95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6545686" y="3675451"/>
                <a:ext cx="20886" cy="2137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97" name="Straight Connector 96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6545686" y="3666726"/>
                <a:ext cx="481980" cy="2224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98" name="Straight Connector 97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>
                <a:off x="7027666" y="3666726"/>
                <a:ext cx="486800" cy="1759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99" name="Straight Connector 98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>
                <a:off x="6796315" y="3675451"/>
                <a:ext cx="276335" cy="2050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  <p:cxnSp>
            <p:nvCxnSpPr>
              <p:cNvPr id="100" name="Straight Connector 99"/>
              <p:cNvCxnSpPr>
                <a:cxnSpLocks noChangeShapeType="1"/>
                <a:stCxn id="0" idx="2"/>
                <a:endCxn id="0" idx="0"/>
              </p:cNvCxnSpPr>
              <p:nvPr/>
            </p:nvCxnSpPr>
            <p:spPr bwMode="auto">
              <a:xfrm flipH="1">
                <a:off x="7072651" y="3666726"/>
                <a:ext cx="218498" cy="2137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</p:spPr>
          </p:cxnSp>
        </p:grpSp>
        <p:sp>
          <p:nvSpPr>
            <p:cNvPr id="89145" name="CustomShape 28"/>
            <p:cNvSpPr>
              <a:spLocks noChangeArrowheads="1"/>
            </p:cNvSpPr>
            <p:nvPr/>
          </p:nvSpPr>
          <p:spPr bwMode="auto">
            <a:xfrm>
              <a:off x="2967058" y="1452372"/>
              <a:ext cx="766742" cy="1447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000" b="1">
                  <a:solidFill>
                    <a:srgbClr val="000000"/>
                  </a:solidFill>
                </a:rPr>
                <a:t>Applications</a:t>
              </a:r>
              <a:endParaRPr lang="en-US" sz="1000">
                <a:solidFill>
                  <a:srgbClr val="000000"/>
                </a:solidFill>
              </a:endParaRPr>
            </a:p>
          </p:txBody>
        </p:sp>
        <p:sp>
          <p:nvSpPr>
            <p:cNvPr id="26" name="Circular Arrow 25"/>
            <p:cNvSpPr/>
            <p:nvPr/>
          </p:nvSpPr>
          <p:spPr bwMode="auto">
            <a:xfrm rot="5400000">
              <a:off x="2287393" y="1196716"/>
              <a:ext cx="1432802" cy="1764047"/>
            </a:xfrm>
            <a:custGeom>
              <a:avLst/>
              <a:gdLst>
                <a:gd name="T0" fmla="*/ 1250459 w 1432802"/>
                <a:gd name="T1" fmla="*/ 1294765 h 1764047"/>
                <a:gd name="T2" fmla="*/ 787399 w 1432802"/>
                <a:gd name="T3" fmla="*/ 1668428 h 1764047"/>
                <a:gd name="T4" fmla="*/ 246235 w 1432802"/>
                <a:gd name="T5" fmla="*/ 1404486 h 1764047"/>
                <a:gd name="T6" fmla="*/ 174312 w 1432802"/>
                <a:gd name="T7" fmla="*/ 1460071 h 1764047"/>
                <a:gd name="T8" fmla="*/ 237062 w 1432802"/>
                <a:gd name="T9" fmla="*/ 1252475 h 1764047"/>
                <a:gd name="T10" fmla="*/ 424972 w 1432802"/>
                <a:gd name="T11" fmla="*/ 1266351 h 1764047"/>
                <a:gd name="T12" fmla="*/ 352976 w 1432802"/>
                <a:gd name="T13" fmla="*/ 1321992 h 1764047"/>
                <a:gd name="T14" fmla="*/ 788827 w 1432802"/>
                <a:gd name="T15" fmla="*/ 1530565 h 1764047"/>
                <a:gd name="T16" fmla="*/ 1140803 w 1432802"/>
                <a:gd name="T17" fmla="*/ 1210018 h 1764047"/>
                <a:gd name="T18" fmla="*/ 1250459 w 1432802"/>
                <a:gd name="T19" fmla="*/ 1294765 h 17640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32802" h="1764047">
                  <a:moveTo>
                    <a:pt x="1250459" y="1294765"/>
                  </a:moveTo>
                  <a:cubicBezTo>
                    <a:pt x="1149879" y="1502897"/>
                    <a:pt x="979035" y="1640759"/>
                    <a:pt x="787399" y="1668428"/>
                  </a:cubicBezTo>
                  <a:cubicBezTo>
                    <a:pt x="583716" y="1697837"/>
                    <a:pt x="381556" y="1599237"/>
                    <a:pt x="246235" y="1404486"/>
                  </a:cubicBezTo>
                  <a:lnTo>
                    <a:pt x="174312" y="1460071"/>
                  </a:lnTo>
                  <a:lnTo>
                    <a:pt x="237062" y="1252475"/>
                  </a:lnTo>
                  <a:lnTo>
                    <a:pt x="424972" y="1266351"/>
                  </a:lnTo>
                  <a:lnTo>
                    <a:pt x="352976" y="1321992"/>
                  </a:lnTo>
                  <a:cubicBezTo>
                    <a:pt x="463023" y="1484709"/>
                    <a:pt x="626611" y="1562993"/>
                    <a:pt x="788827" y="1530565"/>
                  </a:cubicBezTo>
                  <a:cubicBezTo>
                    <a:pt x="936526" y="1501040"/>
                    <a:pt x="1066106" y="1383030"/>
                    <a:pt x="1140803" y="1210018"/>
                  </a:cubicBezTo>
                  <a:lnTo>
                    <a:pt x="1250459" y="1294765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rgbClr val="87C8E1">
                    <a:alpha val="0"/>
                  </a:srgbClr>
                </a:gs>
              </a:gsLst>
              <a:lin ang="0" scaled="1"/>
            </a:gradFill>
            <a:ln w="9525">
              <a:noFill/>
              <a:miter lim="800000"/>
            </a:ln>
            <a:effectLst>
              <a:outerShdw dist="63500" dir="2700000" algn="tl" rotWithShape="0">
                <a:srgbClr val="000000">
                  <a:alpha val="5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Circular Arrow 26"/>
            <p:cNvSpPr/>
            <p:nvPr/>
          </p:nvSpPr>
          <p:spPr bwMode="auto">
            <a:xfrm rot="5400000">
              <a:off x="6569785" y="1120417"/>
              <a:ext cx="1432802" cy="1765653"/>
            </a:xfrm>
            <a:custGeom>
              <a:avLst/>
              <a:gdLst>
                <a:gd name="T0" fmla="*/ 182196 w 1432802"/>
                <a:gd name="T1" fmla="*/ 469972 h 1765653"/>
                <a:gd name="T2" fmla="*/ 645329 w 1432802"/>
                <a:gd name="T3" fmla="*/ 95636 h 1765653"/>
                <a:gd name="T4" fmla="*/ 1186772 w 1432802"/>
                <a:gd name="T5" fmla="*/ 360129 h 1765653"/>
                <a:gd name="T6" fmla="*/ 1258694 w 1432802"/>
                <a:gd name="T7" fmla="*/ 304544 h 1765653"/>
                <a:gd name="T8" fmla="*/ 1195879 w 1432802"/>
                <a:gd name="T9" fmla="*/ 512267 h 1765653"/>
                <a:gd name="T10" fmla="*/ 1008035 w 1432802"/>
                <a:gd name="T11" fmla="*/ 498263 h 1765653"/>
                <a:gd name="T12" fmla="*/ 1080030 w 1432802"/>
                <a:gd name="T13" fmla="*/ 442622 h 1765653"/>
                <a:gd name="T14" fmla="*/ 643892 w 1432802"/>
                <a:gd name="T15" fmla="*/ 233507 h 1765653"/>
                <a:gd name="T16" fmla="*/ 291869 w 1432802"/>
                <a:gd name="T17" fmla="*/ 554732 h 1765653"/>
                <a:gd name="T18" fmla="*/ 182196 w 1432802"/>
                <a:gd name="T19" fmla="*/ 469972 h 176565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32802" h="1765653">
                  <a:moveTo>
                    <a:pt x="182196" y="469972"/>
                  </a:moveTo>
                  <a:cubicBezTo>
                    <a:pt x="282739" y="261493"/>
                    <a:pt x="453623" y="123373"/>
                    <a:pt x="645329" y="95636"/>
                  </a:cubicBezTo>
                  <a:cubicBezTo>
                    <a:pt x="849144" y="66147"/>
                    <a:pt x="1051437" y="164967"/>
                    <a:pt x="1186772" y="360129"/>
                  </a:cubicBezTo>
                  <a:lnTo>
                    <a:pt x="1258694" y="304544"/>
                  </a:lnTo>
                  <a:lnTo>
                    <a:pt x="1195879" y="512267"/>
                  </a:lnTo>
                  <a:lnTo>
                    <a:pt x="1008035" y="498263"/>
                  </a:lnTo>
                  <a:lnTo>
                    <a:pt x="1080030" y="442622"/>
                  </a:lnTo>
                  <a:cubicBezTo>
                    <a:pt x="969966" y="279477"/>
                    <a:pt x="806240" y="200976"/>
                    <a:pt x="643892" y="233507"/>
                  </a:cubicBezTo>
                  <a:cubicBezTo>
                    <a:pt x="496136" y="263114"/>
                    <a:pt x="366528" y="381382"/>
                    <a:pt x="291869" y="554732"/>
                  </a:cubicBezTo>
                  <a:lnTo>
                    <a:pt x="182196" y="469972"/>
                  </a:lnTo>
                  <a:close/>
                </a:path>
              </a:pathLst>
            </a:custGeom>
            <a:gradFill rotWithShape="1">
              <a:gsLst>
                <a:gs pos="0">
                  <a:srgbClr val="87C8E1">
                    <a:alpha val="0"/>
                  </a:srgb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</a:ln>
            <a:effectLst>
              <a:outerShdw dist="63500" dir="2700000" algn="tl" rotWithShape="0">
                <a:srgbClr val="000000">
                  <a:alpha val="5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526156" y="3964512"/>
              <a:ext cx="2520755" cy="2537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50" dirty="0">
                  <a:solidFill>
                    <a:prstClr val="black"/>
                  </a:solidFill>
                  <a:latin typeface="Lubalin Demi for IBM" pitchFamily="18" charset="0"/>
                  <a:ea typeface="MS PGothic" panose="020B0600070205080204" pitchFamily="34" charset="-128"/>
                  <a:cs typeface="MS PGothic" panose="020B0600070205080204" pitchFamily="34" charset="-128"/>
                </a:rPr>
                <a:t>Heat Orchestration Template (HOT)</a:t>
              </a:r>
              <a:endParaRPr lang="en-US" sz="1050" dirty="0">
                <a:solidFill>
                  <a:prstClr val="black"/>
                </a:solidFill>
                <a:latin typeface="Lubalin Demi for IBM" pitchFamily="18" charset="0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991636" y="3964512"/>
              <a:ext cx="2520755" cy="2537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50" dirty="0">
                  <a:solidFill>
                    <a:prstClr val="black"/>
                  </a:solidFill>
                  <a:latin typeface="Lubalin Demi for IBM" pitchFamily="18" charset="0"/>
                  <a:ea typeface="MS PGothic" panose="020B0600070205080204" pitchFamily="34" charset="-128"/>
                  <a:cs typeface="MS PGothic" panose="020B0600070205080204" pitchFamily="34" charset="-128"/>
                </a:rPr>
                <a:t>Heat Orchestration Template (HOT)</a:t>
              </a:r>
              <a:endParaRPr lang="en-US" sz="1050" dirty="0">
                <a:solidFill>
                  <a:prstClr val="black"/>
                </a:solidFill>
                <a:latin typeface="Lubalin Demi for IBM" pitchFamily="18" charset="0"/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5018470" y="2984681"/>
              <a:ext cx="0" cy="1243261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154" name="Group 34"/>
            <p:cNvGrpSpPr/>
            <p:nvPr/>
          </p:nvGrpSpPr>
          <p:grpSpPr bwMode="auto">
            <a:xfrm>
              <a:off x="5851560" y="4731772"/>
              <a:ext cx="1796994" cy="683210"/>
              <a:chOff x="2095731" y="4587688"/>
              <a:chExt cx="2257959" cy="858466"/>
            </a:xfrm>
          </p:grpSpPr>
          <p:pic>
            <p:nvPicPr>
              <p:cNvPr id="89158" name="Picture 27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714138" y="4587688"/>
                <a:ext cx="973776" cy="491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59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80704" y="4766493"/>
                <a:ext cx="132580" cy="87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60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22980" y="4766493"/>
                <a:ext cx="133233" cy="87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61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965582" y="4766493"/>
                <a:ext cx="133233" cy="87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62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280704" y="4865558"/>
                <a:ext cx="132580" cy="87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63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22980" y="4865558"/>
                <a:ext cx="133233" cy="87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9164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965582" y="4865558"/>
                <a:ext cx="133233" cy="87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89165" name="Group 6"/>
              <p:cNvGrpSpPr/>
              <p:nvPr/>
            </p:nvGrpSpPr>
            <p:grpSpPr bwMode="auto">
              <a:xfrm>
                <a:off x="2916873" y="4961559"/>
                <a:ext cx="667106" cy="484576"/>
                <a:chOff x="2868933" y="5364164"/>
                <a:chExt cx="735474" cy="770533"/>
              </a:xfrm>
            </p:grpSpPr>
            <p:grpSp>
              <p:nvGrpSpPr>
                <p:cNvPr id="89180" name="Group 9"/>
                <p:cNvGrpSpPr/>
                <p:nvPr/>
              </p:nvGrpSpPr>
              <p:grpSpPr bwMode="auto">
                <a:xfrm>
                  <a:off x="2971800" y="5364164"/>
                  <a:ext cx="412817" cy="381674"/>
                  <a:chOff x="2590800" y="1801612"/>
                  <a:chExt cx="803571" cy="631622"/>
                </a:xfrm>
              </p:grpSpPr>
              <p:pic>
                <p:nvPicPr>
                  <p:cNvPr id="89182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2590800" y="1981200"/>
                    <a:ext cx="271663" cy="37980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83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2862463" y="1801612"/>
                    <a:ext cx="270170" cy="37980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84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2862463" y="2054817"/>
                    <a:ext cx="270170" cy="37841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85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rcRect b="15178"/>
                  <a:stretch>
                    <a:fillRect/>
                  </a:stretch>
                </p:blipFill>
                <p:spPr bwMode="auto">
                  <a:xfrm>
                    <a:off x="3124200" y="1905000"/>
                    <a:ext cx="270171" cy="37841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sp>
              <p:nvSpPr>
                <p:cNvPr id="89181" name="TextBox 25"/>
                <p:cNvSpPr txBox="1">
                  <a:spLocks noChangeArrowheads="1"/>
                </p:cNvSpPr>
                <p:nvPr/>
              </p:nvSpPr>
              <p:spPr bwMode="auto">
                <a:xfrm>
                  <a:off x="2868933" y="5714999"/>
                  <a:ext cx="735474" cy="4196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defTabSz="815975">
                    <a:lnSpc>
                      <a:spcPct val="85000"/>
                    </a:lnSpc>
                    <a:buClr>
                      <a:srgbClr val="000000"/>
                    </a:buClr>
                  </a:pPr>
                  <a:r>
                    <a:rPr lang="en-US" sz="900" b="1">
                      <a:solidFill>
                        <a:srgbClr val="000000"/>
                      </a:solidFill>
                      <a:latin typeface="Lubalin Demi for IBM" pitchFamily="18" charset="0"/>
                    </a:rPr>
                    <a:t>Server</a:t>
                  </a:r>
                  <a:endParaRPr lang="en-US" sz="900" b="1">
                    <a:solidFill>
                      <a:srgbClr val="000000"/>
                    </a:solidFill>
                    <a:latin typeface="Lubalin Demi for IBM" pitchFamily="18" charset="0"/>
                  </a:endParaRPr>
                </a:p>
              </p:txBody>
            </p:sp>
          </p:grpSp>
          <p:grpSp>
            <p:nvGrpSpPr>
              <p:cNvPr id="89166" name="Group 7"/>
              <p:cNvGrpSpPr/>
              <p:nvPr/>
            </p:nvGrpSpPr>
            <p:grpSpPr bwMode="auto">
              <a:xfrm>
                <a:off x="3587889" y="4942552"/>
                <a:ext cx="765801" cy="503572"/>
                <a:chOff x="3607208" y="5334000"/>
                <a:chExt cx="845161" cy="800655"/>
              </a:xfrm>
            </p:grpSpPr>
            <p:sp>
              <p:nvSpPr>
                <p:cNvPr id="89174" name="TextBox 26"/>
                <p:cNvSpPr txBox="1">
                  <a:spLocks noChangeArrowheads="1"/>
                </p:cNvSpPr>
                <p:nvPr/>
              </p:nvSpPr>
              <p:spPr bwMode="auto">
                <a:xfrm>
                  <a:off x="3607208" y="5715001"/>
                  <a:ext cx="845161" cy="4196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defTabSz="815975">
                    <a:lnSpc>
                      <a:spcPct val="85000"/>
                    </a:lnSpc>
                    <a:buClr>
                      <a:srgbClr val="000000"/>
                    </a:buClr>
                  </a:pPr>
                  <a:r>
                    <a:rPr lang="en-US" sz="900" b="1">
                      <a:solidFill>
                        <a:srgbClr val="000000"/>
                      </a:solidFill>
                      <a:latin typeface="Lubalin Demi for IBM" pitchFamily="18" charset="0"/>
                    </a:rPr>
                    <a:t>Storage</a:t>
                  </a:r>
                  <a:endParaRPr lang="en-US" sz="900" b="1">
                    <a:solidFill>
                      <a:srgbClr val="000000"/>
                    </a:solidFill>
                    <a:latin typeface="Lubalin Demi for IBM" pitchFamily="18" charset="0"/>
                  </a:endParaRPr>
                </a:p>
              </p:txBody>
            </p:sp>
            <p:grpSp>
              <p:nvGrpSpPr>
                <p:cNvPr id="89175" name="Group 7"/>
                <p:cNvGrpSpPr/>
                <p:nvPr/>
              </p:nvGrpSpPr>
              <p:grpSpPr bwMode="auto">
                <a:xfrm>
                  <a:off x="3695257" y="5334000"/>
                  <a:ext cx="400512" cy="404667"/>
                  <a:chOff x="4027416" y="1828800"/>
                  <a:chExt cx="779332" cy="669234"/>
                </a:xfrm>
              </p:grpSpPr>
              <p:pic>
                <p:nvPicPr>
                  <p:cNvPr id="89176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4027416" y="2057400"/>
                    <a:ext cx="322130" cy="3644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77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4256017" y="1828800"/>
                    <a:ext cx="322131" cy="36618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78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4484617" y="1904999"/>
                    <a:ext cx="322131" cy="3644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79" name="Picture 149" descr="database"/>
                  <p:cNvPicPr>
                    <a:picLocks noChangeAspect="1" noChangeArrowheads="1"/>
                  </p:cNvPicPr>
                  <p:nvPr/>
                </p:nvPicPr>
                <p:blipFill>
                  <a:blip r:embed="rId6"/>
                  <a:srcRect/>
                  <a:stretch>
                    <a:fillRect/>
                  </a:stretch>
                </p:blipFill>
                <p:spPr bwMode="auto">
                  <a:xfrm>
                    <a:off x="4256016" y="2133599"/>
                    <a:ext cx="322130" cy="3644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  <p:grpSp>
            <p:nvGrpSpPr>
              <p:cNvPr id="89167" name="Group 10"/>
              <p:cNvGrpSpPr/>
              <p:nvPr/>
            </p:nvGrpSpPr>
            <p:grpSpPr bwMode="auto">
              <a:xfrm>
                <a:off x="2095731" y="4990567"/>
                <a:ext cx="830256" cy="455587"/>
                <a:chOff x="3954969" y="1905000"/>
                <a:chExt cx="1776578" cy="1199079"/>
              </a:xfrm>
            </p:grpSpPr>
            <p:sp>
              <p:nvSpPr>
                <p:cNvPr id="89168" name="TextBox 27"/>
                <p:cNvSpPr txBox="1">
                  <a:spLocks noChangeArrowheads="1"/>
                </p:cNvSpPr>
                <p:nvPr/>
              </p:nvSpPr>
              <p:spPr bwMode="auto">
                <a:xfrm>
                  <a:off x="3954969" y="2409400"/>
                  <a:ext cx="1776578" cy="69467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defTabSz="815975">
                    <a:lnSpc>
                      <a:spcPct val="85000"/>
                    </a:lnSpc>
                    <a:buClr>
                      <a:srgbClr val="000000"/>
                    </a:buClr>
                  </a:pPr>
                  <a:r>
                    <a:rPr lang="en-US" sz="900" b="1">
                      <a:solidFill>
                        <a:srgbClr val="000000"/>
                      </a:solidFill>
                      <a:latin typeface="Lubalin Demi for IBM" pitchFamily="18" charset="0"/>
                    </a:rPr>
                    <a:t>Network</a:t>
                  </a:r>
                  <a:endParaRPr lang="en-US" sz="900" b="1">
                    <a:solidFill>
                      <a:srgbClr val="000000"/>
                    </a:solidFill>
                    <a:latin typeface="Lubalin Demi for IBM" pitchFamily="18" charset="0"/>
                  </a:endParaRPr>
                </a:p>
              </p:txBody>
            </p:sp>
            <p:grpSp>
              <p:nvGrpSpPr>
                <p:cNvPr id="89169" name="Group 3"/>
                <p:cNvGrpSpPr/>
                <p:nvPr/>
              </p:nvGrpSpPr>
              <p:grpSpPr bwMode="auto">
                <a:xfrm>
                  <a:off x="4876800" y="1905000"/>
                  <a:ext cx="679648" cy="533400"/>
                  <a:chOff x="4876800" y="1981200"/>
                  <a:chExt cx="679648" cy="533400"/>
                </a:xfrm>
              </p:grpSpPr>
              <p:pic>
                <p:nvPicPr>
                  <p:cNvPr id="89170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4876800" y="22098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71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5029200" y="19812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72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5105400" y="22860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89173" name="Picture 121"/>
                  <p:cNvPicPr>
                    <a:picLocks noChangeAspect="1"/>
                  </p:cNvPicPr>
                  <p:nvPr/>
                </p:nvPicPr>
                <p:blipFill>
                  <a:blip r:embed="rId7"/>
                  <a:srcRect/>
                  <a:stretch>
                    <a:fillRect/>
                  </a:stretch>
                </p:blipFill>
                <p:spPr bwMode="auto">
                  <a:xfrm>
                    <a:off x="5257800" y="2057400"/>
                    <a:ext cx="298648" cy="228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</p:grpSp>
        <p:sp>
          <p:nvSpPr>
            <p:cNvPr id="36" name="CustomShape 1"/>
            <p:cNvSpPr/>
            <p:nvPr/>
          </p:nvSpPr>
          <p:spPr>
            <a:xfrm>
              <a:off x="1578739" y="2695551"/>
              <a:ext cx="6879461" cy="293949"/>
            </a:xfrm>
            <a:prstGeom prst="round2Same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/>
            </a:gradFill>
            <a:ln w="12600">
              <a:solidFill>
                <a:srgbClr val="666666"/>
              </a:solidFill>
              <a:round/>
            </a:ln>
          </p:spPr>
          <p:txBody>
            <a:bodyPr lIns="75807" tIns="9144" rIns="75807" bIns="37904"/>
            <a:lstStyle/>
            <a:p>
              <a:pPr>
                <a:defRPr/>
              </a:pPr>
              <a:endParaRPr sz="1000" b="1" dirty="0">
                <a:solidFill>
                  <a:srgbClr val="FFFFFF"/>
                </a:solidFill>
                <a:latin typeface="Lubalin Demi for IBM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89156" name="CustomShape 6"/>
            <p:cNvSpPr>
              <a:spLocks noChangeArrowheads="1"/>
            </p:cNvSpPr>
            <p:nvPr/>
          </p:nvSpPr>
          <p:spPr bwMode="auto">
            <a:xfrm>
              <a:off x="3965396" y="2193927"/>
              <a:ext cx="1020146" cy="192685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0383BD"/>
                </a:gs>
                <a:gs pos="100000">
                  <a:srgbClr val="037BB1"/>
                </a:gs>
              </a:gsLst>
              <a:lin ang="5400000"/>
            </a:gradFill>
            <a:ln w="12600">
              <a:solidFill>
                <a:srgbClr val="00709E"/>
              </a:solidFill>
              <a:round/>
            </a:ln>
          </p:spPr>
          <p:txBody>
            <a:bodyPr lIns="75807" tIns="37904" rIns="75807" bIns="37904" anchor="ctr"/>
            <a:lstStyle/>
            <a:p>
              <a:pPr algn="ctr"/>
              <a:r>
                <a:rPr lang="en-US" sz="1000">
                  <a:solidFill>
                    <a:srgbClr val="FFFFFF"/>
                  </a:solidFill>
                </a:rPr>
                <a:t>TEST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9157" name="CustomShape 30"/>
            <p:cNvSpPr>
              <a:spLocks noChangeArrowheads="1"/>
            </p:cNvSpPr>
            <p:nvPr/>
          </p:nvSpPr>
          <p:spPr bwMode="auto">
            <a:xfrm>
              <a:off x="4249255" y="2737644"/>
              <a:ext cx="1563143" cy="2001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Lubalin Demi for IBM" pitchFamily="18" charset="0"/>
                </a:rPr>
                <a:t>Orchestrator</a:t>
              </a:r>
              <a:endParaRPr lang="en-US" sz="1000" b="1" dirty="0">
                <a:solidFill>
                  <a:srgbClr val="FFFFFF"/>
                </a:solidFill>
                <a:latin typeface="Lubalin Demi for IBM" pitchFamily="18" charset="0"/>
              </a:endParaRPr>
            </a:p>
          </p:txBody>
        </p:sp>
      </p:grpSp>
      <p:sp>
        <p:nvSpPr>
          <p:cNvPr id="89090" name="Title 128"/>
          <p:cNvSpPr>
            <a:spLocks noGrp="1"/>
          </p:cNvSpPr>
          <p:nvPr>
            <p:ph type="title"/>
          </p:nvPr>
        </p:nvSpPr>
        <p:spPr>
          <a:xfrm>
            <a:off x="938868" y="128588"/>
            <a:ext cx="5700713" cy="704850"/>
          </a:xfrm>
        </p:spPr>
        <p:txBody>
          <a:bodyPr/>
          <a:lstStyle/>
          <a:p>
            <a:r>
              <a:rPr lang="en-US" dirty="0"/>
              <a:t>Moving to open technologies</a:t>
            </a:r>
            <a:endParaRPr lang="en-US" dirty="0"/>
          </a:p>
        </p:txBody>
      </p:sp>
      <p:pic>
        <p:nvPicPr>
          <p:cNvPr id="89092" name="Picture 136" descr="on-off-premise.png"/>
          <p:cNvPicPr>
            <a:picLocks noChangeAspect="1"/>
          </p:cNvPicPr>
          <p:nvPr/>
        </p:nvPicPr>
        <p:blipFill>
          <a:blip r:embed="rId8"/>
          <a:srcRect b="75162"/>
          <a:stretch>
            <a:fillRect/>
          </a:stretch>
        </p:blipFill>
        <p:spPr bwMode="auto">
          <a:xfrm>
            <a:off x="1219200" y="5334000"/>
            <a:ext cx="1281113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9093" name="Group 7"/>
          <p:cNvGrpSpPr/>
          <p:nvPr/>
        </p:nvGrpSpPr>
        <p:grpSpPr bwMode="auto">
          <a:xfrm>
            <a:off x="2460625" y="5516563"/>
            <a:ext cx="685800" cy="338137"/>
            <a:chOff x="6718389" y="2104750"/>
            <a:chExt cx="1433125" cy="975483"/>
          </a:xfrm>
        </p:grpSpPr>
        <p:pic>
          <p:nvPicPr>
            <p:cNvPr id="89115" name="Picture 4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6718389" y="2104750"/>
              <a:ext cx="1433125" cy="9754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116" name="TextBox 1"/>
            <p:cNvSpPr txBox="1">
              <a:spLocks noChangeArrowheads="1"/>
            </p:cNvSpPr>
            <p:nvPr/>
          </p:nvSpPr>
          <p:spPr bwMode="auto">
            <a:xfrm>
              <a:off x="6816787" y="2302923"/>
              <a:ext cx="1236328" cy="42566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1100" b="1">
                  <a:solidFill>
                    <a:srgbClr val="F04E37"/>
                  </a:solidFill>
                  <a:latin typeface="Calibri" panose="020F0502020204030204" charset="0"/>
                </a:rPr>
                <a:t>Public</a:t>
              </a:r>
              <a:endParaRPr lang="en-US" sz="1100" b="1">
                <a:solidFill>
                  <a:srgbClr val="F04E37"/>
                </a:solidFill>
                <a:latin typeface="Calibri" panose="020F0502020204030204" charset="0"/>
              </a:endParaRPr>
            </a:p>
          </p:txBody>
        </p:sp>
      </p:grpSp>
      <p:grpSp>
        <p:nvGrpSpPr>
          <p:cNvPr id="89094" name="Group 7"/>
          <p:cNvGrpSpPr/>
          <p:nvPr/>
        </p:nvGrpSpPr>
        <p:grpSpPr bwMode="auto">
          <a:xfrm>
            <a:off x="3192463" y="5629275"/>
            <a:ext cx="838200" cy="338138"/>
            <a:chOff x="6642228" y="2104753"/>
            <a:chExt cx="1751595" cy="975485"/>
          </a:xfrm>
        </p:grpSpPr>
        <p:pic>
          <p:nvPicPr>
            <p:cNvPr id="89113" name="Picture 4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6718389" y="2104753"/>
              <a:ext cx="1592361" cy="975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114" name="TextBox 1"/>
            <p:cNvSpPr txBox="1">
              <a:spLocks noChangeArrowheads="1"/>
            </p:cNvSpPr>
            <p:nvPr/>
          </p:nvSpPr>
          <p:spPr bwMode="auto">
            <a:xfrm>
              <a:off x="6642228" y="2286868"/>
              <a:ext cx="1751595" cy="4006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solidFill>
                    <a:srgbClr val="F04E37"/>
                  </a:solidFill>
                  <a:latin typeface="Calibri" panose="020F0502020204030204" charset="0"/>
                </a:rPr>
                <a:t>Dedicated</a:t>
              </a:r>
              <a:endParaRPr lang="en-US" sz="1000" b="1">
                <a:solidFill>
                  <a:srgbClr val="F04E37"/>
                </a:solidFill>
                <a:latin typeface="Calibri" panose="020F0502020204030204" charset="0"/>
              </a:endParaRPr>
            </a:p>
          </p:txBody>
        </p:sp>
      </p:grpSp>
      <p:pic>
        <p:nvPicPr>
          <p:cNvPr id="89095" name="Picture 143" descr="red-blue-arrows.png"/>
          <p:cNvPicPr>
            <a:picLocks noChangeAspect="1"/>
          </p:cNvPicPr>
          <p:nvPr/>
        </p:nvPicPr>
        <p:blipFill>
          <a:blip r:embed="rId10"/>
          <a:srcRect r="55548"/>
          <a:stretch>
            <a:fillRect/>
          </a:stretch>
        </p:blipFill>
        <p:spPr bwMode="auto">
          <a:xfrm>
            <a:off x="3940175" y="4800600"/>
            <a:ext cx="530225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6" name="Picture 145" descr="on-off-premise.png"/>
          <p:cNvPicPr>
            <a:picLocks noChangeAspect="1"/>
          </p:cNvPicPr>
          <p:nvPr/>
        </p:nvPicPr>
        <p:blipFill>
          <a:blip r:embed="rId8"/>
          <a:srcRect t="50000" b="24200"/>
          <a:stretch>
            <a:fillRect/>
          </a:stretch>
        </p:blipFill>
        <p:spPr bwMode="auto">
          <a:xfrm>
            <a:off x="7696200" y="5257800"/>
            <a:ext cx="1282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9097" name="Group 2"/>
          <p:cNvGrpSpPr/>
          <p:nvPr/>
        </p:nvGrpSpPr>
        <p:grpSpPr bwMode="auto">
          <a:xfrm>
            <a:off x="6781800" y="5562600"/>
            <a:ext cx="711200" cy="360363"/>
            <a:chOff x="2276476" y="2255226"/>
            <a:chExt cx="1391480" cy="1043501"/>
          </a:xfrm>
        </p:grpSpPr>
        <p:pic>
          <p:nvPicPr>
            <p:cNvPr id="89111" name="Picture 2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276476" y="2255226"/>
              <a:ext cx="1391480" cy="1043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112" name="Rectangle 42"/>
            <p:cNvSpPr>
              <a:spLocks noChangeArrowheads="1"/>
            </p:cNvSpPr>
            <p:nvPr/>
          </p:nvSpPr>
          <p:spPr bwMode="auto">
            <a:xfrm>
              <a:off x="2350362" y="2524467"/>
              <a:ext cx="1178245" cy="4279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>
                  <a:solidFill>
                    <a:srgbClr val="00B0F0"/>
                  </a:solidFill>
                  <a:latin typeface="Calibri" panose="020F0502020204030204" charset="0"/>
                </a:rPr>
                <a:t>Private</a:t>
              </a:r>
              <a:endParaRPr lang="en-US" sz="1100" b="1">
                <a:solidFill>
                  <a:srgbClr val="00B0F0"/>
                </a:solidFill>
                <a:latin typeface="Calibri" panose="020F0502020204030204" charset="0"/>
              </a:endParaRPr>
            </a:p>
          </p:txBody>
        </p:sp>
      </p:grpSp>
      <p:grpSp>
        <p:nvGrpSpPr>
          <p:cNvPr id="89098" name="Group 149"/>
          <p:cNvGrpSpPr/>
          <p:nvPr/>
        </p:nvGrpSpPr>
        <p:grpSpPr bwMode="auto">
          <a:xfrm>
            <a:off x="5410200" y="5638800"/>
            <a:ext cx="1366838" cy="355600"/>
            <a:chOff x="6858000" y="2989551"/>
            <a:chExt cx="1366360" cy="629949"/>
          </a:xfrm>
        </p:grpSpPr>
        <p:pic>
          <p:nvPicPr>
            <p:cNvPr id="89109" name="Picture 2" descr="C:\Users\IBM_ADMIN\Desktop\IBM GRAPHICS\Events\Pulse\2014\Presentations\0214 Keynotes\support\blue-server.png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6858000" y="3083052"/>
              <a:ext cx="609600" cy="536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110" name="Rectangle 42"/>
            <p:cNvSpPr>
              <a:spLocks noChangeArrowheads="1"/>
            </p:cNvSpPr>
            <p:nvPr/>
          </p:nvSpPr>
          <p:spPr bwMode="auto">
            <a:xfrm>
              <a:off x="7315200" y="2989551"/>
              <a:ext cx="909160" cy="4616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rgbClr val="00B0F0"/>
                  </a:solidFill>
                  <a:latin typeface="Calibri" panose="020F0502020204030204" charset="0"/>
                </a:rPr>
                <a:t>Traditional </a:t>
              </a:r>
              <a:endParaRPr lang="en-US" sz="1200" b="1">
                <a:solidFill>
                  <a:srgbClr val="00B0F0"/>
                </a:solidFill>
                <a:latin typeface="Calibri" panose="020F0502020204030204" charset="0"/>
              </a:endParaRPr>
            </a:p>
            <a:p>
              <a:pPr algn="ctr"/>
              <a:r>
                <a:rPr lang="en-US" sz="1200" b="1">
                  <a:solidFill>
                    <a:srgbClr val="00B0F0"/>
                  </a:solidFill>
                  <a:latin typeface="Calibri" panose="020F0502020204030204" charset="0"/>
                </a:rPr>
                <a:t>IT</a:t>
              </a:r>
              <a:endParaRPr lang="en-US" sz="1200" b="1">
                <a:solidFill>
                  <a:srgbClr val="00B0F0"/>
                </a:solidFill>
                <a:latin typeface="Calibri" panose="020F0502020204030204" charset="0"/>
              </a:endParaRPr>
            </a:p>
          </p:txBody>
        </p:sp>
      </p:grpSp>
      <p:pic>
        <p:nvPicPr>
          <p:cNvPr id="89099" name="Picture 152" descr="red-blue-arrows.png"/>
          <p:cNvPicPr>
            <a:picLocks noChangeAspect="1"/>
          </p:cNvPicPr>
          <p:nvPr/>
        </p:nvPicPr>
        <p:blipFill>
          <a:blip r:embed="rId10"/>
          <a:srcRect l="51135"/>
          <a:stretch>
            <a:fillRect/>
          </a:stretch>
        </p:blipFill>
        <p:spPr bwMode="auto">
          <a:xfrm>
            <a:off x="5387975" y="4800600"/>
            <a:ext cx="581025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9100" name="Group 153"/>
          <p:cNvGrpSpPr/>
          <p:nvPr/>
        </p:nvGrpSpPr>
        <p:grpSpPr bwMode="auto">
          <a:xfrm>
            <a:off x="4473575" y="4648200"/>
            <a:ext cx="969963" cy="744538"/>
            <a:chOff x="10796588" y="377825"/>
            <a:chExt cx="1841500" cy="1555750"/>
          </a:xfrm>
        </p:grpSpPr>
        <p:pic>
          <p:nvPicPr>
            <p:cNvPr id="89107" name="Picture 2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10910888" y="377825"/>
              <a:ext cx="1533525" cy="1219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9108" name="Picture 3"/>
            <p:cNvPicPr>
              <a:picLocks noChangeAspect="1"/>
            </p:cNvPicPr>
            <p:nvPr/>
          </p:nvPicPr>
          <p:blipFill>
            <a:blip r:embed="rId14"/>
            <a:srcRect b="81061"/>
            <a:stretch>
              <a:fillRect/>
            </a:stretch>
          </p:blipFill>
          <p:spPr bwMode="auto">
            <a:xfrm>
              <a:off x="10796588" y="1646238"/>
              <a:ext cx="1841500" cy="287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9102" name="TextBox 1"/>
          <p:cNvSpPr txBox="1">
            <a:spLocks noChangeArrowheads="1"/>
          </p:cNvSpPr>
          <p:nvPr/>
        </p:nvSpPr>
        <p:spPr bwMode="auto">
          <a:xfrm>
            <a:off x="354013" y="1868488"/>
            <a:ext cx="9556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/>
              <a:t>Application template</a:t>
            </a:r>
            <a:endParaRPr lang="en-US" sz="1200"/>
          </a:p>
        </p:txBody>
      </p:sp>
      <p:sp>
        <p:nvSpPr>
          <p:cNvPr id="89103" name="TextBox 156"/>
          <p:cNvSpPr txBox="1">
            <a:spLocks noChangeArrowheads="1"/>
          </p:cNvSpPr>
          <p:nvPr/>
        </p:nvSpPr>
        <p:spPr bwMode="auto">
          <a:xfrm>
            <a:off x="354013" y="3441700"/>
            <a:ext cx="122078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/>
              <a:t>Infrastructure</a:t>
            </a:r>
            <a:endParaRPr lang="en-US" sz="1200"/>
          </a:p>
          <a:p>
            <a:r>
              <a:rPr lang="en-US" sz="1200"/>
              <a:t>template</a:t>
            </a:r>
            <a:endParaRPr lang="en-US" sz="1200"/>
          </a:p>
        </p:txBody>
      </p:sp>
      <p:sp>
        <p:nvSpPr>
          <p:cNvPr id="89104" name="TextBox 159"/>
          <p:cNvSpPr txBox="1">
            <a:spLocks noChangeArrowheads="1"/>
          </p:cNvSpPr>
          <p:nvPr/>
        </p:nvSpPr>
        <p:spPr bwMode="auto">
          <a:xfrm>
            <a:off x="354013" y="4884738"/>
            <a:ext cx="1220787" cy="277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200"/>
              <a:t>Hardware</a:t>
            </a:r>
            <a:endParaRPr lang="en-US" sz="1200"/>
          </a:p>
        </p:txBody>
      </p:sp>
      <p:cxnSp>
        <p:nvCxnSpPr>
          <p:cNvPr id="9" name="Straight Arrow Connector 8"/>
          <p:cNvCxnSpPr>
            <a:cxnSpLocks noChangeShapeType="1"/>
            <a:stCxn id="89102" idx="2"/>
          </p:cNvCxnSpPr>
          <p:nvPr/>
        </p:nvCxnSpPr>
        <p:spPr bwMode="auto">
          <a:xfrm>
            <a:off x="831850" y="2330450"/>
            <a:ext cx="0" cy="930275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165" name="Straight Arrow Connector 164"/>
          <p:cNvCxnSpPr>
            <a:cxnSpLocks noChangeShapeType="1"/>
          </p:cNvCxnSpPr>
          <p:nvPr/>
        </p:nvCxnSpPr>
        <p:spPr bwMode="auto">
          <a:xfrm>
            <a:off x="831850" y="3902075"/>
            <a:ext cx="0" cy="930275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1049337" y="325438"/>
            <a:ext cx="5700713" cy="704850"/>
          </a:xfrm>
        </p:spPr>
        <p:txBody>
          <a:bodyPr/>
          <a:lstStyle/>
          <a:p>
            <a:pPr eaLnBrk="1" hangingPunct="1"/>
            <a:r>
              <a:rPr lang="en-US" dirty="0">
                <a:ea typeface="SimSun" panose="02010600030101010101" pitchFamily="2" charset="-122"/>
              </a:rPr>
              <a:t>Globally distributed enterprise deployments</a:t>
            </a:r>
            <a:br>
              <a:rPr lang="en-US" dirty="0">
                <a:ea typeface="SimSun" panose="02010600030101010101" pitchFamily="2" charset="-122"/>
              </a:rPr>
            </a:br>
            <a:r>
              <a:rPr lang="en-US" dirty="0"/>
              <a:t> </a:t>
            </a:r>
            <a:endParaRPr lang="en-US" dirty="0"/>
          </a:p>
        </p:txBody>
      </p:sp>
      <p:grpSp>
        <p:nvGrpSpPr>
          <p:cNvPr id="93186" name="Group 72"/>
          <p:cNvGrpSpPr/>
          <p:nvPr/>
        </p:nvGrpSpPr>
        <p:grpSpPr bwMode="auto">
          <a:xfrm>
            <a:off x="5197475" y="1752600"/>
            <a:ext cx="3495675" cy="3124200"/>
            <a:chOff x="685800" y="838200"/>
            <a:chExt cx="3495897" cy="3124200"/>
          </a:xfrm>
        </p:grpSpPr>
        <p:cxnSp>
          <p:nvCxnSpPr>
            <p:cNvPr id="74" name="Straight Arrow Connector 73"/>
            <p:cNvCxnSpPr>
              <a:cxnSpLocks noChangeShapeType="1"/>
            </p:cNvCxnSpPr>
            <p:nvPr/>
          </p:nvCxnSpPr>
          <p:spPr bwMode="auto">
            <a:xfrm>
              <a:off x="2074951" y="1277938"/>
              <a:ext cx="0" cy="40005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75" name="Rectangle 74"/>
            <p:cNvSpPr/>
            <p:nvPr/>
          </p:nvSpPr>
          <p:spPr>
            <a:xfrm>
              <a:off x="685800" y="3124200"/>
              <a:ext cx="2819579" cy="838200"/>
            </a:xfrm>
            <a:prstGeom prst="rect">
              <a:avLst/>
            </a:prstGeom>
            <a:solidFill>
              <a:schemeClr val="accent3">
                <a:lumMod val="85000"/>
                <a:alpha val="42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85800" y="838200"/>
              <a:ext cx="2819579" cy="3124200"/>
            </a:xfrm>
            <a:prstGeom prst="rect">
              <a:avLst/>
            </a:prstGeom>
            <a:solidFill>
              <a:schemeClr val="accent3">
                <a:lumMod val="85000"/>
                <a:alpha val="42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i="1" dirty="0"/>
            </a:p>
          </p:txBody>
        </p:sp>
        <p:grpSp>
          <p:nvGrpSpPr>
            <p:cNvPr id="93230" name="Group 38"/>
            <p:cNvGrpSpPr/>
            <p:nvPr/>
          </p:nvGrpSpPr>
          <p:grpSpPr bwMode="auto">
            <a:xfrm>
              <a:off x="774586" y="2135191"/>
              <a:ext cx="744118" cy="479536"/>
              <a:chOff x="295" y="2356"/>
              <a:chExt cx="1277" cy="993"/>
            </a:xfrm>
          </p:grpSpPr>
          <p:sp>
            <p:nvSpPr>
              <p:cNvPr id="98" name="Rounded Rectangle 97"/>
              <p:cNvSpPr/>
              <p:nvPr/>
            </p:nvSpPr>
            <p:spPr>
              <a:xfrm>
                <a:off x="295" y="2356"/>
                <a:ext cx="1277" cy="993"/>
              </a:xfrm>
              <a:prstGeom prst="roundRect">
                <a:avLst>
                  <a:gd name="adj" fmla="val 12223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77000">
                    <a:schemeClr val="bg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txBody>
              <a:bodyPr wrap="none" anchor="ctr"/>
              <a:lstStyle/>
              <a:p>
                <a:pPr algn="ctr" eaLnBrk="0" hangingPunct="0">
                  <a:lnSpc>
                    <a:spcPct val="90000"/>
                  </a:lnSpc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lang="en-US" dirty="0">
                  <a:latin typeface="Arial" panose="020B0604020202020204" pitchFamily="34" charset="0"/>
                  <a:ea typeface="+mn-ea"/>
                  <a:cs typeface="MS PGothic" panose="020B0600070205080204" pitchFamily="34" charset="-128"/>
                </a:endParaRPr>
              </a:p>
            </p:txBody>
          </p:sp>
          <p:pic>
            <p:nvPicPr>
              <p:cNvPr id="93256" name="Picture 2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348" y="2514"/>
                <a:ext cx="1148" cy="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3231" name="Picture 51" descr="MC900434845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73395" y="2405261"/>
              <a:ext cx="595105" cy="596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93232" name="Group 38"/>
            <p:cNvGrpSpPr/>
            <p:nvPr/>
          </p:nvGrpSpPr>
          <p:grpSpPr bwMode="auto">
            <a:xfrm>
              <a:off x="2645055" y="2138691"/>
              <a:ext cx="744118" cy="479536"/>
              <a:chOff x="295" y="2356"/>
              <a:chExt cx="1277" cy="993"/>
            </a:xfrm>
          </p:grpSpPr>
          <p:sp>
            <p:nvSpPr>
              <p:cNvPr id="96" name="Rounded Rectangle 95"/>
              <p:cNvSpPr/>
              <p:nvPr/>
            </p:nvSpPr>
            <p:spPr>
              <a:xfrm>
                <a:off x="295" y="2356"/>
                <a:ext cx="1277" cy="993"/>
              </a:xfrm>
              <a:prstGeom prst="roundRect">
                <a:avLst>
                  <a:gd name="adj" fmla="val 12223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77000">
                    <a:schemeClr val="bg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txBody>
              <a:bodyPr wrap="none" anchor="ctr"/>
              <a:lstStyle/>
              <a:p>
                <a:pPr algn="ctr" eaLnBrk="0" hangingPunct="0">
                  <a:lnSpc>
                    <a:spcPct val="90000"/>
                  </a:lnSpc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lang="en-US" dirty="0">
                  <a:latin typeface="Arial" panose="020B0604020202020204" pitchFamily="34" charset="0"/>
                  <a:ea typeface="+mn-ea"/>
                  <a:cs typeface="MS PGothic" panose="020B0600070205080204" pitchFamily="34" charset="-128"/>
                </a:endParaRPr>
              </a:p>
            </p:txBody>
          </p:sp>
          <p:pic>
            <p:nvPicPr>
              <p:cNvPr id="93252" name="Picture 2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348" y="2514"/>
                <a:ext cx="1148" cy="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3233" name="Picture 51" descr="MC900434845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7680" y="2405261"/>
              <a:ext cx="614117" cy="615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9" name="Picture 2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79733" y="3379788"/>
              <a:ext cx="474692" cy="419100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93235" name="Picture 27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18704" y="3429636"/>
              <a:ext cx="429887" cy="368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11" name="Picture 2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854274" y="1517650"/>
              <a:ext cx="442941" cy="3746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cxnSp>
          <p:nvCxnSpPr>
            <p:cNvPr id="84" name="Straight Arrow Connector 83"/>
            <p:cNvCxnSpPr>
              <a:cxnSpLocks noChangeShapeType="1"/>
            </p:cNvCxnSpPr>
            <p:nvPr/>
          </p:nvCxnSpPr>
          <p:spPr bwMode="auto">
            <a:xfrm>
              <a:off x="2317854" y="1852613"/>
              <a:ext cx="327046" cy="485775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85" name="Straight Arrow Connector 84"/>
            <p:cNvCxnSpPr>
              <a:cxnSpLocks noChangeShapeType="1"/>
            </p:cNvCxnSpPr>
            <p:nvPr/>
          </p:nvCxnSpPr>
          <p:spPr bwMode="auto">
            <a:xfrm flipH="1">
              <a:off x="1519291" y="1830388"/>
              <a:ext cx="334983" cy="547687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pic>
          <p:nvPicPr>
            <p:cNvPr id="12314" name="Picture 2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913016" y="1100138"/>
              <a:ext cx="325458" cy="274637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87" name="Cloud 86"/>
            <p:cNvSpPr/>
            <p:nvPr/>
          </p:nvSpPr>
          <p:spPr>
            <a:xfrm>
              <a:off x="2776671" y="1041400"/>
              <a:ext cx="481043" cy="392113"/>
            </a:xfrm>
            <a:prstGeom prst="cloud">
              <a:avLst/>
            </a:prstGeom>
            <a:solidFill>
              <a:schemeClr val="accent2">
                <a:alpha val="78000"/>
              </a:schemeClr>
            </a:solidFill>
            <a:ln>
              <a:solidFill>
                <a:schemeClr val="accent2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8" name="Straight Arrow Connector 87"/>
            <p:cNvCxnSpPr>
              <a:cxnSpLocks noChangeShapeType="1"/>
              <a:stCxn id="87" idx="2"/>
              <a:endCxn id="12314" idx="3"/>
            </p:cNvCxnSpPr>
            <p:nvPr/>
          </p:nvCxnSpPr>
          <p:spPr bwMode="auto">
            <a:xfrm flipH="1">
              <a:off x="2238474" y="1238250"/>
              <a:ext cx="539784" cy="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93242" name="TextBox 88"/>
            <p:cNvSpPr txBox="1">
              <a:spLocks noChangeArrowheads="1"/>
            </p:cNvSpPr>
            <p:nvPr/>
          </p:nvSpPr>
          <p:spPr bwMode="auto">
            <a:xfrm>
              <a:off x="2633105" y="3473402"/>
              <a:ext cx="1548592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CodeStation</a:t>
              </a:r>
              <a:endParaRPr lang="en-US" sz="800"/>
            </a:p>
          </p:txBody>
        </p:sp>
        <p:sp>
          <p:nvSpPr>
            <p:cNvPr id="93243" name="TextBox 89"/>
            <p:cNvSpPr txBox="1">
              <a:spLocks noChangeArrowheads="1"/>
            </p:cNvSpPr>
            <p:nvPr/>
          </p:nvSpPr>
          <p:spPr bwMode="auto">
            <a:xfrm>
              <a:off x="1139944" y="3461860"/>
              <a:ext cx="578098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DB</a:t>
              </a:r>
              <a:endParaRPr lang="en-US" sz="800"/>
            </a:p>
          </p:txBody>
        </p:sp>
        <p:sp>
          <p:nvSpPr>
            <p:cNvPr id="93244" name="TextBox 90"/>
            <p:cNvSpPr txBox="1">
              <a:spLocks noChangeArrowheads="1"/>
            </p:cNvSpPr>
            <p:nvPr/>
          </p:nvSpPr>
          <p:spPr bwMode="auto">
            <a:xfrm>
              <a:off x="1524737" y="3104508"/>
              <a:ext cx="1252975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 i="1"/>
                <a:t>Shared by servers</a:t>
              </a:r>
              <a:endParaRPr lang="en-US" sz="800" i="1"/>
            </a:p>
          </p:txBody>
        </p:sp>
        <p:sp>
          <p:nvSpPr>
            <p:cNvPr id="93245" name="TextBox 91"/>
            <p:cNvSpPr txBox="1">
              <a:spLocks noChangeArrowheads="1"/>
            </p:cNvSpPr>
            <p:nvPr/>
          </p:nvSpPr>
          <p:spPr bwMode="auto">
            <a:xfrm>
              <a:off x="747453" y="884926"/>
              <a:ext cx="1668899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 b="1" i="1"/>
                <a:t>Clustered High Availability</a:t>
              </a:r>
              <a:endParaRPr lang="en-US" sz="800" b="1" i="1"/>
            </a:p>
          </p:txBody>
        </p:sp>
        <p:sp>
          <p:nvSpPr>
            <p:cNvPr id="93246" name="TextBox 92"/>
            <p:cNvSpPr txBox="1">
              <a:spLocks noChangeArrowheads="1"/>
            </p:cNvSpPr>
            <p:nvPr/>
          </p:nvSpPr>
          <p:spPr bwMode="auto">
            <a:xfrm>
              <a:off x="2811968" y="838200"/>
              <a:ext cx="595433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 i="1"/>
                <a:t>Agents</a:t>
              </a:r>
              <a:endParaRPr lang="en-US" sz="800" i="1"/>
            </a:p>
          </p:txBody>
        </p:sp>
        <p:sp>
          <p:nvSpPr>
            <p:cNvPr id="93247" name="TextBox 93"/>
            <p:cNvSpPr txBox="1">
              <a:spLocks noChangeArrowheads="1"/>
            </p:cNvSpPr>
            <p:nvPr/>
          </p:nvSpPr>
          <p:spPr bwMode="auto">
            <a:xfrm>
              <a:off x="1000609" y="1562466"/>
              <a:ext cx="853490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Load Balancer</a:t>
              </a:r>
              <a:endParaRPr lang="en-US" sz="800"/>
            </a:p>
          </p:txBody>
        </p:sp>
        <p:sp>
          <p:nvSpPr>
            <p:cNvPr id="93248" name="TextBox 94"/>
            <p:cNvSpPr txBox="1">
              <a:spLocks noChangeArrowheads="1"/>
            </p:cNvSpPr>
            <p:nvPr/>
          </p:nvSpPr>
          <p:spPr bwMode="auto">
            <a:xfrm>
              <a:off x="1059589" y="1159795"/>
              <a:ext cx="853490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Relay Server</a:t>
              </a:r>
              <a:endParaRPr lang="en-US" sz="800"/>
            </a:p>
          </p:txBody>
        </p:sp>
      </p:grpSp>
      <p:sp>
        <p:nvSpPr>
          <p:cNvPr id="93187" name="TextBox 46"/>
          <p:cNvSpPr txBox="1">
            <a:spLocks noChangeArrowheads="1"/>
          </p:cNvSpPr>
          <p:nvPr/>
        </p:nvSpPr>
        <p:spPr bwMode="auto">
          <a:xfrm>
            <a:off x="1106488" y="1497013"/>
            <a:ext cx="2171700" cy="276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sz="1200" b="1" i="1"/>
              <a:t>Data Center A</a:t>
            </a:r>
            <a:endParaRPr lang="en-US" sz="1200" b="1" i="1"/>
          </a:p>
        </p:txBody>
      </p:sp>
      <p:grpSp>
        <p:nvGrpSpPr>
          <p:cNvPr id="93188" name="Group 45"/>
          <p:cNvGrpSpPr/>
          <p:nvPr/>
        </p:nvGrpSpPr>
        <p:grpSpPr bwMode="auto">
          <a:xfrm>
            <a:off x="822325" y="1760538"/>
            <a:ext cx="4892675" cy="3124200"/>
            <a:chOff x="685800" y="838200"/>
            <a:chExt cx="4892857" cy="3124200"/>
          </a:xfrm>
        </p:grpSpPr>
        <p:cxnSp>
          <p:nvCxnSpPr>
            <p:cNvPr id="56" name="Straight Arrow Connector 55"/>
            <p:cNvCxnSpPr>
              <a:cxnSpLocks noChangeShapeType="1"/>
            </p:cNvCxnSpPr>
            <p:nvPr/>
          </p:nvCxnSpPr>
          <p:spPr bwMode="auto">
            <a:xfrm>
              <a:off x="2074915" y="1277937"/>
              <a:ext cx="0" cy="40005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54" name="Rectangle 53"/>
            <p:cNvSpPr/>
            <p:nvPr/>
          </p:nvSpPr>
          <p:spPr>
            <a:xfrm>
              <a:off x="685800" y="3124200"/>
              <a:ext cx="2819505" cy="838200"/>
            </a:xfrm>
            <a:prstGeom prst="rect">
              <a:avLst/>
            </a:prstGeom>
            <a:solidFill>
              <a:schemeClr val="accent3">
                <a:lumMod val="85000"/>
                <a:alpha val="42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685800" y="838200"/>
              <a:ext cx="2819505" cy="3124200"/>
            </a:xfrm>
            <a:prstGeom prst="rect">
              <a:avLst/>
            </a:prstGeom>
            <a:solidFill>
              <a:schemeClr val="accent3">
                <a:lumMod val="85000"/>
                <a:alpha val="42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i="1" dirty="0"/>
            </a:p>
          </p:txBody>
        </p:sp>
        <p:grpSp>
          <p:nvGrpSpPr>
            <p:cNvPr id="93200" name="Group 38"/>
            <p:cNvGrpSpPr/>
            <p:nvPr/>
          </p:nvGrpSpPr>
          <p:grpSpPr bwMode="auto">
            <a:xfrm>
              <a:off x="774586" y="2135191"/>
              <a:ext cx="744118" cy="479536"/>
              <a:chOff x="295" y="2356"/>
              <a:chExt cx="1277" cy="993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295" y="2356"/>
                <a:ext cx="1277" cy="993"/>
              </a:xfrm>
              <a:prstGeom prst="roundRect">
                <a:avLst>
                  <a:gd name="adj" fmla="val 12223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77000">
                    <a:schemeClr val="bg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txBody>
              <a:bodyPr wrap="none" anchor="ctr"/>
              <a:lstStyle/>
              <a:p>
                <a:pPr algn="ctr" eaLnBrk="0" hangingPunct="0">
                  <a:lnSpc>
                    <a:spcPct val="90000"/>
                  </a:lnSpc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lang="en-US" dirty="0">
                  <a:latin typeface="Arial" panose="020B0604020202020204" pitchFamily="34" charset="0"/>
                  <a:ea typeface="+mn-ea"/>
                  <a:cs typeface="MS PGothic" panose="020B0600070205080204" pitchFamily="34" charset="-128"/>
                </a:endParaRPr>
              </a:p>
            </p:txBody>
          </p:sp>
          <p:pic>
            <p:nvPicPr>
              <p:cNvPr id="93226" name="Picture 2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348" y="2514"/>
                <a:ext cx="1148" cy="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3201" name="Picture 51" descr="MC900434845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73395" y="2405261"/>
              <a:ext cx="595105" cy="596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93202" name="Group 38"/>
            <p:cNvGrpSpPr/>
            <p:nvPr/>
          </p:nvGrpSpPr>
          <p:grpSpPr bwMode="auto">
            <a:xfrm>
              <a:off x="2645055" y="2138691"/>
              <a:ext cx="744118" cy="479536"/>
              <a:chOff x="295" y="2356"/>
              <a:chExt cx="1277" cy="993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295" y="2356"/>
                <a:ext cx="1277" cy="993"/>
              </a:xfrm>
              <a:prstGeom prst="roundRect">
                <a:avLst>
                  <a:gd name="adj" fmla="val 12223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77000">
                    <a:schemeClr val="bg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txBody>
              <a:bodyPr wrap="none" anchor="ctr"/>
              <a:lstStyle/>
              <a:p>
                <a:pPr algn="ctr" eaLnBrk="0" hangingPunct="0">
                  <a:lnSpc>
                    <a:spcPct val="90000"/>
                  </a:lnSpc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lang="en-US" dirty="0">
                  <a:latin typeface="Arial" panose="020B0604020202020204" pitchFamily="34" charset="0"/>
                  <a:ea typeface="+mn-ea"/>
                  <a:cs typeface="MS PGothic" panose="020B0600070205080204" pitchFamily="34" charset="-128"/>
                </a:endParaRPr>
              </a:p>
            </p:txBody>
          </p:sp>
          <p:pic>
            <p:nvPicPr>
              <p:cNvPr id="93222" name="Picture 2"/>
              <p:cNvPicPr>
                <a:picLocks noChangeAspect="1" noChangeArrowheads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 bwMode="auto">
              <a:xfrm>
                <a:off x="348" y="2514"/>
                <a:ext cx="1148" cy="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93203" name="Picture 51" descr="MC900434845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7680" y="2405261"/>
              <a:ext cx="614117" cy="615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39" name="Picture 2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79694" y="3379787"/>
              <a:ext cx="474680" cy="419100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93205" name="Picture 27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18704" y="3429636"/>
              <a:ext cx="429887" cy="368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41" name="Picture 2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854243" y="1517650"/>
              <a:ext cx="442929" cy="3746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cxnSp>
          <p:nvCxnSpPr>
            <p:cNvPr id="27" name="Straight Arrow Connector 26"/>
            <p:cNvCxnSpPr>
              <a:cxnSpLocks noChangeShapeType="1"/>
            </p:cNvCxnSpPr>
            <p:nvPr/>
          </p:nvCxnSpPr>
          <p:spPr bwMode="auto">
            <a:xfrm>
              <a:off x="2938547" y="2697162"/>
              <a:ext cx="2640110" cy="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30" name="Straight Arrow Connector 29"/>
            <p:cNvCxnSpPr>
              <a:cxnSpLocks noChangeShapeType="1"/>
            </p:cNvCxnSpPr>
            <p:nvPr/>
          </p:nvCxnSpPr>
          <p:spPr bwMode="auto">
            <a:xfrm flipH="1">
              <a:off x="1519269" y="1830387"/>
              <a:ext cx="334974" cy="547688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pic>
          <p:nvPicPr>
            <p:cNvPr id="12344" name="Picture 2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912984" y="1100137"/>
              <a:ext cx="325449" cy="27463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35" name="Cloud 34"/>
            <p:cNvSpPr/>
            <p:nvPr/>
          </p:nvSpPr>
          <p:spPr>
            <a:xfrm>
              <a:off x="2776616" y="1041400"/>
              <a:ext cx="481030" cy="392112"/>
            </a:xfrm>
            <a:prstGeom prst="cloud">
              <a:avLst/>
            </a:prstGeom>
            <a:solidFill>
              <a:schemeClr val="accent2">
                <a:alpha val="78000"/>
              </a:schemeClr>
            </a:solidFill>
            <a:ln>
              <a:solidFill>
                <a:schemeClr val="accent2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9" name="Straight Arrow Connector 58"/>
            <p:cNvCxnSpPr>
              <a:cxnSpLocks noChangeShapeType="1"/>
              <a:stCxn id="35" idx="2"/>
              <a:endCxn id="12344" idx="3"/>
            </p:cNvCxnSpPr>
            <p:nvPr/>
          </p:nvCxnSpPr>
          <p:spPr bwMode="auto">
            <a:xfrm flipH="1">
              <a:off x="2238433" y="1238250"/>
              <a:ext cx="539770" cy="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93212" name="TextBox 43"/>
            <p:cNvSpPr txBox="1">
              <a:spLocks noChangeArrowheads="1"/>
            </p:cNvSpPr>
            <p:nvPr/>
          </p:nvSpPr>
          <p:spPr bwMode="auto">
            <a:xfrm>
              <a:off x="2633105" y="3473402"/>
              <a:ext cx="1548592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CodeStation</a:t>
              </a:r>
              <a:endParaRPr lang="en-US" sz="800"/>
            </a:p>
          </p:txBody>
        </p:sp>
        <p:sp>
          <p:nvSpPr>
            <p:cNvPr id="93213" name="TextBox 63"/>
            <p:cNvSpPr txBox="1">
              <a:spLocks noChangeArrowheads="1"/>
            </p:cNvSpPr>
            <p:nvPr/>
          </p:nvSpPr>
          <p:spPr bwMode="auto">
            <a:xfrm>
              <a:off x="1139944" y="3461860"/>
              <a:ext cx="578098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DB</a:t>
              </a:r>
              <a:endParaRPr lang="en-US" sz="800"/>
            </a:p>
          </p:txBody>
        </p:sp>
        <p:sp>
          <p:nvSpPr>
            <p:cNvPr id="93214" name="TextBox 44"/>
            <p:cNvSpPr txBox="1">
              <a:spLocks noChangeArrowheads="1"/>
            </p:cNvSpPr>
            <p:nvPr/>
          </p:nvSpPr>
          <p:spPr bwMode="auto">
            <a:xfrm>
              <a:off x="1524737" y="3104508"/>
              <a:ext cx="1252975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 i="1"/>
                <a:t>Shared by servers</a:t>
              </a:r>
              <a:endParaRPr lang="en-US" sz="800" i="1"/>
            </a:p>
          </p:txBody>
        </p:sp>
        <p:sp>
          <p:nvSpPr>
            <p:cNvPr id="93215" name="TextBox 65"/>
            <p:cNvSpPr txBox="1">
              <a:spLocks noChangeArrowheads="1"/>
            </p:cNvSpPr>
            <p:nvPr/>
          </p:nvSpPr>
          <p:spPr bwMode="auto">
            <a:xfrm>
              <a:off x="747453" y="884926"/>
              <a:ext cx="1668899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 b="1" i="1"/>
                <a:t>Clustered High Availability</a:t>
              </a:r>
              <a:endParaRPr lang="en-US" sz="800" b="1" i="1"/>
            </a:p>
          </p:txBody>
        </p:sp>
        <p:sp>
          <p:nvSpPr>
            <p:cNvPr id="93216" name="TextBox 66"/>
            <p:cNvSpPr txBox="1">
              <a:spLocks noChangeArrowheads="1"/>
            </p:cNvSpPr>
            <p:nvPr/>
          </p:nvSpPr>
          <p:spPr bwMode="auto">
            <a:xfrm>
              <a:off x="2811968" y="838200"/>
              <a:ext cx="595433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 i="1"/>
                <a:t>Agents</a:t>
              </a:r>
              <a:endParaRPr lang="en-US" sz="800" i="1"/>
            </a:p>
          </p:txBody>
        </p:sp>
        <p:sp>
          <p:nvSpPr>
            <p:cNvPr id="93217" name="TextBox 69"/>
            <p:cNvSpPr txBox="1">
              <a:spLocks noChangeArrowheads="1"/>
            </p:cNvSpPr>
            <p:nvPr/>
          </p:nvSpPr>
          <p:spPr bwMode="auto">
            <a:xfrm>
              <a:off x="1000609" y="1562466"/>
              <a:ext cx="853490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Load Balancer</a:t>
              </a:r>
              <a:endParaRPr lang="en-US" sz="800"/>
            </a:p>
          </p:txBody>
        </p:sp>
        <p:sp>
          <p:nvSpPr>
            <p:cNvPr id="93218" name="TextBox 70"/>
            <p:cNvSpPr txBox="1">
              <a:spLocks noChangeArrowheads="1"/>
            </p:cNvSpPr>
            <p:nvPr/>
          </p:nvSpPr>
          <p:spPr bwMode="auto">
            <a:xfrm>
              <a:off x="1059589" y="1159795"/>
              <a:ext cx="853490" cy="2154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800"/>
                <a:t>Relay Server</a:t>
              </a:r>
              <a:endParaRPr lang="en-US" sz="800"/>
            </a:p>
          </p:txBody>
        </p:sp>
      </p:grpSp>
      <p:sp>
        <p:nvSpPr>
          <p:cNvPr id="93189" name="TextBox 100"/>
          <p:cNvSpPr txBox="1">
            <a:spLocks noChangeArrowheads="1"/>
          </p:cNvSpPr>
          <p:nvPr/>
        </p:nvSpPr>
        <p:spPr bwMode="auto">
          <a:xfrm>
            <a:off x="5486400" y="1489075"/>
            <a:ext cx="2171700" cy="277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sz="1200" b="1" i="1"/>
              <a:t>Data Center B</a:t>
            </a:r>
            <a:endParaRPr lang="en-US" sz="1200" b="1" i="1"/>
          </a:p>
        </p:txBody>
      </p:sp>
      <p:cxnSp>
        <p:nvCxnSpPr>
          <p:cNvPr id="102" name="Straight Arrow Connector 101"/>
          <p:cNvCxnSpPr>
            <a:cxnSpLocks noChangeShapeType="1"/>
          </p:cNvCxnSpPr>
          <p:nvPr/>
        </p:nvCxnSpPr>
        <p:spPr bwMode="auto">
          <a:xfrm>
            <a:off x="2362200" y="2774950"/>
            <a:ext cx="327025" cy="484188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rou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58" name="Elbow Connector 57"/>
          <p:cNvCxnSpPr>
            <a:stCxn id="12339" idx="2"/>
            <a:endCxn id="12309" idx="2"/>
          </p:cNvCxnSpPr>
          <p:nvPr/>
        </p:nvCxnSpPr>
        <p:spPr>
          <a:xfrm rot="5400000" flipH="1" flipV="1">
            <a:off x="4737100" y="2528888"/>
            <a:ext cx="6350" cy="4375150"/>
          </a:xfrm>
          <a:prstGeom prst="bentConnector3">
            <a:avLst>
              <a:gd name="adj1" fmla="val -6373339"/>
            </a:avLst>
          </a:prstGeom>
          <a:ln w="50800">
            <a:solidFill>
              <a:schemeClr val="accent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/>
          <p:nvPr/>
        </p:nvCxnSpPr>
        <p:spPr>
          <a:xfrm rot="5400000" flipH="1" flipV="1">
            <a:off x="4054475" y="2570163"/>
            <a:ext cx="6350" cy="4375150"/>
          </a:xfrm>
          <a:prstGeom prst="bentConnector3">
            <a:avLst>
              <a:gd name="adj1" fmla="val -13718378"/>
            </a:avLst>
          </a:prstGeom>
          <a:ln w="50800">
            <a:solidFill>
              <a:schemeClr val="accent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3" name="TextBox 114"/>
          <p:cNvSpPr txBox="1">
            <a:spLocks noChangeArrowheads="1"/>
          </p:cNvSpPr>
          <p:nvPr/>
        </p:nvSpPr>
        <p:spPr bwMode="auto">
          <a:xfrm>
            <a:off x="3505200" y="5181600"/>
            <a:ext cx="2133600" cy="246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000" b="1" i="1"/>
              <a:t>Replicate  deployment artifacts</a:t>
            </a:r>
            <a:endParaRPr lang="en-US" sz="1000" b="1" i="1"/>
          </a:p>
        </p:txBody>
      </p:sp>
      <p:sp>
        <p:nvSpPr>
          <p:cNvPr id="93194" name="TextBox 115"/>
          <p:cNvSpPr txBox="1">
            <a:spLocks noChangeArrowheads="1"/>
          </p:cNvSpPr>
          <p:nvPr/>
        </p:nvSpPr>
        <p:spPr bwMode="auto">
          <a:xfrm>
            <a:off x="1981200" y="5791200"/>
            <a:ext cx="4570413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000" b="1" i="1"/>
              <a:t>Synchronize data (e.g. process definition, security, templates) </a:t>
            </a:r>
            <a:endParaRPr lang="en-US" sz="1000" b="1" i="1"/>
          </a:p>
          <a:p>
            <a:r>
              <a:rPr lang="en-US" sz="1000" b="1" i="1"/>
              <a:t>Awareness-only of other (e.g historical data)</a:t>
            </a:r>
            <a:endParaRPr lang="en-US" sz="1000" b="1" i="1"/>
          </a:p>
        </p:txBody>
      </p:sp>
      <p:sp>
        <p:nvSpPr>
          <p:cNvPr id="93195" name="TextBox 116"/>
          <p:cNvSpPr txBox="1">
            <a:spLocks noChangeArrowheads="1"/>
          </p:cNvSpPr>
          <p:nvPr/>
        </p:nvSpPr>
        <p:spPr bwMode="auto">
          <a:xfrm>
            <a:off x="3643313" y="3040063"/>
            <a:ext cx="1516062" cy="430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sz="1100" b="1" i="1"/>
              <a:t>Associated servers across sites</a:t>
            </a:r>
            <a:endParaRPr lang="en-US" sz="1100" b="1"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098" name="Picture 2" descr="DevOps Tools Lifecycle Mesh: The DevOps Tool Landscape for 202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19" y="951611"/>
            <a:ext cx="7773362" cy="521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ICTUREPATH" val="PNGS\CLOUD.PNG"/>
  <p:tag name="PXPSDI_PNGPATH" val="PNGS\"/>
  <p:tag name="PXPSDI_PNGFILENAME" val="CLOUD.PNG"/>
  <p:tag name="PXPSDI_LAYERNAME" val="cloud"/>
  <p:tag name="PXPSDI_PSDFILENAME" val="Bkg_Grey.psd"/>
  <p:tag name="PSDSOURCE" val="C:\___Drury GS\"/>
  <p:tag name="PSDSOURCELAYER" val="cloud"/>
</p:tagLst>
</file>

<file path=ppt/tags/tag2.xml><?xml version="1.0" encoding="utf-8"?>
<p:tagLst xmlns:p="http://schemas.openxmlformats.org/presentationml/2006/main">
  <p:tag name="PICTUREPATH" val="PNGS\CLOUD.PNG"/>
  <p:tag name="PXPSDI_PNGPATH" val="PNGS\"/>
  <p:tag name="PXPSDI_PNGFILENAME" val="CLOUD.PNG"/>
  <p:tag name="PXPSDI_LAYERNAME" val="cloud"/>
  <p:tag name="PXPSDI_PSDFILENAME" val="Bkg_Grey.psd"/>
  <p:tag name="PSDSOURCE" val="C:\___Drury GS\"/>
  <p:tag name="PSDSOURCELAYER" val="cloud"/>
</p:tagLst>
</file>

<file path=ppt/tags/tag3.xml><?xml version="1.0" encoding="utf-8"?>
<p:tagLst xmlns:p="http://schemas.openxmlformats.org/presentationml/2006/main">
  <p:tag name="PICTUREPATH" val="PNGS\CLOUD.PNG"/>
  <p:tag name="PXPSDI_PNGPATH" val="PNGS\"/>
  <p:tag name="PXPSDI_PNGFILENAME" val="CLOUD.PNG"/>
  <p:tag name="PXPSDI_LAYERNAME" val="cloud"/>
  <p:tag name="PXPSDI_PSDFILENAME" val="Bkg_Grey.psd"/>
  <p:tag name="PSDSOURCE" val="C:\___Drury GS\"/>
  <p:tag name="PSDSOURCELAYER" val="clou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5782</Words>
  <Application>WPS Presentation</Application>
  <PresentationFormat>On-screen Show (4:3)</PresentationFormat>
  <Paragraphs>574</Paragraphs>
  <Slides>20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MS PGothic</vt:lpstr>
      <vt:lpstr>ヒラギノ角ゴ Pro W3</vt:lpstr>
      <vt:lpstr>Yu Gothic</vt:lpstr>
      <vt:lpstr>Times New Roman</vt:lpstr>
      <vt:lpstr>Microsoft YaHei</vt:lpstr>
      <vt:lpstr>Arial Unicode MS</vt:lpstr>
      <vt:lpstr>Helvetica</vt:lpstr>
      <vt:lpstr>Arial</vt:lpstr>
      <vt:lpstr>Wingdings</vt:lpstr>
      <vt:lpstr>Arial Black</vt:lpstr>
      <vt:lpstr>Webdings</vt:lpstr>
      <vt:lpstr>Symbol</vt:lpstr>
      <vt:lpstr>Lubalin Demi for IBM</vt:lpstr>
      <vt:lpstr>Segoe Print</vt:lpstr>
      <vt:lpstr>Office Theme</vt:lpstr>
      <vt:lpstr>Introduction to DevOps</vt:lpstr>
      <vt:lpstr>Introduction</vt:lpstr>
      <vt:lpstr>PowerPoint 演示文稿</vt:lpstr>
      <vt:lpstr>Software delivery</vt:lpstr>
      <vt:lpstr>A lack of continuous delivery Of Interaction”</vt:lpstr>
      <vt:lpstr>PowerPoint 演示文稿</vt:lpstr>
      <vt:lpstr>Continuous Integration</vt:lpstr>
      <vt:lpstr>Continuous Delivery</vt:lpstr>
      <vt:lpstr>container</vt:lpstr>
      <vt:lpstr>DevOps and Cloud adoption</vt:lpstr>
      <vt:lpstr>DevOps Solution</vt:lpstr>
      <vt:lpstr>PowerPoint 演示文稿</vt:lpstr>
      <vt:lpstr>PowerPoint 演示文稿</vt:lpstr>
      <vt:lpstr>Automating application deployment  to cloud resources</vt:lpstr>
      <vt:lpstr>Improve Delivery Lifecycle with Software  Defined Environments</vt:lpstr>
      <vt:lpstr>PowerPoint 演示文稿</vt:lpstr>
      <vt:lpstr>Quality Assessment</vt:lpstr>
      <vt:lpstr>Moving to open technologies</vt:lpstr>
      <vt:lpstr>Globally distributed enterprise deployments 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User</cp:lastModifiedBy>
  <cp:revision>110</cp:revision>
  <dcterms:created xsi:type="dcterms:W3CDTF">2014-12-31T03:26:00Z</dcterms:created>
  <dcterms:modified xsi:type="dcterms:W3CDTF">2022-04-19T06:18:05Z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1033-11.2.0.11074</vt:lpwstr>
  </property>
  <property fmtid="{D5CDD505-2E9C-101B-9397-08002B2CF9AE}" pid="3" name="ICV">
    <vt:lpwstr>D2EE1C54D0ED4A48AE82154286EFA876</vt:lpwstr>
  </property>
</Properties>
</file>